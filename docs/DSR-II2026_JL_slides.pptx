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  <p:sldMasterId id="2147483657" r:id="rId2"/>
    <p:sldMasterId id="2147483661" r:id="rId3"/>
  </p:sldMasterIdLst>
  <p:notesMasterIdLst>
    <p:notesMasterId r:id="rId49"/>
  </p:notesMasterIdLst>
  <p:handoutMasterIdLst>
    <p:handoutMasterId r:id="rId50"/>
  </p:handoutMasterIdLst>
  <p:sldIdLst>
    <p:sldId id="803" r:id="rId4"/>
    <p:sldId id="1387" r:id="rId5"/>
    <p:sldId id="1382" r:id="rId6"/>
    <p:sldId id="1332" r:id="rId7"/>
    <p:sldId id="1375" r:id="rId8"/>
    <p:sldId id="1384" r:id="rId9"/>
    <p:sldId id="1366" r:id="rId10"/>
    <p:sldId id="1094" r:id="rId11"/>
    <p:sldId id="1364" r:id="rId12"/>
    <p:sldId id="1369" r:id="rId13"/>
    <p:sldId id="1365" r:id="rId14"/>
    <p:sldId id="1385" r:id="rId15"/>
    <p:sldId id="1128" r:id="rId16"/>
    <p:sldId id="1076" r:id="rId17"/>
    <p:sldId id="1363" r:id="rId18"/>
    <p:sldId id="1367" r:id="rId19"/>
    <p:sldId id="1386" r:id="rId20"/>
    <p:sldId id="1271" r:id="rId21"/>
    <p:sldId id="1390" r:id="rId22"/>
    <p:sldId id="1389" r:id="rId23"/>
    <p:sldId id="1388" r:id="rId24"/>
    <p:sldId id="1391" r:id="rId25"/>
    <p:sldId id="1392" r:id="rId26"/>
    <p:sldId id="1393" r:id="rId27"/>
    <p:sldId id="1394" r:id="rId28"/>
    <p:sldId id="1395" r:id="rId29"/>
    <p:sldId id="1398" r:id="rId30"/>
    <p:sldId id="1399" r:id="rId31"/>
    <p:sldId id="1402" r:id="rId32"/>
    <p:sldId id="1400" r:id="rId33"/>
    <p:sldId id="1401" r:id="rId34"/>
    <p:sldId id="1403" r:id="rId35"/>
    <p:sldId id="1376" r:id="rId36"/>
    <p:sldId id="1379" r:id="rId37"/>
    <p:sldId id="1377" r:id="rId38"/>
    <p:sldId id="1380" r:id="rId39"/>
    <p:sldId id="1397" r:id="rId40"/>
    <p:sldId id="1378" r:id="rId41"/>
    <p:sldId id="1357" r:id="rId42"/>
    <p:sldId id="1327" r:id="rId43"/>
    <p:sldId id="1329" r:id="rId44"/>
    <p:sldId id="1328" r:id="rId45"/>
    <p:sldId id="1396" r:id="rId46"/>
    <p:sldId id="1383" r:id="rId47"/>
    <p:sldId id="1067" r:id="rId48"/>
  </p:sldIdLst>
  <p:sldSz cx="12192000" cy="6858000"/>
  <p:notesSz cx="6669088" cy="9926638"/>
  <p:defaultTextStyle>
    <a:defPPr>
      <a:defRPr lang="pt-PT"/>
    </a:defPPr>
    <a:lvl1pPr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5pPr>
    <a:lvl6pPr marL="22860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6pPr>
    <a:lvl7pPr marL="27432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7pPr>
    <a:lvl8pPr marL="32004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8pPr>
    <a:lvl9pPr marL="3657600" algn="l" defTabSz="914400" rtl="0" eaLnBrk="1" latinLnBrk="0" hangingPunct="1">
      <a:defRPr sz="6000" kern="1200">
        <a:solidFill>
          <a:srgbClr val="CC0000"/>
        </a:solidFill>
        <a:latin typeface="Humanst521 B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62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6C"/>
    <a:srgbClr val="FFFFCC"/>
    <a:srgbClr val="B7ECFF"/>
    <a:srgbClr val="BDFBC3"/>
    <a:srgbClr val="CCCC00"/>
    <a:srgbClr val="EDDDA1"/>
    <a:srgbClr val="BDBB5F"/>
    <a:srgbClr val="E5B9BD"/>
    <a:srgbClr val="CC301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91" autoAdjust="0"/>
  </p:normalViewPr>
  <p:slideViewPr>
    <p:cSldViewPr>
      <p:cViewPr>
        <p:scale>
          <a:sx n="90" d="100"/>
          <a:sy n="90" d="100"/>
        </p:scale>
        <p:origin x="1308" y="354"/>
      </p:cViewPr>
      <p:guideLst>
        <p:guide orient="horz" pos="1344"/>
        <p:guide pos="6289"/>
      </p:guideLst>
    </p:cSldViewPr>
  </p:slideViewPr>
  <p:outlineViewPr>
    <p:cViewPr>
      <p:scale>
        <a:sx n="33" d="100"/>
        <a:sy n="33" d="100"/>
      </p:scale>
      <p:origin x="0" y="123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190" y="-90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786E3228-BDA5-4C88-B65C-28A18C301E9B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4418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607" y="0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5400" y="742950"/>
            <a:ext cx="6618288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714837"/>
            <a:ext cx="5335270" cy="4467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noProof="0"/>
              <a:t>Click to edit Master text styles</a:t>
            </a:r>
          </a:p>
          <a:p>
            <a:pPr lvl="1"/>
            <a:r>
              <a:rPr lang="pt-PT" noProof="0"/>
              <a:t>Second level</a:t>
            </a:r>
          </a:p>
          <a:p>
            <a:pPr lvl="2"/>
            <a:r>
              <a:rPr lang="pt-PT" noProof="0"/>
              <a:t>Third level</a:t>
            </a:r>
          </a:p>
          <a:p>
            <a:pPr lvl="3"/>
            <a:r>
              <a:rPr lang="pt-PT" noProof="0"/>
              <a:t>Fourth level</a:t>
            </a:r>
          </a:p>
          <a:p>
            <a:pPr lvl="4"/>
            <a:r>
              <a:rPr lang="pt-PT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PT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607" y="9428091"/>
            <a:ext cx="2889938" cy="496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245" tIns="45122" rIns="90245" bIns="45122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5705EB50-1723-4F02-82E6-3547F8722922}" type="slidenum">
              <a:rPr lang="pt-PT"/>
              <a:pPr>
                <a:defRPr/>
              </a:pPr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6443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0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" y="742950"/>
            <a:ext cx="6618288" cy="3724275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1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" y="742950"/>
            <a:ext cx="6618288" cy="3724275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080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2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" y="742950"/>
            <a:ext cx="6618288" cy="3724275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821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3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" y="742950"/>
            <a:ext cx="6618288" cy="3724275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" y="742950"/>
            <a:ext cx="6618288" cy="3724275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227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6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" y="742950"/>
            <a:ext cx="6618288" cy="3724275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664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10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" y="742950"/>
            <a:ext cx="6618288" cy="3724275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726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11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" y="742950"/>
            <a:ext cx="6618288" cy="3724275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372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15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" y="742950"/>
            <a:ext cx="6618288" cy="3724275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64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08BD25-CBF9-4615-A160-A69E56E69E3E}" type="slidenum">
              <a:rPr lang="pt-PT" smtClean="0"/>
              <a:pPr/>
              <a:t>16</a:t>
            </a:fld>
            <a:endParaRPr lang="pt-PT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5400" y="742950"/>
            <a:ext cx="6618288" cy="3724275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840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6399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19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80685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36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82133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26411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2EC3-C4BB-6881-5507-E42B6B136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8663B-3325-6106-CACC-985D4EFC6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E0070-8B3B-D76E-4A3A-2BEFF3281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78710-CCCE-0E12-419C-DAC1CE9E0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87154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4CCD-C91D-8BF7-190B-D3CB3C68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6C360-C074-A2AB-8D37-C020B85BD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7DC93-9629-F02F-47A7-11333C123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ED727-B2F8-128D-209F-8E88817D4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28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1900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3FECE-412F-3B5F-FFD8-13E949BF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AFC8E-C1DB-4081-3E60-298F67705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89A6E-0204-8BE2-C807-33474B9EA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43B54-FE54-3046-3423-85E0CB5D7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30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680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91BEF-C169-94BB-AADD-4A6C5F7F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51805-41EC-A753-0175-27ED4B5D1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EDF2F-45B2-6E2D-C0B3-6FC5E5837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AB4CB-061C-7A59-5544-8D30750F1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31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988117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35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14688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D4345-8F17-3B73-3016-AB1DAD85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882E8-DED9-989B-6517-7206095A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F1BC6-7CF6-519B-9867-1753588E2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99E6D-D4BE-DFF0-0F19-EC2859E12A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36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06575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400" y="742950"/>
            <a:ext cx="6618288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05EB50-1723-4F02-82E6-3547F8722922}" type="slidenum">
              <a:rPr lang="pt-PT" smtClean="0"/>
              <a:pPr>
                <a:defRPr/>
              </a:pPr>
              <a:t>37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429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3"/>
          <p:cNvSpPr txBox="1">
            <a:spLocks noChangeArrowheads="1"/>
          </p:cNvSpPr>
          <p:nvPr userDrawn="1"/>
        </p:nvSpPr>
        <p:spPr bwMode="auto">
          <a:xfrm>
            <a:off x="11100392" y="6163979"/>
            <a:ext cx="960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l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       /28</a:t>
            </a:r>
          </a:p>
        </p:txBody>
      </p:sp>
      <p:sp>
        <p:nvSpPr>
          <p:cNvPr id="11" name="Text Box 13"/>
          <p:cNvSpPr txBox="1">
            <a:spLocks noChangeArrowheads="1"/>
          </p:cNvSpPr>
          <p:nvPr userDrawn="1"/>
        </p:nvSpPr>
        <p:spPr bwMode="auto">
          <a:xfrm>
            <a:off x="5039883" y="6164408"/>
            <a:ext cx="3744000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Data </a:t>
            </a:r>
            <a:r>
              <a:rPr lang="pt-PT" sz="1200" dirty="0" err="1">
                <a:solidFill>
                  <a:schemeClr val="bg2"/>
                </a:solidFill>
                <a:latin typeface="Humnst777 BT" pitchFamily="34" charset="0"/>
              </a:rPr>
              <a:t>Science</a:t>
            </a:r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 com R - II</a:t>
            </a:r>
          </a:p>
        </p:txBody>
      </p:sp>
      <p:sp>
        <p:nvSpPr>
          <p:cNvPr id="12" name="Text Box 13"/>
          <p:cNvSpPr txBox="1">
            <a:spLocks noChangeArrowheads="1"/>
          </p:cNvSpPr>
          <p:nvPr userDrawn="1"/>
        </p:nvSpPr>
        <p:spPr bwMode="auto">
          <a:xfrm>
            <a:off x="8783882" y="6176009"/>
            <a:ext cx="2227356" cy="5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noAutofit/>
          </a:bodyPr>
          <a:lstStyle/>
          <a:p>
            <a:pPr algn="ctr"/>
            <a:r>
              <a:rPr lang="pt-PT" sz="1200" dirty="0">
                <a:solidFill>
                  <a:schemeClr val="bg2"/>
                </a:solidFill>
                <a:latin typeface="Humnst777 BT" pitchFamily="34" charset="0"/>
              </a:rPr>
              <a:t>Setembro 2024</a:t>
            </a:r>
          </a:p>
        </p:txBody>
      </p:sp>
      <p:sp>
        <p:nvSpPr>
          <p:cNvPr id="13" name="Text Box 34"/>
          <p:cNvSpPr txBox="1">
            <a:spLocks noChangeArrowheads="1"/>
          </p:cNvSpPr>
          <p:nvPr userDrawn="1"/>
        </p:nvSpPr>
        <p:spPr bwMode="auto">
          <a:xfrm flipV="1">
            <a:off x="10703984" y="6215453"/>
            <a:ext cx="62653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2400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175582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830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3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1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94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126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6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45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7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061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947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920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2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17" Type="http://schemas.openxmlformats.org/officeDocument/2006/relationships/image" Target="../media/image6.sv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624417" y="765175"/>
            <a:ext cx="287867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6000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1009651" y="765175"/>
            <a:ext cx="383116" cy="215900"/>
          </a:xfrm>
          <a:prstGeom prst="rect">
            <a:avLst/>
          </a:prstGeom>
          <a:solidFill>
            <a:srgbClr val="CC301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spcBef>
                <a:spcPct val="0"/>
              </a:spcBef>
              <a:defRPr/>
            </a:pP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1488018" y="765175"/>
            <a:ext cx="1153583" cy="21590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6000"/>
          </a:p>
        </p:txBody>
      </p:sp>
      <p:sp>
        <p:nvSpPr>
          <p:cNvPr id="1038" name="Rectangle 14"/>
          <p:cNvSpPr>
            <a:spLocks noChangeArrowheads="1"/>
          </p:cNvSpPr>
          <p:nvPr/>
        </p:nvSpPr>
        <p:spPr bwMode="auto">
          <a:xfrm>
            <a:off x="2736851" y="765175"/>
            <a:ext cx="768349" cy="215900"/>
          </a:xfrm>
          <a:prstGeom prst="rect">
            <a:avLst/>
          </a:prstGeom>
          <a:solidFill>
            <a:srgbClr val="1A3A6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6000"/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1104901" y="909638"/>
            <a:ext cx="768351" cy="215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6000"/>
          </a:p>
        </p:txBody>
      </p:sp>
      <p:pic>
        <p:nvPicPr>
          <p:cNvPr id="1031" name="Picture 17" descr="Logo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4434" y="6237289"/>
            <a:ext cx="4847167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roposta da CCDR Algarve ao Instituto Nacional de Estatística (INE) | RAARA">
            <a:extLst>
              <a:ext uri="{FF2B5EF4-FFF2-40B4-BE49-F238E27FC236}">
                <a16:creationId xmlns:a16="http://schemas.microsoft.com/office/drawing/2014/main" id="{3B4B0A3F-174F-9975-3A0D-CD0A3F6D16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2" b="27068"/>
          <a:stretch/>
        </p:blipFill>
        <p:spPr bwMode="auto">
          <a:xfrm>
            <a:off x="239350" y="260649"/>
            <a:ext cx="2497185" cy="66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758294-BA60-9AEB-86AB-B100BBBA7F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6248" y="6203895"/>
            <a:ext cx="3133725" cy="4762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FB409DF-DE00-B517-2DF9-54D162DA592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361" y="6082428"/>
            <a:ext cx="5423827" cy="58693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F7509D5-5A88-C501-CAAA-043034EB786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65189" y="6226319"/>
            <a:ext cx="950564" cy="34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32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25" userDrawn="1">
          <p15:clr>
            <a:srgbClr val="F26B43"/>
          </p15:clr>
        </p15:guide>
        <p15:guide id="2" pos="51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2" descr="Proposta da CCDR Algarve ao Instituto Nacional de Estatística (INE) | RAARA">
            <a:extLst>
              <a:ext uri="{FF2B5EF4-FFF2-40B4-BE49-F238E27FC236}">
                <a16:creationId xmlns:a16="http://schemas.microsoft.com/office/drawing/2014/main" id="{15BB259D-C105-86D0-2352-14F17054695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2" b="27068"/>
          <a:stretch/>
        </p:blipFill>
        <p:spPr bwMode="auto">
          <a:xfrm>
            <a:off x="239350" y="260649"/>
            <a:ext cx="2497185" cy="665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556E44-4CB4-9477-DFE6-80A97E70895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76248" y="6203895"/>
            <a:ext cx="3133725" cy="476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55D422-210E-C94E-136F-383243BFF92B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361" y="6082428"/>
            <a:ext cx="5423827" cy="58693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C6E12E6-BE03-6D82-78C0-C972C149CCF3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65189" y="6226319"/>
            <a:ext cx="950564" cy="34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5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25" userDrawn="1">
          <p15:clr>
            <a:srgbClr val="F26B43"/>
          </p15:clr>
        </p15:guide>
        <p15:guide id="2" pos="5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4ds.hadley.nz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rstudio.github.io/cheatsheets/html/data-transformation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plyr.tidyverse.org/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gplot2.tidyverse.org/" TargetMode="Externa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pubs.com/abigailpayne/743827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cran.r-project.org/doc/manuals/r-patched/packages/stats/refman/stats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-bloggers.com/" TargetMode="External"/><Relationship Id="rId3" Type="http://schemas.openxmlformats.org/officeDocument/2006/relationships/hyperlink" Target="https://www.tidyverse.org/" TargetMode="External"/><Relationship Id="rId7" Type="http://schemas.openxmlformats.org/officeDocument/2006/relationships/hyperlink" Target="https://stackoverflow.com/" TargetMode="External"/><Relationship Id="rId2" Type="http://schemas.openxmlformats.org/officeDocument/2006/relationships/hyperlink" Target="https://www.r-project.org/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r-project.org/help.html" TargetMode="External"/><Relationship Id="rId5" Type="http://schemas.openxmlformats.org/officeDocument/2006/relationships/hyperlink" Target="https://education.rstudio.com/learn/" TargetMode="External"/><Relationship Id="rId10" Type="http://schemas.openxmlformats.org/officeDocument/2006/relationships/image" Target="../media/image22.png"/><Relationship Id="rId4" Type="http://schemas.openxmlformats.org/officeDocument/2006/relationships/hyperlink" Target="https://www.tidymodels.org/" TargetMode="External"/><Relationship Id="rId9" Type="http://schemas.openxmlformats.org/officeDocument/2006/relationships/hyperlink" Target="https://hour.ine.pt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r4ds.hadley.nz/" TargetMode="External"/><Relationship Id="rId2" Type="http://schemas.openxmlformats.org/officeDocument/2006/relationships/hyperlink" Target="https://r4ds.had.co.nz/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ângulo 4">
            <a:extLst>
              <a:ext uri="{FF2B5EF4-FFF2-40B4-BE49-F238E27FC236}">
                <a16:creationId xmlns:a16="http://schemas.microsoft.com/office/drawing/2014/main" id="{DE0ABF8F-D2B3-EC60-474F-46A54BA68A0E}"/>
              </a:ext>
            </a:extLst>
          </p:cNvPr>
          <p:cNvSpPr/>
          <p:nvPr/>
        </p:nvSpPr>
        <p:spPr>
          <a:xfrm>
            <a:off x="2845666" y="2140905"/>
            <a:ext cx="650066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pt-PT" sz="48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Primeira Parte</a:t>
            </a:r>
          </a:p>
        </p:txBody>
      </p:sp>
      <p:sp>
        <p:nvSpPr>
          <p:cNvPr id="8" name="Rectângulo 5">
            <a:extLst>
              <a:ext uri="{FF2B5EF4-FFF2-40B4-BE49-F238E27FC236}">
                <a16:creationId xmlns:a16="http://schemas.microsoft.com/office/drawing/2014/main" id="{8BCFD7A4-841C-F5D6-56F5-3DA59592295D}"/>
              </a:ext>
            </a:extLst>
          </p:cNvPr>
          <p:cNvSpPr/>
          <p:nvPr/>
        </p:nvSpPr>
        <p:spPr>
          <a:xfrm>
            <a:off x="4069961" y="4070517"/>
            <a:ext cx="40520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pt-PT" sz="2000" b="1" u="sng" dirty="0">
                <a:solidFill>
                  <a:srgbClr val="4D4D4D"/>
                </a:solidFill>
                <a:latin typeface="Century Gothic" panose="020B0502020202020204" pitchFamily="34" charset="0"/>
              </a:rPr>
              <a:t>João Lopes</a:t>
            </a:r>
            <a:r>
              <a:rPr lang="pt-PT" sz="2000" b="1" dirty="0">
                <a:solidFill>
                  <a:srgbClr val="4D4D4D"/>
                </a:solidFill>
                <a:latin typeface="Century Gothic" panose="020B0502020202020204" pitchFamily="34" charset="0"/>
              </a:rPr>
              <a:t> e Pedro Sousa</a:t>
            </a:r>
            <a:endParaRPr lang="pt-PT" sz="2000" b="1" u="sng" dirty="0">
              <a:solidFill>
                <a:srgbClr val="4D4D4D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Rectângulo 8">
            <a:extLst>
              <a:ext uri="{FF2B5EF4-FFF2-40B4-BE49-F238E27FC236}">
                <a16:creationId xmlns:a16="http://schemas.microsoft.com/office/drawing/2014/main" id="{B5C31F85-B977-D2FF-C53D-8BC887AD2124}"/>
              </a:ext>
            </a:extLst>
          </p:cNvPr>
          <p:cNvSpPr/>
          <p:nvPr/>
        </p:nvSpPr>
        <p:spPr>
          <a:xfrm>
            <a:off x="5087888" y="4778256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pt-PT" sz="2000" dirty="0">
                <a:solidFill>
                  <a:srgbClr val="4D4D4D"/>
                </a:solidFill>
                <a:latin typeface="Century Gothic" panose="020B0502020202020204" pitchFamily="34" charset="0"/>
              </a:rPr>
              <a:t>Março 2026</a:t>
            </a:r>
          </a:p>
        </p:txBody>
      </p:sp>
      <p:sp>
        <p:nvSpPr>
          <p:cNvPr id="10" name="Rectângulo 4">
            <a:extLst>
              <a:ext uri="{FF2B5EF4-FFF2-40B4-BE49-F238E27FC236}">
                <a16:creationId xmlns:a16="http://schemas.microsoft.com/office/drawing/2014/main" id="{B96B270A-36D4-C846-DE6F-8B19A4B374BE}"/>
              </a:ext>
            </a:extLst>
          </p:cNvPr>
          <p:cNvSpPr/>
          <p:nvPr/>
        </p:nvSpPr>
        <p:spPr>
          <a:xfrm>
            <a:off x="2845666" y="1196753"/>
            <a:ext cx="6500668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pt-PT" sz="3200" dirty="0">
                <a:solidFill>
                  <a:schemeClr val="accent1">
                    <a:lumMod val="50000"/>
                  </a:schemeClr>
                </a:solidFill>
                <a:latin typeface="Century Gothic" panose="020B0502020202020204" pitchFamily="34" charset="0"/>
              </a:rPr>
              <a:t>R para Ciência dos Dados -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Programa</a:t>
            </a: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DFC7A314-AAAE-806C-7A7D-BF773D16BAF1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244170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10"/>
          <p:cNvSpPr>
            <a:spLocks noChangeShapeType="1"/>
          </p:cNvSpPr>
          <p:nvPr/>
        </p:nvSpPr>
        <p:spPr bwMode="auto">
          <a:xfrm flipH="1">
            <a:off x="2063552" y="1556792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5" name="Line 11"/>
          <p:cNvSpPr>
            <a:spLocks noChangeShapeType="1"/>
          </p:cNvSpPr>
          <p:nvPr/>
        </p:nvSpPr>
        <p:spPr bwMode="auto">
          <a:xfrm>
            <a:off x="2711252" y="1556792"/>
            <a:ext cx="372" cy="234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7" name="Text Box 16"/>
          <p:cNvSpPr txBox="1">
            <a:spLocks noChangeArrowheads="1"/>
          </p:cNvSpPr>
          <p:nvPr/>
        </p:nvSpPr>
        <p:spPr bwMode="auto">
          <a:xfrm>
            <a:off x="2744591" y="1556793"/>
            <a:ext cx="4968875" cy="232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2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</a:t>
            </a:r>
            <a:r>
              <a:rPr lang="pt-PT" sz="2500" b="1" dirty="0">
                <a:solidFill>
                  <a:srgbClr val="003E6C"/>
                </a:solidFill>
              </a:rPr>
              <a:t>Transformação dos dados</a:t>
            </a: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2500" b="1" dirty="0">
                <a:solidFill>
                  <a:srgbClr val="003E6C"/>
                </a:solidFill>
                <a:latin typeface="Humnst777 BT" pitchFamily="34" charset="0"/>
              </a:rPr>
              <a:t>  Exploração dos dados</a:t>
            </a: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2500" b="1" dirty="0">
                <a:solidFill>
                  <a:srgbClr val="003E6C"/>
                </a:solidFill>
                <a:latin typeface="Humnst777 BT" pitchFamily="34" charset="0"/>
              </a:rPr>
              <a:t>  Modelação</a:t>
            </a:r>
            <a:endParaRPr lang="pt-PT" sz="2500" b="1" i="1" dirty="0">
              <a:solidFill>
                <a:srgbClr val="003E6C"/>
              </a:solidFill>
              <a:latin typeface="Humnst777 BT" pitchFamily="34" charset="0"/>
            </a:endParaRP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2500" dirty="0">
                <a:solidFill>
                  <a:schemeClr val="tx1">
                    <a:lumMod val="85000"/>
                    <a:lumOff val="15000"/>
                  </a:schemeClr>
                </a:solidFill>
                <a:latin typeface="Humnst777 BT" pitchFamily="34" charset="0"/>
              </a:rPr>
              <a:t>  </a:t>
            </a:r>
            <a:r>
              <a:rPr lang="pt-PT" sz="2500" dirty="0">
                <a:solidFill>
                  <a:schemeClr val="tx1"/>
                </a:solidFill>
                <a:latin typeface="Humnst777 BT" pitchFamily="34" charset="0"/>
              </a:rPr>
              <a:t>Relatórios e apresentações </a:t>
            </a: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2500" dirty="0">
                <a:solidFill>
                  <a:schemeClr val="tx1">
                    <a:lumMod val="85000"/>
                    <a:lumOff val="15000"/>
                  </a:schemeClr>
                </a:solidFill>
                <a:latin typeface="Humnst777 BT" pitchFamily="34" charset="0"/>
              </a:rPr>
              <a:t>  Comunicação</a:t>
            </a:r>
          </a:p>
        </p:txBody>
      </p:sp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Programa</a:t>
            </a: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E726C6CB-0249-7F60-9345-744BA08E109D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728427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6"/>
          <p:cNvSpPr txBox="1">
            <a:spLocks noChangeArrowheads="1"/>
          </p:cNvSpPr>
          <p:nvPr/>
        </p:nvSpPr>
        <p:spPr bwMode="auto">
          <a:xfrm>
            <a:off x="2711625" y="1557338"/>
            <a:ext cx="4968875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chemeClr val="accent2"/>
                </a:solidFill>
                <a:latin typeface="Humnst777 BT" pitchFamily="34" charset="0"/>
              </a:rPr>
              <a:t>  </a:t>
            </a: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Transformação dos dados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Vetores numéricos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Fatores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Vetores lógicos</a:t>
            </a: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  Exploração dos dados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Variação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Valores em falta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Covariação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Padrões e Modelos</a:t>
            </a:r>
          </a:p>
          <a:p>
            <a:pPr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  Modelação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b="1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Construir modelo simples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Construir modelo com </a:t>
            </a:r>
            <a:r>
              <a:rPr lang="pt-PT" sz="1800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()</a:t>
            </a:r>
          </a:p>
          <a:p>
            <a:pPr lvl="1">
              <a:spcBef>
                <a:spcPts val="6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 Construir vários modelos com </a:t>
            </a:r>
            <a:r>
              <a:rPr lang="pt-PT" sz="1800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r>
              <a:rPr lang="pt-PT" sz="1800" dirty="0">
                <a:solidFill>
                  <a:srgbClr val="003E6C"/>
                </a:solidFill>
                <a:latin typeface="Humnst777 BT" pitchFamily="34" charset="0"/>
              </a:rPr>
              <a:t>()</a:t>
            </a:r>
          </a:p>
        </p:txBody>
      </p:sp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Programa</a:t>
            </a: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4CD33B91-A899-201A-4E83-3EF6578869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5214" y="15573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:a16="http://schemas.microsoft.com/office/drawing/2014/main" id="{8F1E4C9B-F63F-19E5-CB9C-DBC853459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2914" y="1557338"/>
            <a:ext cx="372" cy="45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11E63F42-DEAC-47C1-9ADA-B513FA96B97B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180771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5934" y="4941168"/>
            <a:ext cx="49354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600" dirty="0">
                <a:solidFill>
                  <a:schemeClr val="tx1"/>
                </a:solidFill>
              </a:rPr>
              <a:t>H. Wickham M. Çetinkaya-Rundel &amp; G. Grolemund (2023)</a:t>
            </a:r>
            <a:endParaRPr lang="pt-PT" sz="1600" dirty="0">
              <a:solidFill>
                <a:schemeClr val="tx1"/>
              </a:solidFill>
            </a:endParaRPr>
          </a:p>
        </p:txBody>
      </p:sp>
      <p:pic>
        <p:nvPicPr>
          <p:cNvPr id="3" name="Picture 2" descr="A diagram of a model&#10;&#10;Description automatically generated">
            <a:extLst>
              <a:ext uri="{FF2B5EF4-FFF2-40B4-BE49-F238E27FC236}">
                <a16:creationId xmlns:a16="http://schemas.microsoft.com/office/drawing/2014/main" id="{026DF472-C5F6-5267-7655-957222DCB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639" y="2132618"/>
            <a:ext cx="7334722" cy="2477419"/>
          </a:xfrm>
          <a:prstGeom prst="rect">
            <a:avLst/>
          </a:prstGeom>
        </p:spPr>
      </p:pic>
      <p:sp>
        <p:nvSpPr>
          <p:cNvPr id="4" name="Text Box 376">
            <a:extLst>
              <a:ext uri="{FF2B5EF4-FFF2-40B4-BE49-F238E27FC236}">
                <a16:creationId xmlns:a16="http://schemas.microsoft.com/office/drawing/2014/main" id="{F028F56D-0FE2-9788-2090-540A0D5D7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08732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Esquema geral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AECCD5C1-1ACD-14CB-B01D-C5A3BC290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000" y="2160000"/>
            <a:ext cx="80640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/>
                <a:cs typeface="Courier New" panose="02070309020205020404" pitchFamily="49" charset="0"/>
                <a:hlinkClick r:id="rId3"/>
              </a:rPr>
              <a:t>https://r4ds.hadley.nz/</a:t>
            </a:r>
            <a:endParaRPr lang="pt-PT" sz="2000" dirty="0">
              <a:solidFill>
                <a:schemeClr val="tx1"/>
              </a:solidFill>
              <a:latin typeface="Humnst777 BT"/>
              <a:cs typeface="Courier New" panose="02070309020205020404" pitchFamily="49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/>
                <a:cs typeface="Courier New" panose="02070309020205020404" pitchFamily="49" charset="0"/>
                <a:hlinkClick r:id="rId4"/>
              </a:rPr>
              <a:t>https://tidyverse.org/</a:t>
            </a:r>
          </a:p>
        </p:txBody>
      </p:sp>
    </p:spTree>
    <p:extLst>
      <p:ext uri="{BB962C8B-B14F-4D97-AF65-F5344CB8AC3E}">
        <p14:creationId xmlns:p14="http://schemas.microsoft.com/office/powerpoint/2010/main" val="256749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1 - Transformação</a:t>
            </a: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2560167D-AED5-DA49-4DD4-4C9749A7D70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69417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6"/>
          <p:cNvSpPr txBox="1">
            <a:spLocks noChangeArrowheads="1"/>
          </p:cNvSpPr>
          <p:nvPr/>
        </p:nvSpPr>
        <p:spPr bwMode="auto">
          <a:xfrm>
            <a:off x="2711625" y="1557339"/>
            <a:ext cx="4968875" cy="4683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Vetores numéricos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Contagens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Transformações numéricas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Transformações genéricas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Estatísticas descritivas (c/ exercícios)</a:t>
            </a: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Fatores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Operações básicas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Base de dados </a:t>
            </a:r>
            <a:r>
              <a:rPr lang="pt-PT" sz="1600" dirty="0" err="1">
                <a:solidFill>
                  <a:srgbClr val="003E6C"/>
                </a:solidFill>
                <a:latin typeface="Humnst777 BT" pitchFamily="34" charset="0"/>
              </a:rPr>
              <a:t>gss_cat</a:t>
            </a: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Alterar ordem dos fatores (c/exercícios)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Alterar os fatores (c/ exercícios)</a:t>
            </a: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 Vetores lógicos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Comparações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Álgebra booleana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Sumarização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Transformações condicionais  (c/ exercícios)</a:t>
            </a:r>
          </a:p>
        </p:txBody>
      </p:sp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1 - Transformação</a:t>
            </a: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4CD33B91-A899-201A-4E83-3EF6578869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5214" y="15573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:a16="http://schemas.microsoft.com/office/drawing/2014/main" id="{8F1E4C9B-F63F-19E5-CB9C-DBC853459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2914" y="1557338"/>
            <a:ext cx="372" cy="45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62A1182A-E351-EEC7-07C8-2E8069E62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1557339"/>
            <a:ext cx="2606414" cy="4683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09:30 - 11:00 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11:15 - 12:30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14:00 - 15:00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15:15 - 17:00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2560167D-AED5-DA49-4DD4-4C9749A7D70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646FA9A-6F4F-FA20-1D54-4A91A6C310D4}"/>
              </a:ext>
            </a:extLst>
          </p:cNvPr>
          <p:cNvCxnSpPr>
            <a:cxnSpLocks/>
          </p:cNvCxnSpPr>
          <p:nvPr/>
        </p:nvCxnSpPr>
        <p:spPr bwMode="auto">
          <a:xfrm flipV="1">
            <a:off x="4655840" y="1701801"/>
            <a:ext cx="381642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D932DB-573A-A85A-DAAA-CD28EE4AC2FB}"/>
              </a:ext>
            </a:extLst>
          </p:cNvPr>
          <p:cNvCxnSpPr/>
          <p:nvPr/>
        </p:nvCxnSpPr>
        <p:spPr bwMode="auto">
          <a:xfrm>
            <a:off x="3719736" y="3265934"/>
            <a:ext cx="475252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2E306B-6634-4987-5545-F53328AD7F9E}"/>
              </a:ext>
            </a:extLst>
          </p:cNvPr>
          <p:cNvCxnSpPr/>
          <p:nvPr/>
        </p:nvCxnSpPr>
        <p:spPr bwMode="auto">
          <a:xfrm>
            <a:off x="4439816" y="4797152"/>
            <a:ext cx="403244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216430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064000" y="2160000"/>
            <a:ext cx="8064000" cy="363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Selecionar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linhas (i.e. observações);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arrange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 Ordenar linhas (i.e. observações);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Selecionar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colunas (i.e. variáveis);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mutate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 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Criar novas colunas (i.e. variáveis);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summarize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Calcular estatísticas descritivas.</a:t>
            </a:r>
            <a:endParaRPr lang="pt-PT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Criar grupos de observações para manipulação.</a:t>
            </a:r>
          </a:p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cs typeface="Courier New" panose="02070309020205020404" pitchFamily="49" charset="0"/>
                <a:hlinkClick r:id="rId2"/>
              </a:rPr>
              <a:t>https://dplyr.tidyverse.org/</a:t>
            </a:r>
            <a:endParaRPr lang="pt-PT" sz="2000" dirty="0">
              <a:solidFill>
                <a:schemeClr val="tx1"/>
              </a:solidFill>
              <a:latin typeface="Humnst777 BT" pitchFamily="34" charset="0"/>
              <a:cs typeface="Courier New" panose="02070309020205020404" pitchFamily="49" charset="0"/>
            </a:endParaRP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F0DEADA4-5A5D-024A-AC90-C48442A12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632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3E0D27C-D272-A2B8-5E71-A5A90C74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library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tidyverse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?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|&gt;      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data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select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",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and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"cut"</a:t>
            </a:r>
            <a:r>
              <a:rPr lang="pt-PT" sz="12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filter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filter for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smaller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log10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 |&gt;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create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variable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group_by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group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"cut"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summarize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mean_lprice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calculate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of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mean_carat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calculate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of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) |&gt;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arrange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desc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mean_lprice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arrange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mean_lprice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84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3E0D27C-D272-A2B8-5E71-A5A90C74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# A 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tibble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: 5 × 3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cut      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mean_lprice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mean_carat</a:t>
            </a: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&lt;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ord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&gt;           &lt;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dbl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&gt;      &lt;</a:t>
            </a:r>
            <a:r>
              <a:rPr lang="en-US" sz="1200" b="1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dbl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1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Fair             3.51      1.03 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2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Premium          3.45      0.889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3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Good             3.41      0.847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4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Very Good        3.39      0.806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5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Ideal            3.32      0.702</a:t>
            </a: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en-US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955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2 - Exploração</a:t>
            </a: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011B0E89-4F52-C331-46AC-BBA6713F7F6B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3170214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6"/>
          <p:cNvSpPr txBox="1">
            <a:spLocks noChangeArrowheads="1"/>
          </p:cNvSpPr>
          <p:nvPr/>
        </p:nvSpPr>
        <p:spPr bwMode="auto">
          <a:xfrm>
            <a:off x="2711625" y="1557339"/>
            <a:ext cx="4968875" cy="3752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Variação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Valores típicos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Valores invulgares</a:t>
            </a: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Valores em falta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Explícitos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Implícitos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Fatores e grupos vazios</a:t>
            </a: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 Covariação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Uma categórica e uma numérica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Duas categóricas (c/ exercícios)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Duas numéricas (c/ exercícios)</a:t>
            </a: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600" b="1" dirty="0">
                <a:solidFill>
                  <a:srgbClr val="003E6C"/>
                </a:solidFill>
                <a:latin typeface="Humnst777 BT" pitchFamily="34" charset="0"/>
              </a:rPr>
              <a:t>Padrões e modelos</a:t>
            </a:r>
          </a:p>
        </p:txBody>
      </p:sp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2 - Exploração</a:t>
            </a: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4CD33B91-A899-201A-4E83-3EF6578869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5214" y="15573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:a16="http://schemas.microsoft.com/office/drawing/2014/main" id="{8F1E4C9B-F63F-19E5-CB9C-DBC853459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2914" y="1557338"/>
            <a:ext cx="372" cy="378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62A1182A-E351-EEC7-07C8-2E8069E62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1557339"/>
            <a:ext cx="2606414" cy="3765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09:30 - 11:00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11:15 - 12:30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14:00 - 16:00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6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600"/>
              </a:spcBef>
              <a:buClr>
                <a:srgbClr val="CC0000"/>
              </a:buClr>
            </a:pPr>
            <a:r>
              <a:rPr lang="pt-PT" sz="1600" dirty="0">
                <a:solidFill>
                  <a:srgbClr val="003E6C"/>
                </a:solidFill>
                <a:latin typeface="Humnst777 BT" pitchFamily="34" charset="0"/>
              </a:rPr>
              <a:t>16:15 - 17:00</a:t>
            </a: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011B0E89-4F52-C331-46AC-BBA6713F7F6B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512755-F367-1548-B162-5DC204BF1B06}"/>
              </a:ext>
            </a:extLst>
          </p:cNvPr>
          <p:cNvCxnSpPr/>
          <p:nvPr/>
        </p:nvCxnSpPr>
        <p:spPr bwMode="auto">
          <a:xfrm>
            <a:off x="3863752" y="1720850"/>
            <a:ext cx="4608512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6956FD-E17A-83F9-834B-BF0F5FA24E2C}"/>
              </a:ext>
            </a:extLst>
          </p:cNvPr>
          <p:cNvCxnSpPr/>
          <p:nvPr/>
        </p:nvCxnSpPr>
        <p:spPr bwMode="auto">
          <a:xfrm>
            <a:off x="4511824" y="2636912"/>
            <a:ext cx="396044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DCD260-5328-17D7-1EB9-CFCE3297C61B}"/>
              </a:ext>
            </a:extLst>
          </p:cNvPr>
          <p:cNvCxnSpPr/>
          <p:nvPr/>
        </p:nvCxnSpPr>
        <p:spPr bwMode="auto">
          <a:xfrm>
            <a:off x="4007768" y="3861048"/>
            <a:ext cx="446449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781C2F-EA98-40B9-BFCA-B32FC0949BE4}"/>
              </a:ext>
            </a:extLst>
          </p:cNvPr>
          <p:cNvCxnSpPr/>
          <p:nvPr/>
        </p:nvCxnSpPr>
        <p:spPr bwMode="auto">
          <a:xfrm>
            <a:off x="4727848" y="5104234"/>
            <a:ext cx="374441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307517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17415" name="Text Box 376"/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064000" y="2160000"/>
            <a:ext cx="7920432" cy="363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Data;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Aesthetic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mapping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b="1" dirty="0" err="1">
                <a:solidFill>
                  <a:schemeClr val="tx1"/>
                </a:solidFill>
                <a:latin typeface="Humnst777 BT" pitchFamily="34" charset="0"/>
              </a:rPr>
              <a:t>aes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Geometric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object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b="1" dirty="0" err="1">
                <a:solidFill>
                  <a:schemeClr val="tx1"/>
                </a:solidFill>
                <a:latin typeface="Humnst777 BT" pitchFamily="34" charset="0"/>
              </a:rPr>
              <a:t>geom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Statistical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transformation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b="1" dirty="0" err="1">
                <a:solidFill>
                  <a:schemeClr val="tx1"/>
                </a:solidFill>
                <a:latin typeface="Humnst777 BT" pitchFamily="34" charset="0"/>
              </a:rPr>
              <a:t>stat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Scale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Themes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.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https://ggplot2.tidyverse.org/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184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3E0D27C-D272-A2B8-5E71-A5A90C74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set.seed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1984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|&gt;           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data 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filter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filter for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smaller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diamonds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slice_sample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500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sample for 500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obs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per "cut"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ggplot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carat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cut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aesthetics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mapping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alpha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0.1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geometric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object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stat_smooth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        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statistical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transformation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"lm"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formula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"y ~ x + I(x^2) + I(x^3)"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se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+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scale_x_continuous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trans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"log10"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scale for x-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axis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scale_y_continuous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trans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"log10"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scale for y-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axis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labs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Weight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"Price"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"Cut"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scale for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labels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theme_minimal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       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change</a:t>
            </a:r>
            <a:r>
              <a:rPr lang="pt-PT" sz="1200" b="1" i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theme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658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with lines and dots&#10;&#10;Description automatically generated with medium confidence">
            <a:extLst>
              <a:ext uri="{FF2B5EF4-FFF2-40B4-BE49-F238E27FC236}">
                <a16:creationId xmlns:a16="http://schemas.microsoft.com/office/drawing/2014/main" id="{5B2E28D7-2814-1A37-EA2B-9400B4741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846" y="2133600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B3E0D27C-D272-A2B8-5E71-A5A90C749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ggplot2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329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3 - Modelação</a:t>
            </a: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E39B369C-2491-251B-2DFE-4302AB7FD700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355362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16"/>
          <p:cNvSpPr txBox="1">
            <a:spLocks noChangeArrowheads="1"/>
          </p:cNvSpPr>
          <p:nvPr/>
        </p:nvSpPr>
        <p:spPr bwMode="auto">
          <a:xfrm>
            <a:off x="2711625" y="1557339"/>
            <a:ext cx="4968875" cy="4747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500" b="1" dirty="0">
                <a:solidFill>
                  <a:srgbClr val="003E6C"/>
                </a:solidFill>
                <a:latin typeface="Humnst777 BT" pitchFamily="34" charset="0"/>
              </a:rPr>
              <a:t>Construir modelo simples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Explorar dados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Ajustar modelo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Usar modelo para previsão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500" b="1" dirty="0">
                <a:solidFill>
                  <a:srgbClr val="003E6C"/>
                </a:solidFill>
                <a:latin typeface="Humnst777 BT" pitchFamily="34" charset="0"/>
              </a:rPr>
              <a:t>Construir modelo com </a:t>
            </a:r>
            <a:r>
              <a:rPr lang="pt-PT" sz="1500" b="1" i="1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endParaRPr lang="pt-PT" sz="1500" b="1" i="1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>
                <a:solidFill>
                  <a:srgbClr val="003E6C"/>
                </a:solidFill>
                <a:latin typeface="Humnst777 BT" pitchFamily="34" charset="0"/>
              </a:rPr>
              <a:t> Explorar </a:t>
            </a: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dados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Dividir dados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Criar </a:t>
            </a:r>
            <a:r>
              <a:rPr lang="pt-PT" sz="1500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Ajustar modelo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Avaliar modelo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b="1" dirty="0">
                <a:solidFill>
                  <a:srgbClr val="003E6C"/>
                </a:solidFill>
                <a:latin typeface="Humnst777 BT" pitchFamily="34" charset="0"/>
              </a:rPr>
              <a:t> Construir vários modelos com </a:t>
            </a:r>
            <a:r>
              <a:rPr lang="pt-PT" sz="1500" b="1" i="1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endParaRPr lang="pt-PT" sz="1500" b="1" i="1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Explorar dados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Dividir dados</a:t>
            </a: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Criar </a:t>
            </a:r>
            <a:r>
              <a:rPr lang="pt-PT" sz="1500" i="1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e ajustar modelo 1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Criar </a:t>
            </a:r>
            <a:r>
              <a:rPr lang="pt-PT" sz="1500" i="1" dirty="0" err="1">
                <a:solidFill>
                  <a:srgbClr val="003E6C"/>
                </a:solidFill>
                <a:latin typeface="Humnst777 BT" pitchFamily="34" charset="0"/>
              </a:rPr>
              <a:t>workflow</a:t>
            </a: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e ajustar modelo 2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lvl="1">
              <a:spcBef>
                <a:spcPts val="500"/>
              </a:spcBef>
              <a:buClr>
                <a:srgbClr val="CC0000"/>
              </a:buClr>
              <a:buFont typeface="Wingdings" pitchFamily="2" charset="2"/>
              <a:buChar char="§"/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 Avaliar o melhor modelo </a:t>
            </a:r>
            <a:r>
              <a:rPr lang="pt-PT" sz="1400" dirty="0">
                <a:solidFill>
                  <a:srgbClr val="003E6C"/>
                </a:solidFill>
                <a:latin typeface="Humnst777 BT" pitchFamily="34" charset="0"/>
              </a:rPr>
              <a:t>(c/ exercícios)</a:t>
            </a: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</p:txBody>
      </p:sp>
      <p:sp>
        <p:nvSpPr>
          <p:cNvPr id="3080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Dia 3 - Modelação</a:t>
            </a: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4CD33B91-A899-201A-4E83-3EF6578869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65214" y="1557338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Line 11">
            <a:extLst>
              <a:ext uri="{FF2B5EF4-FFF2-40B4-BE49-F238E27FC236}">
                <a16:creationId xmlns:a16="http://schemas.microsoft.com/office/drawing/2014/main" id="{8F1E4C9B-F63F-19E5-CB9C-DBC853459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2914" y="1557338"/>
            <a:ext cx="372" cy="45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62A1182A-E351-EEC7-07C8-2E8069E62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1557339"/>
            <a:ext cx="2606414" cy="4747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09:30 - 11:00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11:15 - 12:30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14:00 - 15:00 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r>
              <a:rPr lang="pt-PT" sz="1500" dirty="0">
                <a:solidFill>
                  <a:srgbClr val="003E6C"/>
                </a:solidFill>
                <a:latin typeface="Humnst777 BT" pitchFamily="34" charset="0"/>
              </a:rPr>
              <a:t>15:15 - 17:00</a:t>
            </a: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  <a:p>
            <a:pPr algn="r">
              <a:spcBef>
                <a:spcPts val="500"/>
              </a:spcBef>
              <a:buClr>
                <a:srgbClr val="CC0000"/>
              </a:buClr>
            </a:pPr>
            <a:endParaRPr lang="pt-PT" sz="1500" dirty="0">
              <a:solidFill>
                <a:srgbClr val="003E6C"/>
              </a:solidFill>
              <a:latin typeface="Humnst777 BT" pitchFamily="34" charset="0"/>
            </a:endParaRPr>
          </a:p>
        </p:txBody>
      </p:sp>
      <p:sp>
        <p:nvSpPr>
          <p:cNvPr id="7" name="Text Box 39">
            <a:extLst>
              <a:ext uri="{FF2B5EF4-FFF2-40B4-BE49-F238E27FC236}">
                <a16:creationId xmlns:a16="http://schemas.microsoft.com/office/drawing/2014/main" id="{18E9901F-A625-5978-C8B9-7AB1C93843DE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CC301F"/>
                </a:solidFill>
              </a:rPr>
              <a:t>«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0BDA8F-427E-C2E3-608E-F9C8D0FA1B8F}"/>
              </a:ext>
            </a:extLst>
          </p:cNvPr>
          <p:cNvCxnSpPr>
            <a:cxnSpLocks/>
          </p:cNvCxnSpPr>
          <p:nvPr/>
        </p:nvCxnSpPr>
        <p:spPr bwMode="auto">
          <a:xfrm>
            <a:off x="5087888" y="1720850"/>
            <a:ext cx="33846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13D286-9B90-2D8F-69AD-866A648854CC}"/>
              </a:ext>
            </a:extLst>
          </p:cNvPr>
          <p:cNvCxnSpPr>
            <a:cxnSpLocks/>
          </p:cNvCxnSpPr>
          <p:nvPr/>
        </p:nvCxnSpPr>
        <p:spPr bwMode="auto">
          <a:xfrm>
            <a:off x="5663952" y="2881511"/>
            <a:ext cx="280853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BD704B-B5DA-08E4-CB7C-C3E88EC4CFFE}"/>
              </a:ext>
            </a:extLst>
          </p:cNvPr>
          <p:cNvCxnSpPr>
            <a:cxnSpLocks/>
          </p:cNvCxnSpPr>
          <p:nvPr/>
        </p:nvCxnSpPr>
        <p:spPr bwMode="auto">
          <a:xfrm>
            <a:off x="6312024" y="4634086"/>
            <a:ext cx="216046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93349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0C38659E-44D2-1F8B-7063-017B1A96E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Recapitulação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46A14C6A-AFDD-4709-CE5D-8CB0945F5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000" y="2160000"/>
            <a:ext cx="7920432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Data;</a:t>
            </a:r>
          </a:p>
          <a:p>
            <a:pPr marL="342900" indent="-342900"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Formula (e.g. 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formula()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Fit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model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. 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aov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…);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Extract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parametes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.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residuals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predicted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coef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…);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Testing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assumptions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.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…);</a:t>
            </a:r>
          </a:p>
          <a:p>
            <a:pPr marL="342900" indent="-342900" algn="just">
              <a:buFontTx/>
              <a:buChar char="-"/>
            </a:pP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Evaluate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model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(</a:t>
            </a:r>
            <a:r>
              <a:rPr lang="pt-PT" sz="2000" dirty="0" err="1">
                <a:solidFill>
                  <a:schemeClr val="tx1"/>
                </a:solidFill>
                <a:latin typeface="Humnst777 BT" pitchFamily="34" charset="0"/>
              </a:rPr>
              <a:t>eg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.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AIC()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</a:t>
            </a:r>
            <a:r>
              <a:rPr lang="pt-PT" sz="20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logLik</a:t>
            </a:r>
            <a:r>
              <a:rPr lang="pt-PT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, …).</a:t>
            </a:r>
          </a:p>
          <a:p>
            <a:pPr algn="just"/>
            <a:endParaRPr lang="pt-PT" sz="2000" dirty="0">
              <a:solidFill>
                <a:schemeClr val="tx1"/>
              </a:solidFill>
              <a:latin typeface="Humnst777 BT" pitchFamily="34" charset="0"/>
              <a:hlinkClick r:id="rId3"/>
            </a:endParaRPr>
          </a:p>
          <a:p>
            <a:pPr algn="just"/>
            <a:endParaRPr lang="pt-PT" sz="2000" dirty="0">
              <a:solidFill>
                <a:schemeClr val="tx1"/>
              </a:solidFill>
              <a:latin typeface="Humnst777 BT" pitchFamily="34" charset="0"/>
              <a:hlinkClick r:id="rId3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https://rpubs.com/abigailpayne/743827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</p:txBody>
      </p:sp>
      <p:sp>
        <p:nvSpPr>
          <p:cNvPr id="5" name="Text Box 376">
            <a:extLst>
              <a:ext uri="{FF2B5EF4-FFF2-40B4-BE49-F238E27FC236}">
                <a16:creationId xmlns:a16="http://schemas.microsoft.com/office/drawing/2014/main" id="{5857582F-6E27-D19A-1E20-9F3CB0B38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4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Pacote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stats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funções 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lm()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e </a:t>
            </a:r>
            <a:r>
              <a:rPr lang="pt-PT" sz="2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</a:t>
            </a:r>
            <a:r>
              <a:rPr lang="pt-PT" sz="2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2" name="Text Box 13">
            <a:extLst>
              <a:ext uri="{FF2B5EF4-FFF2-40B4-BE49-F238E27FC236}">
                <a16:creationId xmlns:a16="http://schemas.microsoft.com/office/drawing/2014/main" id="{BDD806F5-52F7-F7E2-9CDF-96C16F5F4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000" y="5373216"/>
            <a:ext cx="900055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4"/>
              </a:rPr>
              <a:t>https://cran.r-project.org/doc/manuals/r-patched/packages/stats/refman/stats.html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03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03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tibble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18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rnorm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data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predict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residuals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ggplot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stat_smooth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"lm"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formula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"y ~ x"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blue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geom_segment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xend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yend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red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linear simples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128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606ECA-7BCD-4CEF-684F-09FB8A798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034" y="2133600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linear simples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3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1.0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tibble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18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rbinom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prob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rnorm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mean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|&gt; 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factor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data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&lt;-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coef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tb_lm2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predict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residuals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res_lm2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ggplot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 +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geom_abline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slope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intercept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blue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geom_abline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slope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intercept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blue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geom_segment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xend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yend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red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linear múltipla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756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D5FF26-4442-4905-4857-9B725AEAF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845" y="2133600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linear múltipla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057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15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tb_glm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tibble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18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beta1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sv-SE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z = [-Inf, Inf]</a:t>
            </a:r>
            <a:endParaRPr lang="pt-PT" sz="1200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p_y 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exp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)/(</a:t>
            </a:r>
            <a:r>
              <a:rPr lang="sv-SE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sv-SE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exp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</a:t>
            </a:r>
            <a:r>
              <a:rPr lang="sv-SE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)),       </a:t>
            </a:r>
            <a:r>
              <a:rPr lang="sv-SE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p_y = [0, 1]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rbinom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prob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p_y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y = {0, 1}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res_glm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binomial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link=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logit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tb_glm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tb_glm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mutate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predict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res_glm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resp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resids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residuals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res_glm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ggplot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stat_smooth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glm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formula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"y ~ x"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blue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method.args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list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family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"binomial"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 +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geom_segment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xend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yend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red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logística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004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6825C06-9EB8-87AB-7058-26DD77427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637" y="2141306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Regressão logística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798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9C32175-D614-E958-3360-7D2094899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25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-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tb_ml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tibble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40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18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x2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runif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40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min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18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z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 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p_y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exp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)/(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exp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z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factor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rbinom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40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prob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p_y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endParaRPr lang="pt-PT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tb_ml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|&gt;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ggplot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color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</a:p>
          <a:p>
            <a:pPr algn="just">
              <a:spcBef>
                <a:spcPts val="600"/>
              </a:spcBef>
            </a:pP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geom_point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 +</a:t>
            </a:r>
          </a:p>
          <a:p>
            <a:pPr algn="just"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geom_abline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intercept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=-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beta0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beta2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slope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=-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beta1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beta2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linetype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"dashed"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color=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darkgray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Machine</a:t>
            </a:r>
            <a:r>
              <a:rPr lang="pt-PT" sz="2800" i="1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Learning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Dados</a:t>
            </a:r>
            <a:endParaRPr lang="pt-PT" sz="2800" b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309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E8045F-3116-35D6-50EE-08667E5A2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648" y="2149758"/>
            <a:ext cx="6186309" cy="4064926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F7D90EC-3CA4-678A-C3F4-4E823A162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Machine</a:t>
            </a:r>
            <a:r>
              <a:rPr lang="pt-PT" sz="2800" i="1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Learning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Dados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609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1076E-B8CE-BE66-7463-BD4BA377B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>
            <a:extLst>
              <a:ext uri="{FF2B5EF4-FFF2-40B4-BE49-F238E27FC236}">
                <a16:creationId xmlns:a16="http://schemas.microsoft.com/office/drawing/2014/main" id="{56BC6236-A143-C97D-77CA-B8C956B97EFA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060E1B81-C50D-BF70-2B0D-CCDE627D4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41E08636-42A7-99A2-4CD6-9D6D8F59F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AE64D192-637F-33B3-4B78-39C5D424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A1D9BDCF-1806-094E-B6B1-76758D89C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library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rpart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library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rpart.plot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res_rf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rpart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data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tb_ml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control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rpart.control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minsplit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predict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res_rf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"class"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tb_ml</a:t>
            </a:r>
            <a:r>
              <a:rPr lang="en-US" sz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  0  1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#0 22  2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#1  1 15</a:t>
            </a: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rpart.plot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res_rf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extra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101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digits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box.palette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RdBu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D9938055-AFE2-80F2-5A59-3F74E4EB2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Machine</a:t>
            </a:r>
            <a:r>
              <a:rPr lang="pt-PT" sz="2800" i="1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Learning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Árvores de decisão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348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F5B74-F02B-133F-2CED-63B18815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723A6D-6007-FA6C-ECA6-3819207E10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655" y="2133600"/>
            <a:ext cx="6186309" cy="4064926"/>
          </a:xfrm>
          <a:prstGeom prst="rect">
            <a:avLst/>
          </a:prstGeom>
        </p:spPr>
      </p:pic>
      <p:sp>
        <p:nvSpPr>
          <p:cNvPr id="17413" name="Text Box 39">
            <a:extLst>
              <a:ext uri="{FF2B5EF4-FFF2-40B4-BE49-F238E27FC236}">
                <a16:creationId xmlns:a16="http://schemas.microsoft.com/office/drawing/2014/main" id="{51DD8C3B-3A28-A3E2-ECE0-2C7BC4C42F69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B6D9BC0D-057E-A9AF-1335-3CF16E6FE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84936C53-18AA-0256-933A-8780302E0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1F158B33-AF7E-3B2A-C5E0-96BF8D24E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C810C02C-D71C-96CF-6DC3-4D8F8BDD1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Machine</a:t>
            </a:r>
            <a:r>
              <a:rPr lang="pt-PT" sz="2800" i="1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Learning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Árvores de decisão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34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DC64E-0B55-6391-C9CC-FD93AC1CD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7EA68F-5246-4A87-C101-5F2D71DB8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43" y="2133600"/>
            <a:ext cx="6186309" cy="4064926"/>
          </a:xfrm>
          <a:prstGeom prst="rect">
            <a:avLst/>
          </a:prstGeom>
        </p:spPr>
      </p:pic>
      <p:sp>
        <p:nvSpPr>
          <p:cNvPr id="17413" name="Text Box 39">
            <a:extLst>
              <a:ext uri="{FF2B5EF4-FFF2-40B4-BE49-F238E27FC236}">
                <a16:creationId xmlns:a16="http://schemas.microsoft.com/office/drawing/2014/main" id="{1929334E-A1F5-EFDE-8F8E-4FF42552316E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906C8396-A7D1-7000-D8D0-1839B35B5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9D5D5427-1773-9EC3-FD3C-21B0FB526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045DD69A-345C-1593-5D4B-CE4B5A6DF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80F0D5EE-91E3-EC1E-D23E-08EDB0623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Machine</a:t>
            </a:r>
            <a:r>
              <a:rPr lang="pt-PT" sz="2800" i="1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Learning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Árvores de decisão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403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DFA2-E7FC-5FEA-9D1D-4CC3E7AC8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>
            <a:extLst>
              <a:ext uri="{FF2B5EF4-FFF2-40B4-BE49-F238E27FC236}">
                <a16:creationId xmlns:a16="http://schemas.microsoft.com/office/drawing/2014/main" id="{86C89C83-5018-44EF-AED6-6F35916CE445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B309D9A1-C1AD-4067-42D3-9BBE41ECA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E61BAA68-AE16-7EA8-1AB0-36BFBC8A3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371E49CF-354B-CFEB-C970-5A063EACB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DAD0929C-855F-3483-7A5F-29177A4443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804" y="2153756"/>
            <a:ext cx="7560392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library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nnet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library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NeuralNetTools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res_nnet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&lt;-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nnet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x1 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x2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data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tb_ml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trace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table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predict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res_nnet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"class"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tb_ml</a:t>
            </a:r>
            <a:r>
              <a:rPr lang="en-US" sz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y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  0  1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#0 21  0</a:t>
            </a:r>
          </a:p>
          <a:p>
            <a:pPr algn="just">
              <a:spcBef>
                <a:spcPts val="600"/>
              </a:spcBef>
            </a:pP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#1  2 17</a:t>
            </a:r>
          </a:p>
          <a:p>
            <a:pPr algn="just">
              <a:spcBef>
                <a:spcPts val="600"/>
              </a:spcBef>
            </a:pPr>
            <a:endParaRPr lang="pt-PT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600"/>
              </a:spcBef>
            </a:pP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plotnet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res_nnet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bord_col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black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pos_col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black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neg_col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PT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gray"</a:t>
            </a:r>
            <a:r>
              <a:rPr lang="pt-PT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(-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15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65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9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round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res_nnet</a:t>
            </a:r>
            <a:r>
              <a:rPr lang="en-US" sz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wts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)],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#Bias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(-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8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round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res_nnet</a:t>
            </a:r>
            <a:r>
              <a:rPr lang="en-US" sz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wts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#Input</a:t>
            </a:r>
          </a:p>
          <a:p>
            <a:pPr algn="just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text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6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round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res_nnet</a:t>
            </a:r>
            <a:r>
              <a:rPr lang="en-US" sz="12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wts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],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2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))</a:t>
            </a:r>
            <a:r>
              <a:rPr lang="en-US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</a:t>
            </a:r>
            <a:r>
              <a:rPr 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#Output</a:t>
            </a:r>
          </a:p>
          <a:p>
            <a:pPr algn="just">
              <a:spcBef>
                <a:spcPts val="600"/>
              </a:spcBef>
            </a:pPr>
            <a:endParaRPr lang="en-US" sz="12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1AB1F1AD-D7DD-3B1B-3906-71451893D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Machine</a:t>
            </a:r>
            <a:r>
              <a:rPr lang="pt-PT" sz="2800" i="1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Learning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Redes neuronais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573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CB0F6-A4E3-A944-CEA1-82EAF5F4F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AC629C-D30D-73BE-BA97-FE9BE7B7B6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845" y="2158307"/>
            <a:ext cx="6186309" cy="4064926"/>
          </a:xfrm>
          <a:prstGeom prst="rect">
            <a:avLst/>
          </a:prstGeom>
        </p:spPr>
      </p:pic>
      <p:sp>
        <p:nvSpPr>
          <p:cNvPr id="17413" name="Text Box 39">
            <a:extLst>
              <a:ext uri="{FF2B5EF4-FFF2-40B4-BE49-F238E27FC236}">
                <a16:creationId xmlns:a16="http://schemas.microsoft.com/office/drawing/2014/main" id="{9C58DB2C-52AB-96DC-2356-264613F59A9B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41107A0D-4D27-F6A3-349C-EC9AA43C2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948D2651-0851-E5D0-0BBF-E662C37D4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712278CC-789A-F595-BDDF-46F9543EF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2148E2D1-8108-1EBD-2DA2-ED7A4904F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Machine</a:t>
            </a:r>
            <a:r>
              <a:rPr lang="pt-PT" sz="2800" i="1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Learning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Redes neuronais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547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25122-B113-2741-BF31-3F863369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DFBD7B-8CD1-F1C0-9205-3F3EB310B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340" y="2132856"/>
            <a:ext cx="6186309" cy="4064926"/>
          </a:xfrm>
          <a:prstGeom prst="rect">
            <a:avLst/>
          </a:prstGeom>
        </p:spPr>
      </p:pic>
      <p:sp>
        <p:nvSpPr>
          <p:cNvPr id="17413" name="Text Box 39">
            <a:extLst>
              <a:ext uri="{FF2B5EF4-FFF2-40B4-BE49-F238E27FC236}">
                <a16:creationId xmlns:a16="http://schemas.microsoft.com/office/drawing/2014/main" id="{ABA9451A-42C6-95EE-397E-E57B898FD433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D4BAFF7D-D593-6E89-E598-E5EE9FCB6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FC14A178-5966-86C3-2D0C-27E34F653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FEF135AA-1C23-3770-259B-D4FF75EEC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Modelos</a:t>
            </a:r>
          </a:p>
        </p:txBody>
      </p:sp>
      <p:sp>
        <p:nvSpPr>
          <p:cNvPr id="4" name="Text Box 376">
            <a:extLst>
              <a:ext uri="{FF2B5EF4-FFF2-40B4-BE49-F238E27FC236}">
                <a16:creationId xmlns:a16="http://schemas.microsoft.com/office/drawing/2014/main" id="{EAF114A3-6120-E9F7-5CE3-647D9DD0E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1983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Machine</a:t>
            </a:r>
            <a:r>
              <a:rPr lang="pt-PT" sz="2800" i="1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 </a:t>
            </a:r>
            <a:r>
              <a:rPr lang="pt-PT" sz="2800" i="1" dirty="0" err="1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Learning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: Árvores de decisão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274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be 12">
            <a:extLst>
              <a:ext uri="{FF2B5EF4-FFF2-40B4-BE49-F238E27FC236}">
                <a16:creationId xmlns:a16="http://schemas.microsoft.com/office/drawing/2014/main" id="{F41FDECD-15AC-1F6A-CEDB-69E821E6E17F}"/>
              </a:ext>
            </a:extLst>
          </p:cNvPr>
          <p:cNvSpPr/>
          <p:nvPr/>
        </p:nvSpPr>
        <p:spPr bwMode="auto">
          <a:xfrm>
            <a:off x="2119902" y="2492897"/>
            <a:ext cx="576064" cy="504056"/>
          </a:xfrm>
          <a:prstGeom prst="cub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1A273E0E-B5D1-AD94-C079-552E2A3907AF}"/>
              </a:ext>
            </a:extLst>
          </p:cNvPr>
          <p:cNvSpPr/>
          <p:nvPr/>
        </p:nvSpPr>
        <p:spPr bwMode="auto">
          <a:xfrm>
            <a:off x="4280142" y="3356993"/>
            <a:ext cx="576064" cy="5040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15" name="Can 39">
            <a:extLst>
              <a:ext uri="{FF2B5EF4-FFF2-40B4-BE49-F238E27FC236}">
                <a16:creationId xmlns:a16="http://schemas.microsoft.com/office/drawing/2014/main" id="{B8DD30A2-B473-A0D7-F390-0E0D4EDBF49D}"/>
              </a:ext>
            </a:extLst>
          </p:cNvPr>
          <p:cNvSpPr/>
          <p:nvPr/>
        </p:nvSpPr>
        <p:spPr bwMode="auto">
          <a:xfrm>
            <a:off x="2119902" y="4293097"/>
            <a:ext cx="450000" cy="90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22" name="Cube 21">
            <a:extLst>
              <a:ext uri="{FF2B5EF4-FFF2-40B4-BE49-F238E27FC236}">
                <a16:creationId xmlns:a16="http://schemas.microsoft.com/office/drawing/2014/main" id="{BFE324C8-0F5B-FD29-C409-001FDFE5991A}"/>
              </a:ext>
            </a:extLst>
          </p:cNvPr>
          <p:cNvSpPr/>
          <p:nvPr/>
        </p:nvSpPr>
        <p:spPr bwMode="auto">
          <a:xfrm>
            <a:off x="9032670" y="3356993"/>
            <a:ext cx="576064" cy="5040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25" name="Can 53">
            <a:extLst>
              <a:ext uri="{FF2B5EF4-FFF2-40B4-BE49-F238E27FC236}">
                <a16:creationId xmlns:a16="http://schemas.microsoft.com/office/drawing/2014/main" id="{5A59376F-6579-4FA8-0540-A3BA24D0F73B}"/>
              </a:ext>
            </a:extLst>
          </p:cNvPr>
          <p:cNvSpPr>
            <a:spLocks noChangeAspect="1"/>
          </p:cNvSpPr>
          <p:nvPr/>
        </p:nvSpPr>
        <p:spPr bwMode="auto">
          <a:xfrm>
            <a:off x="9207444" y="2564905"/>
            <a:ext cx="225000" cy="45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EB6B6BB2-6F69-BEBB-9BFD-CD4095E03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10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Visão Geral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A619511-069C-CE8C-A9E6-F5D138998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0" y="5157193"/>
            <a:ext cx="6511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707763E0-71F9-25F8-D523-802FEBD035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720000" cy="36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62A5E17B-12B6-6AE5-8198-C704F1DB0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8" y="2420889"/>
            <a:ext cx="1228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Generalização</a:t>
            </a:r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CC2C16EB-A380-74AB-6859-6EE7531E1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9611" y="2113112"/>
            <a:ext cx="126771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Aplicação</a:t>
            </a:r>
          </a:p>
        </p:txBody>
      </p:sp>
      <p:sp>
        <p:nvSpPr>
          <p:cNvPr id="52" name="Line 31">
            <a:extLst>
              <a:ext uri="{FF2B5EF4-FFF2-40B4-BE49-F238E27FC236}">
                <a16:creationId xmlns:a16="http://schemas.microsoft.com/office/drawing/2014/main" id="{BF13A75D-FDE8-A64A-95D6-90041EECA0C0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6" y="3068960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53" name="Line 31">
            <a:extLst>
              <a:ext uri="{FF2B5EF4-FFF2-40B4-BE49-F238E27FC236}">
                <a16:creationId xmlns:a16="http://schemas.microsoft.com/office/drawing/2014/main" id="{56253411-EDAF-256B-0F23-4C0E55755090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7" y="3933056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54" name="Text Box 6">
            <a:extLst>
              <a:ext uri="{FF2B5EF4-FFF2-40B4-BE49-F238E27FC236}">
                <a16:creationId xmlns:a16="http://schemas.microsoft.com/office/drawing/2014/main" id="{691259C9-7F85-FE58-7AE4-A574D4FD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462" y="4201344"/>
            <a:ext cx="12648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Conhecimento</a:t>
            </a:r>
          </a:p>
        </p:txBody>
      </p:sp>
      <p:sp>
        <p:nvSpPr>
          <p:cNvPr id="55" name="Text Box 6">
            <a:extLst>
              <a:ext uri="{FF2B5EF4-FFF2-40B4-BE49-F238E27FC236}">
                <a16:creationId xmlns:a16="http://schemas.microsoft.com/office/drawing/2014/main" id="{B83F4A44-B0A3-5C0D-5B88-F9A07C8AD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535" y="2545740"/>
            <a:ext cx="6505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Novos</a:t>
            </a:r>
          </a:p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56" name="Text Box 29">
            <a:extLst>
              <a:ext uri="{FF2B5EF4-FFF2-40B4-BE49-F238E27FC236}">
                <a16:creationId xmlns:a16="http://schemas.microsoft.com/office/drawing/2014/main" id="{F8C0A46A-B5B1-C3EC-3332-98A1B4813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4496" y="3429001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2400" b="1" dirty="0">
                <a:solidFill>
                  <a:srgbClr val="00B050"/>
                </a:solidFill>
                <a:latin typeface="Calibri"/>
              </a:rPr>
              <a:t>√</a:t>
            </a:r>
            <a:endParaRPr lang="pt-PT" sz="2400" b="1" dirty="0">
              <a:solidFill>
                <a:srgbClr val="00B050"/>
              </a:solidFill>
            </a:endParaRPr>
          </a:p>
        </p:txBody>
      </p:sp>
      <p:sp>
        <p:nvSpPr>
          <p:cNvPr id="57" name="Line 31">
            <a:extLst>
              <a:ext uri="{FF2B5EF4-FFF2-40B4-BE49-F238E27FC236}">
                <a16:creationId xmlns:a16="http://schemas.microsoft.com/office/drawing/2014/main" id="{2B6F87E5-49DD-59E7-7801-339BDB7072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7398" y="3645024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64695BA4-B2BB-2A3D-715C-4E6EB740F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1" y="3284985"/>
            <a:ext cx="76495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Modelo</a:t>
            </a:r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AAA4715D-A574-6E0E-622D-E30EC344B233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561798" y="2843960"/>
            <a:ext cx="450000" cy="9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B92F4A4A-A680-00B0-8C4B-B0C7B2D8F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9" y="2132857"/>
            <a:ext cx="10197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Treino</a:t>
            </a:r>
          </a:p>
        </p:txBody>
      </p:sp>
    </p:spTree>
    <p:extLst>
      <p:ext uri="{BB962C8B-B14F-4D97-AF65-F5344CB8AC3E}">
        <p14:creationId xmlns:p14="http://schemas.microsoft.com/office/powerpoint/2010/main" val="1897189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be 3">
            <a:extLst>
              <a:ext uri="{FF2B5EF4-FFF2-40B4-BE49-F238E27FC236}">
                <a16:creationId xmlns:a16="http://schemas.microsoft.com/office/drawing/2014/main" id="{C10E5280-ED05-CC2D-B920-8A1677718BEF}"/>
              </a:ext>
            </a:extLst>
          </p:cNvPr>
          <p:cNvSpPr/>
          <p:nvPr/>
        </p:nvSpPr>
        <p:spPr bwMode="auto">
          <a:xfrm>
            <a:off x="2119902" y="2492897"/>
            <a:ext cx="576064" cy="504056"/>
          </a:xfrm>
          <a:prstGeom prst="cub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3E314FB0-B419-E1D3-B40C-CD7C3B02FDE1}"/>
              </a:ext>
            </a:extLst>
          </p:cNvPr>
          <p:cNvSpPr/>
          <p:nvPr/>
        </p:nvSpPr>
        <p:spPr bwMode="auto">
          <a:xfrm>
            <a:off x="4280142" y="3356993"/>
            <a:ext cx="576064" cy="5040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25" name="Can 39">
            <a:extLst>
              <a:ext uri="{FF2B5EF4-FFF2-40B4-BE49-F238E27FC236}">
                <a16:creationId xmlns:a16="http://schemas.microsoft.com/office/drawing/2014/main" id="{99BA0C8F-9524-6111-550C-75768D38E139}"/>
              </a:ext>
            </a:extLst>
          </p:cNvPr>
          <p:cNvSpPr/>
          <p:nvPr/>
        </p:nvSpPr>
        <p:spPr bwMode="auto">
          <a:xfrm>
            <a:off x="2119902" y="4293097"/>
            <a:ext cx="450000" cy="90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29" name="Can 40">
            <a:extLst>
              <a:ext uri="{FF2B5EF4-FFF2-40B4-BE49-F238E27FC236}">
                <a16:creationId xmlns:a16="http://schemas.microsoft.com/office/drawing/2014/main" id="{E1288199-A21B-83C3-D3F4-A232AEDD74C4}"/>
              </a:ext>
            </a:extLst>
          </p:cNvPr>
          <p:cNvSpPr>
            <a:spLocks noChangeAspect="1"/>
          </p:cNvSpPr>
          <p:nvPr/>
        </p:nvSpPr>
        <p:spPr bwMode="auto">
          <a:xfrm>
            <a:off x="3128014" y="3861049"/>
            <a:ext cx="225000" cy="45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31" name="Can 42">
            <a:extLst>
              <a:ext uri="{FF2B5EF4-FFF2-40B4-BE49-F238E27FC236}">
                <a16:creationId xmlns:a16="http://schemas.microsoft.com/office/drawing/2014/main" id="{7F720B6E-A228-8D56-7C6B-D110C549E3B5}"/>
              </a:ext>
            </a:extLst>
          </p:cNvPr>
          <p:cNvSpPr>
            <a:spLocks noChangeAspect="1"/>
          </p:cNvSpPr>
          <p:nvPr/>
        </p:nvSpPr>
        <p:spPr bwMode="auto">
          <a:xfrm>
            <a:off x="3128014" y="5384250"/>
            <a:ext cx="225000" cy="45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52464193-AE09-B4A7-2942-5F42E39E55EE}"/>
              </a:ext>
            </a:extLst>
          </p:cNvPr>
          <p:cNvSpPr/>
          <p:nvPr/>
        </p:nvSpPr>
        <p:spPr bwMode="auto">
          <a:xfrm>
            <a:off x="7448494" y="3356993"/>
            <a:ext cx="576064" cy="5040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2409168C-FBED-06FD-1D1D-8CB5C641CC1F}"/>
              </a:ext>
            </a:extLst>
          </p:cNvPr>
          <p:cNvSpPr/>
          <p:nvPr/>
        </p:nvSpPr>
        <p:spPr bwMode="auto">
          <a:xfrm>
            <a:off x="9032670" y="3356993"/>
            <a:ext cx="576064" cy="5040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34" name="Can 53">
            <a:extLst>
              <a:ext uri="{FF2B5EF4-FFF2-40B4-BE49-F238E27FC236}">
                <a16:creationId xmlns:a16="http://schemas.microsoft.com/office/drawing/2014/main" id="{C1B47498-69DC-A815-983C-7AAA78C5245E}"/>
              </a:ext>
            </a:extLst>
          </p:cNvPr>
          <p:cNvSpPr>
            <a:spLocks noChangeAspect="1"/>
          </p:cNvSpPr>
          <p:nvPr/>
        </p:nvSpPr>
        <p:spPr bwMode="auto">
          <a:xfrm>
            <a:off x="9207444" y="2564905"/>
            <a:ext cx="225000" cy="45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9941000" y="6276921"/>
            <a:ext cx="40315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sz="1200" dirty="0">
                <a:solidFill>
                  <a:srgbClr val="808080"/>
                </a:solidFill>
                <a:latin typeface="Humnst777 BT" pitchFamily="34" charset="0"/>
              </a:rPr>
              <a:t>20</a:t>
            </a:r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EB6B6BB2-6F69-BEBB-9BFD-CD4095E03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10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Visão Geral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A619511-069C-CE8C-A9E6-F5D138998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0" y="5157193"/>
            <a:ext cx="6511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7" name="Text Box 29">
            <a:extLst>
              <a:ext uri="{FF2B5EF4-FFF2-40B4-BE49-F238E27FC236}">
                <a16:creationId xmlns:a16="http://schemas.microsoft.com/office/drawing/2014/main" id="{0ECE434C-3A76-1B9A-2D21-109834274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822" y="4293097"/>
            <a:ext cx="572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</a:rPr>
              <a:t>treino</a:t>
            </a:r>
          </a:p>
        </p:txBody>
      </p:sp>
      <p:sp>
        <p:nvSpPr>
          <p:cNvPr id="10" name="Line 31">
            <a:extLst>
              <a:ext uri="{FF2B5EF4-FFF2-40B4-BE49-F238E27FC236}">
                <a16:creationId xmlns:a16="http://schemas.microsoft.com/office/drawing/2014/main" id="{13114C4A-E9F6-769B-4808-561F0D77E1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4830" y="4329120"/>
            <a:ext cx="360000" cy="18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D65E235C-FEBD-1232-1F7B-8FD15AE51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698" y="4149081"/>
            <a:ext cx="4363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dirty="0">
                <a:solidFill>
                  <a:srgbClr val="003E6C"/>
                </a:solidFill>
              </a:rPr>
              <a:t>3/4</a:t>
            </a:r>
          </a:p>
        </p:txBody>
      </p:sp>
      <p:sp>
        <p:nvSpPr>
          <p:cNvPr id="13" name="Line 31">
            <a:extLst>
              <a:ext uri="{FF2B5EF4-FFF2-40B4-BE49-F238E27FC236}">
                <a16:creationId xmlns:a16="http://schemas.microsoft.com/office/drawing/2014/main" id="{FA53B61B-5B40-629A-D00D-908ED88CF33C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814830" y="5139200"/>
            <a:ext cx="180000" cy="36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Box 26">
            <a:extLst>
              <a:ext uri="{FF2B5EF4-FFF2-40B4-BE49-F238E27FC236}">
                <a16:creationId xmlns:a16="http://schemas.microsoft.com/office/drawing/2014/main" id="{DA8E19DA-7D48-DED6-54F7-ECA920171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698" y="5013177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dirty="0">
                <a:solidFill>
                  <a:srgbClr val="003E6C"/>
                </a:solidFill>
              </a:rPr>
              <a:t>1/4</a:t>
            </a:r>
          </a:p>
        </p:txBody>
      </p:sp>
      <p:sp>
        <p:nvSpPr>
          <p:cNvPr id="15" name="Text Box 29">
            <a:extLst>
              <a:ext uri="{FF2B5EF4-FFF2-40B4-BE49-F238E27FC236}">
                <a16:creationId xmlns:a16="http://schemas.microsoft.com/office/drawing/2014/main" id="{6DC5D463-E163-2F45-3F76-9156FDE60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823" y="5816298"/>
            <a:ext cx="49981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</a:rPr>
              <a:t>teste</a:t>
            </a:r>
          </a:p>
        </p:txBody>
      </p:sp>
      <p:sp>
        <p:nvSpPr>
          <p:cNvPr id="16" name="Text Box 29">
            <a:extLst>
              <a:ext uri="{FF2B5EF4-FFF2-40B4-BE49-F238E27FC236}">
                <a16:creationId xmlns:a16="http://schemas.microsoft.com/office/drawing/2014/main" id="{AA057A22-F2CE-E2A7-232A-5DDB9335D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9" y="2132857"/>
            <a:ext cx="10197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Treino</a:t>
            </a:r>
          </a:p>
        </p:txBody>
      </p:sp>
      <p:sp>
        <p:nvSpPr>
          <p:cNvPr id="17" name="Text Box 29">
            <a:extLst>
              <a:ext uri="{FF2B5EF4-FFF2-40B4-BE49-F238E27FC236}">
                <a16:creationId xmlns:a16="http://schemas.microsoft.com/office/drawing/2014/main" id="{ABA72F21-AEAE-3591-5E3C-C499B85B9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3590" y="2132857"/>
            <a:ext cx="9342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Teste</a:t>
            </a:r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707763E0-71F9-25F8-D523-802FEBD035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720000" cy="36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6" name="Line 31">
            <a:extLst>
              <a:ext uri="{FF2B5EF4-FFF2-40B4-BE49-F238E27FC236}">
                <a16:creationId xmlns:a16="http://schemas.microsoft.com/office/drawing/2014/main" id="{5C5844A7-288D-F57D-C4C8-3257C51F59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3888000" cy="194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E17D6B00-FF38-0FC9-4434-E45F0FD415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3222" y="3645024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Box 29">
            <a:extLst>
              <a:ext uri="{FF2B5EF4-FFF2-40B4-BE49-F238E27FC236}">
                <a16:creationId xmlns:a16="http://schemas.microsoft.com/office/drawing/2014/main" id="{6DD38017-796C-6493-6A52-C622B99BC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320" y="3439759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2400" b="1" dirty="0">
                <a:solidFill>
                  <a:srgbClr val="00B050"/>
                </a:solidFill>
                <a:latin typeface="Calibri"/>
              </a:rPr>
              <a:t>√</a:t>
            </a:r>
            <a:endParaRPr lang="pt-PT" sz="2400" b="1" dirty="0">
              <a:solidFill>
                <a:srgbClr val="00B050"/>
              </a:solidFill>
            </a:endParaRPr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EA646E43-7F2C-47ED-75A2-280DA3A29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3079" y="2401144"/>
            <a:ext cx="8963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Avaliação</a:t>
            </a:r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62A5E17B-12B6-6AE5-8198-C704F1DB0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8" y="2420889"/>
            <a:ext cx="1228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Generalização</a:t>
            </a:r>
          </a:p>
        </p:txBody>
      </p:sp>
      <p:sp>
        <p:nvSpPr>
          <p:cNvPr id="8" name="Text Box 29">
            <a:extLst>
              <a:ext uri="{FF2B5EF4-FFF2-40B4-BE49-F238E27FC236}">
                <a16:creationId xmlns:a16="http://schemas.microsoft.com/office/drawing/2014/main" id="{CC2C16EB-A380-74AB-6859-6EE7531E1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9611" y="2113112"/>
            <a:ext cx="126771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Aplicação</a:t>
            </a:r>
          </a:p>
        </p:txBody>
      </p:sp>
      <p:sp>
        <p:nvSpPr>
          <p:cNvPr id="52" name="Line 31">
            <a:extLst>
              <a:ext uri="{FF2B5EF4-FFF2-40B4-BE49-F238E27FC236}">
                <a16:creationId xmlns:a16="http://schemas.microsoft.com/office/drawing/2014/main" id="{BF13A75D-FDE8-A64A-95D6-90041EECA0C0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6" y="3068960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53" name="Line 31">
            <a:extLst>
              <a:ext uri="{FF2B5EF4-FFF2-40B4-BE49-F238E27FC236}">
                <a16:creationId xmlns:a16="http://schemas.microsoft.com/office/drawing/2014/main" id="{56253411-EDAF-256B-0F23-4C0E55755090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7" y="3933056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54" name="Text Box 6">
            <a:extLst>
              <a:ext uri="{FF2B5EF4-FFF2-40B4-BE49-F238E27FC236}">
                <a16:creationId xmlns:a16="http://schemas.microsoft.com/office/drawing/2014/main" id="{691259C9-7F85-FE58-7AE4-A574D4FD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462" y="4201344"/>
            <a:ext cx="12648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Conhecimento</a:t>
            </a:r>
          </a:p>
        </p:txBody>
      </p:sp>
      <p:sp>
        <p:nvSpPr>
          <p:cNvPr id="55" name="Text Box 6">
            <a:extLst>
              <a:ext uri="{FF2B5EF4-FFF2-40B4-BE49-F238E27FC236}">
                <a16:creationId xmlns:a16="http://schemas.microsoft.com/office/drawing/2014/main" id="{B83F4A44-B0A3-5C0D-5B88-F9A07C8AD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535" y="2545740"/>
            <a:ext cx="6505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Novos</a:t>
            </a:r>
          </a:p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56" name="Text Box 29">
            <a:extLst>
              <a:ext uri="{FF2B5EF4-FFF2-40B4-BE49-F238E27FC236}">
                <a16:creationId xmlns:a16="http://schemas.microsoft.com/office/drawing/2014/main" id="{F8C0A46A-B5B1-C3EC-3332-98A1B4813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4496" y="3429001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2400" b="1" dirty="0">
                <a:solidFill>
                  <a:srgbClr val="00B050"/>
                </a:solidFill>
                <a:latin typeface="Calibri"/>
              </a:rPr>
              <a:t>√</a:t>
            </a:r>
            <a:endParaRPr lang="pt-PT" sz="2400" b="1" dirty="0">
              <a:solidFill>
                <a:srgbClr val="00B050"/>
              </a:solidFill>
            </a:endParaRPr>
          </a:p>
        </p:txBody>
      </p:sp>
      <p:sp>
        <p:nvSpPr>
          <p:cNvPr id="57" name="Line 31">
            <a:extLst>
              <a:ext uri="{FF2B5EF4-FFF2-40B4-BE49-F238E27FC236}">
                <a16:creationId xmlns:a16="http://schemas.microsoft.com/office/drawing/2014/main" id="{2B6F87E5-49DD-59E7-7801-339BDB7072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7398" y="3645024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Box 6">
            <a:extLst>
              <a:ext uri="{FF2B5EF4-FFF2-40B4-BE49-F238E27FC236}">
                <a16:creationId xmlns:a16="http://schemas.microsoft.com/office/drawing/2014/main" id="{D0A47A3A-CE2D-550C-3B05-B90C118A9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1" y="3284985"/>
            <a:ext cx="76495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Modelo</a:t>
            </a:r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E605F218-E992-B973-F010-51972182FE59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561798" y="2843960"/>
            <a:ext cx="450000" cy="9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0934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be 7">
            <a:extLst>
              <a:ext uri="{FF2B5EF4-FFF2-40B4-BE49-F238E27FC236}">
                <a16:creationId xmlns:a16="http://schemas.microsoft.com/office/drawing/2014/main" id="{A5BC395B-E5C4-BBBA-24C0-D423B4C4CE49}"/>
              </a:ext>
            </a:extLst>
          </p:cNvPr>
          <p:cNvSpPr/>
          <p:nvPr/>
        </p:nvSpPr>
        <p:spPr bwMode="auto">
          <a:xfrm>
            <a:off x="2119902" y="2492897"/>
            <a:ext cx="576064" cy="504056"/>
          </a:xfrm>
          <a:prstGeom prst="cub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83AF88CE-680D-7825-C17F-C6BBF45982C7}"/>
              </a:ext>
            </a:extLst>
          </p:cNvPr>
          <p:cNvSpPr/>
          <p:nvPr/>
        </p:nvSpPr>
        <p:spPr bwMode="auto">
          <a:xfrm>
            <a:off x="4280142" y="3356993"/>
            <a:ext cx="576064" cy="5040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39" name="Can 39">
            <a:extLst>
              <a:ext uri="{FF2B5EF4-FFF2-40B4-BE49-F238E27FC236}">
                <a16:creationId xmlns:a16="http://schemas.microsoft.com/office/drawing/2014/main" id="{3F723FB2-F26C-45FD-637D-24A861870746}"/>
              </a:ext>
            </a:extLst>
          </p:cNvPr>
          <p:cNvSpPr/>
          <p:nvPr/>
        </p:nvSpPr>
        <p:spPr bwMode="auto">
          <a:xfrm>
            <a:off x="2119902" y="4293097"/>
            <a:ext cx="450000" cy="90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51" name="Can 40">
            <a:extLst>
              <a:ext uri="{FF2B5EF4-FFF2-40B4-BE49-F238E27FC236}">
                <a16:creationId xmlns:a16="http://schemas.microsoft.com/office/drawing/2014/main" id="{5EE9E2E8-FA71-2E35-BE63-E18DA3F03A3C}"/>
              </a:ext>
            </a:extLst>
          </p:cNvPr>
          <p:cNvSpPr>
            <a:spLocks noChangeAspect="1"/>
          </p:cNvSpPr>
          <p:nvPr/>
        </p:nvSpPr>
        <p:spPr bwMode="auto">
          <a:xfrm>
            <a:off x="3128014" y="3861049"/>
            <a:ext cx="225000" cy="45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52" name="Can 42">
            <a:extLst>
              <a:ext uri="{FF2B5EF4-FFF2-40B4-BE49-F238E27FC236}">
                <a16:creationId xmlns:a16="http://schemas.microsoft.com/office/drawing/2014/main" id="{EC5828D2-E1F9-E32B-99FA-5D081C1DC67D}"/>
              </a:ext>
            </a:extLst>
          </p:cNvPr>
          <p:cNvSpPr>
            <a:spLocks noChangeAspect="1"/>
          </p:cNvSpPr>
          <p:nvPr/>
        </p:nvSpPr>
        <p:spPr bwMode="auto">
          <a:xfrm>
            <a:off x="3128014" y="5384250"/>
            <a:ext cx="225000" cy="45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53" name="Cube 52">
            <a:extLst>
              <a:ext uri="{FF2B5EF4-FFF2-40B4-BE49-F238E27FC236}">
                <a16:creationId xmlns:a16="http://schemas.microsoft.com/office/drawing/2014/main" id="{D67260BC-0EA0-95BC-FFBF-D60DE0B2FD8F}"/>
              </a:ext>
            </a:extLst>
          </p:cNvPr>
          <p:cNvSpPr/>
          <p:nvPr/>
        </p:nvSpPr>
        <p:spPr bwMode="auto">
          <a:xfrm>
            <a:off x="7448494" y="3356993"/>
            <a:ext cx="576064" cy="5040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54" name="Cube 53">
            <a:extLst>
              <a:ext uri="{FF2B5EF4-FFF2-40B4-BE49-F238E27FC236}">
                <a16:creationId xmlns:a16="http://schemas.microsoft.com/office/drawing/2014/main" id="{169653E7-7A12-8167-A406-BA40918A0CBA}"/>
              </a:ext>
            </a:extLst>
          </p:cNvPr>
          <p:cNvSpPr/>
          <p:nvPr/>
        </p:nvSpPr>
        <p:spPr bwMode="auto">
          <a:xfrm>
            <a:off x="9032670" y="3356993"/>
            <a:ext cx="576064" cy="5040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55" name="Can 53">
            <a:extLst>
              <a:ext uri="{FF2B5EF4-FFF2-40B4-BE49-F238E27FC236}">
                <a16:creationId xmlns:a16="http://schemas.microsoft.com/office/drawing/2014/main" id="{D4168E84-D4FB-043D-96F1-24273F32142D}"/>
              </a:ext>
            </a:extLst>
          </p:cNvPr>
          <p:cNvSpPr>
            <a:spLocks noChangeAspect="1"/>
          </p:cNvSpPr>
          <p:nvPr/>
        </p:nvSpPr>
        <p:spPr bwMode="auto">
          <a:xfrm>
            <a:off x="9207444" y="2564905"/>
            <a:ext cx="225000" cy="45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56" name="Can 64">
            <a:extLst>
              <a:ext uri="{FF2B5EF4-FFF2-40B4-BE49-F238E27FC236}">
                <a16:creationId xmlns:a16="http://schemas.microsoft.com/office/drawing/2014/main" id="{78D3C331-3C5C-CD84-2231-A3F46799C620}"/>
              </a:ext>
            </a:extLst>
          </p:cNvPr>
          <p:cNvSpPr>
            <a:spLocks noChangeAspect="1"/>
          </p:cNvSpPr>
          <p:nvPr/>
        </p:nvSpPr>
        <p:spPr bwMode="auto">
          <a:xfrm>
            <a:off x="3128014" y="4653137"/>
            <a:ext cx="225000" cy="4500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57" name="Cube 56">
            <a:extLst>
              <a:ext uri="{FF2B5EF4-FFF2-40B4-BE49-F238E27FC236}">
                <a16:creationId xmlns:a16="http://schemas.microsoft.com/office/drawing/2014/main" id="{D9F9AC5C-1F18-C5B5-AD54-3BD9702E9CE3}"/>
              </a:ext>
            </a:extLst>
          </p:cNvPr>
          <p:cNvSpPr/>
          <p:nvPr/>
        </p:nvSpPr>
        <p:spPr bwMode="auto">
          <a:xfrm>
            <a:off x="5864318" y="3356993"/>
            <a:ext cx="576064" cy="504056"/>
          </a:xfrm>
          <a:prstGeom prst="cub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sz="6000" b="0" i="0" u="none" strike="noStrike" cap="none" normalizeH="0" baseline="0">
              <a:ln>
                <a:noFill/>
              </a:ln>
              <a:solidFill>
                <a:srgbClr val="CC0000"/>
              </a:solidFill>
              <a:effectLst/>
              <a:latin typeface="Humanst521 BT" pitchFamily="34" charset="0"/>
            </a:endParaRPr>
          </a:p>
        </p:txBody>
      </p:sp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EB6B6BB2-6F69-BEBB-9BFD-CD4095E03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10"/>
            <a:ext cx="77057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Visão Geral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A619511-069C-CE8C-A9E6-F5D138998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0" y="5157193"/>
            <a:ext cx="65114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7" name="Text Box 29">
            <a:extLst>
              <a:ext uri="{FF2B5EF4-FFF2-40B4-BE49-F238E27FC236}">
                <a16:creationId xmlns:a16="http://schemas.microsoft.com/office/drawing/2014/main" id="{0ECE434C-3A76-1B9A-2D21-109834274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822" y="4293097"/>
            <a:ext cx="57246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</a:rPr>
              <a:t>treino</a:t>
            </a:r>
          </a:p>
        </p:txBody>
      </p:sp>
      <p:sp>
        <p:nvSpPr>
          <p:cNvPr id="10" name="Line 31">
            <a:extLst>
              <a:ext uri="{FF2B5EF4-FFF2-40B4-BE49-F238E27FC236}">
                <a16:creationId xmlns:a16="http://schemas.microsoft.com/office/drawing/2014/main" id="{13114C4A-E9F6-769B-4808-561F0D77E1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4830" y="4329120"/>
            <a:ext cx="360000" cy="18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Box 26">
            <a:extLst>
              <a:ext uri="{FF2B5EF4-FFF2-40B4-BE49-F238E27FC236}">
                <a16:creationId xmlns:a16="http://schemas.microsoft.com/office/drawing/2014/main" id="{D65E235C-FEBD-1232-1F7B-8FD15AE51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698" y="4149081"/>
            <a:ext cx="4363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dirty="0">
                <a:solidFill>
                  <a:srgbClr val="003E6C"/>
                </a:solidFill>
              </a:rPr>
              <a:t>2/4</a:t>
            </a:r>
          </a:p>
        </p:txBody>
      </p:sp>
      <p:sp>
        <p:nvSpPr>
          <p:cNvPr id="13" name="Line 31">
            <a:extLst>
              <a:ext uri="{FF2B5EF4-FFF2-40B4-BE49-F238E27FC236}">
                <a16:creationId xmlns:a16="http://schemas.microsoft.com/office/drawing/2014/main" id="{FA53B61B-5B40-629A-D00D-908ED88CF33C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2814830" y="5139200"/>
            <a:ext cx="180000" cy="36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Box 26">
            <a:extLst>
              <a:ext uri="{FF2B5EF4-FFF2-40B4-BE49-F238E27FC236}">
                <a16:creationId xmlns:a16="http://schemas.microsoft.com/office/drawing/2014/main" id="{DA8E19DA-7D48-DED6-54F7-ECA920171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1698" y="5013177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dirty="0">
                <a:solidFill>
                  <a:srgbClr val="003E6C"/>
                </a:solidFill>
              </a:rPr>
              <a:t>1/4</a:t>
            </a:r>
          </a:p>
        </p:txBody>
      </p:sp>
      <p:sp>
        <p:nvSpPr>
          <p:cNvPr id="15" name="Text Box 29">
            <a:extLst>
              <a:ext uri="{FF2B5EF4-FFF2-40B4-BE49-F238E27FC236}">
                <a16:creationId xmlns:a16="http://schemas.microsoft.com/office/drawing/2014/main" id="{6DC5D463-E163-2F45-3F76-9156FDE60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823" y="5816298"/>
            <a:ext cx="49981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</a:rPr>
              <a:t>teste</a:t>
            </a:r>
          </a:p>
        </p:txBody>
      </p:sp>
      <p:sp>
        <p:nvSpPr>
          <p:cNvPr id="16" name="Text Box 29">
            <a:extLst>
              <a:ext uri="{FF2B5EF4-FFF2-40B4-BE49-F238E27FC236}">
                <a16:creationId xmlns:a16="http://schemas.microsoft.com/office/drawing/2014/main" id="{AA057A22-F2CE-E2A7-232A-5DDB9335D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9" y="2132857"/>
            <a:ext cx="101970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Treino</a:t>
            </a:r>
          </a:p>
        </p:txBody>
      </p:sp>
      <p:sp>
        <p:nvSpPr>
          <p:cNvPr id="17" name="Text Box 29">
            <a:extLst>
              <a:ext uri="{FF2B5EF4-FFF2-40B4-BE49-F238E27FC236}">
                <a16:creationId xmlns:a16="http://schemas.microsoft.com/office/drawing/2014/main" id="{ABA72F21-AEAE-3591-5E3C-C499B85B9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3590" y="2132857"/>
            <a:ext cx="9342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Teste</a:t>
            </a:r>
          </a:p>
        </p:txBody>
      </p:sp>
      <p:sp>
        <p:nvSpPr>
          <p:cNvPr id="18" name="Text Box 29">
            <a:extLst>
              <a:ext uri="{FF2B5EF4-FFF2-40B4-BE49-F238E27FC236}">
                <a16:creationId xmlns:a16="http://schemas.microsoft.com/office/drawing/2014/main" id="{B41A5F79-8C90-9F58-62AB-A63B8D797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9611" y="2113112"/>
            <a:ext cx="126771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Aplicação</a:t>
            </a: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344AECC9-D6E1-CAD0-9B33-E727BD767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4711" y="3284985"/>
            <a:ext cx="76495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Modelo</a:t>
            </a:r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707763E0-71F9-25F8-D523-802FEBD035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720000" cy="36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B19F5C67-08C8-319F-4165-BC6D2A66B37A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3561798" y="2843960"/>
            <a:ext cx="450000" cy="90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6" name="Line 31">
            <a:extLst>
              <a:ext uri="{FF2B5EF4-FFF2-40B4-BE49-F238E27FC236}">
                <a16:creationId xmlns:a16="http://schemas.microsoft.com/office/drawing/2014/main" id="{5C5844A7-288D-F57D-C4C8-3257C51F59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3888000" cy="194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29" name="Line 31">
            <a:extLst>
              <a:ext uri="{FF2B5EF4-FFF2-40B4-BE49-F238E27FC236}">
                <a16:creationId xmlns:a16="http://schemas.microsoft.com/office/drawing/2014/main" id="{BDD0B19B-E52D-7B6D-089C-D0A79C122F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7038" y="3573016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E17D6B00-FF38-0FC9-4434-E45F0FD415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3222" y="3645024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2" name="Line 31">
            <a:extLst>
              <a:ext uri="{FF2B5EF4-FFF2-40B4-BE49-F238E27FC236}">
                <a16:creationId xmlns:a16="http://schemas.microsoft.com/office/drawing/2014/main" id="{E0FF1C8A-9FFF-6DDF-9688-C92C47BCF60C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6" y="3068960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F866C931-6E0D-F5B6-CDE2-5D11EA0D9527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9349527" y="3933056"/>
            <a:ext cx="0" cy="27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Box 6">
            <a:extLst>
              <a:ext uri="{FF2B5EF4-FFF2-40B4-BE49-F238E27FC236}">
                <a16:creationId xmlns:a16="http://schemas.microsoft.com/office/drawing/2014/main" id="{EFA1D60F-ACD2-6094-4E43-0C8DBD52E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3462" y="4201344"/>
            <a:ext cx="126489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Conhecimento</a:t>
            </a:r>
          </a:p>
        </p:txBody>
      </p:sp>
      <p:sp>
        <p:nvSpPr>
          <p:cNvPr id="35" name="Text Box 6">
            <a:extLst>
              <a:ext uri="{FF2B5EF4-FFF2-40B4-BE49-F238E27FC236}">
                <a16:creationId xmlns:a16="http://schemas.microsoft.com/office/drawing/2014/main" id="{EAB0F8CB-C056-2ED0-7E7F-2C564C484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1535" y="2545740"/>
            <a:ext cx="6505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Novos</a:t>
            </a:r>
          </a:p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dados</a:t>
            </a:r>
          </a:p>
        </p:txBody>
      </p:sp>
      <p:sp>
        <p:nvSpPr>
          <p:cNvPr id="36" name="Line 31">
            <a:extLst>
              <a:ext uri="{FF2B5EF4-FFF2-40B4-BE49-F238E27FC236}">
                <a16:creationId xmlns:a16="http://schemas.microsoft.com/office/drawing/2014/main" id="{CE70F70C-E00A-5EAE-8819-239A52BD7719}"/>
              </a:ext>
            </a:extLst>
          </p:cNvPr>
          <p:cNvSpPr>
            <a:spLocks noChangeShapeType="1"/>
          </p:cNvSpPr>
          <p:nvPr/>
        </p:nvSpPr>
        <p:spPr bwMode="auto">
          <a:xfrm rot="10800000" flipV="1">
            <a:off x="4957038" y="3717032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Box 29">
            <a:extLst>
              <a:ext uri="{FF2B5EF4-FFF2-40B4-BE49-F238E27FC236}">
                <a16:creationId xmlns:a16="http://schemas.microsoft.com/office/drawing/2014/main" id="{6DD38017-796C-6493-6A52-C622B99BC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0320" y="3439759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2400" b="1" dirty="0">
                <a:solidFill>
                  <a:srgbClr val="00B050"/>
                </a:solidFill>
                <a:latin typeface="Calibri"/>
              </a:rPr>
              <a:t>√</a:t>
            </a:r>
            <a:endParaRPr lang="pt-PT" sz="2400" b="1" dirty="0">
              <a:solidFill>
                <a:srgbClr val="00B050"/>
              </a:solidFill>
            </a:endParaRPr>
          </a:p>
        </p:txBody>
      </p:sp>
      <p:sp>
        <p:nvSpPr>
          <p:cNvPr id="38" name="Text Box 29">
            <a:extLst>
              <a:ext uri="{FF2B5EF4-FFF2-40B4-BE49-F238E27FC236}">
                <a16:creationId xmlns:a16="http://schemas.microsoft.com/office/drawing/2014/main" id="{7670ADD0-9CB7-3FE8-F83E-EA37F9D29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4496" y="3429001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2400" b="1" dirty="0">
                <a:solidFill>
                  <a:srgbClr val="00B050"/>
                </a:solidFill>
                <a:latin typeface="Calibri"/>
              </a:rPr>
              <a:t>√</a:t>
            </a:r>
            <a:endParaRPr lang="pt-PT" sz="2400" b="1" dirty="0">
              <a:solidFill>
                <a:srgbClr val="00B050"/>
              </a:solidFill>
            </a:endParaRPr>
          </a:p>
        </p:txBody>
      </p:sp>
      <p:sp>
        <p:nvSpPr>
          <p:cNvPr id="40" name="Text Box 29">
            <a:extLst>
              <a:ext uri="{FF2B5EF4-FFF2-40B4-BE49-F238E27FC236}">
                <a16:creationId xmlns:a16="http://schemas.microsoft.com/office/drawing/2014/main" id="{ACCB09BC-7D92-EF3D-62BA-F3F5C888E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802" y="2132857"/>
            <a:ext cx="12046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rgbClr val="003E6C"/>
                </a:solidFill>
              </a:rPr>
              <a:t>Fase Afinação</a:t>
            </a:r>
          </a:p>
        </p:txBody>
      </p:sp>
      <p:sp>
        <p:nvSpPr>
          <p:cNvPr id="41" name="Text Box 29">
            <a:extLst>
              <a:ext uri="{FF2B5EF4-FFF2-40B4-BE49-F238E27FC236}">
                <a16:creationId xmlns:a16="http://schemas.microsoft.com/office/drawing/2014/main" id="{FB0029D4-6753-F597-575A-41BD503F1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2822" y="5085185"/>
            <a:ext cx="78746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</a:rPr>
              <a:t>validação</a:t>
            </a:r>
          </a:p>
        </p:txBody>
      </p:sp>
      <p:sp>
        <p:nvSpPr>
          <p:cNvPr id="43" name="Line 31">
            <a:extLst>
              <a:ext uri="{FF2B5EF4-FFF2-40B4-BE49-F238E27FC236}">
                <a16:creationId xmlns:a16="http://schemas.microsoft.com/office/drawing/2014/main" id="{29DF4926-8DD5-2248-E3F7-C253B2F09D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24790" y="4869160"/>
            <a:ext cx="36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44" name="Text Box 26">
            <a:extLst>
              <a:ext uri="{FF2B5EF4-FFF2-40B4-BE49-F238E27FC236}">
                <a16:creationId xmlns:a16="http://schemas.microsoft.com/office/drawing/2014/main" id="{2714D106-CF56-EF1F-A6C1-35E87B99B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2782" y="4581129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dirty="0">
                <a:solidFill>
                  <a:srgbClr val="003E6C"/>
                </a:solidFill>
              </a:rPr>
              <a:t>1/4</a:t>
            </a:r>
          </a:p>
        </p:txBody>
      </p:sp>
      <p:sp>
        <p:nvSpPr>
          <p:cNvPr id="45" name="Line 31">
            <a:extLst>
              <a:ext uri="{FF2B5EF4-FFF2-40B4-BE49-F238E27FC236}">
                <a16:creationId xmlns:a16="http://schemas.microsoft.com/office/drawing/2014/main" id="{0378890F-E4D2-EB6D-BD05-9C2B7B13DA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16878" y="3789040"/>
            <a:ext cx="2304000" cy="115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48" name="Line 31">
            <a:extLst>
              <a:ext uri="{FF2B5EF4-FFF2-40B4-BE49-F238E27FC236}">
                <a16:creationId xmlns:a16="http://schemas.microsoft.com/office/drawing/2014/main" id="{DF5A9C51-BE11-D37F-5A92-448B1ACAEE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97398" y="3645024"/>
            <a:ext cx="7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pt-PT"/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EA646E43-7F2C-47ED-75A2-280DA3A29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3079" y="2401144"/>
            <a:ext cx="8963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Avaliação</a:t>
            </a:r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62A5E17B-12B6-6AE5-8198-C704F1DB0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8" y="2420889"/>
            <a:ext cx="1228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PT" sz="1400" b="1" dirty="0">
                <a:solidFill>
                  <a:schemeClr val="tx1"/>
                </a:solidFill>
              </a:rPr>
              <a:t>Generalização</a:t>
            </a:r>
          </a:p>
        </p:txBody>
      </p:sp>
    </p:spTree>
    <p:extLst>
      <p:ext uri="{BB962C8B-B14F-4D97-AF65-F5344CB8AC3E}">
        <p14:creationId xmlns:p14="http://schemas.microsoft.com/office/powerpoint/2010/main" val="2366604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3C2698-AF24-F13F-6CF7-F4A120122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599" y="3427057"/>
            <a:ext cx="3835512" cy="25202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13">
                <a:extLst>
                  <a:ext uri="{FF2B5EF4-FFF2-40B4-BE49-F238E27FC236}">
                    <a16:creationId xmlns:a16="http://schemas.microsoft.com/office/drawing/2014/main" id="{7A8DCAC9-AF69-736C-8F70-21E49E64DF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552" y="2077767"/>
                <a:ext cx="7920432" cy="18510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Root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Mean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Square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Error (RMSE) 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RMSE </a:t>
                </a:r>
                <a14:m>
                  <m:oMath xmlns:m="http://schemas.openxmlformats.org/officeDocument/2006/math">
                    <m:r>
                      <a:rPr lang="pt-PT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P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type m:val="lin"/>
                                <m:ctrlPr>
                                  <a:rPr lang="pt-PT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pt-PT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pt-PT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pt-PT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pt-PT" sz="20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  <m:r>
                                          <a:rPr lang="pt-PT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pt-PT" sz="20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pt-PT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pt-PT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nary>
                      </m:e>
                    </m:rad>
                  </m:oMath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Mean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Absoute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Error (MAE)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MAE </a:t>
                </a:r>
                <a14:m>
                  <m:oMath xmlns:m="http://schemas.openxmlformats.org/officeDocument/2006/math">
                    <m:r>
                      <a:rPr lang="pt-PT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pt-P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pt-P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P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P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lin"/>
                            <m:ctrlP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pt-PT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pt-PT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PT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pt-PT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PT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a:rPr lang="pt-PT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</p:txBody>
          </p:sp>
        </mc:Choice>
        <mc:Fallback>
          <p:sp>
            <p:nvSpPr>
              <p:cNvPr id="5" name="Text Box 13">
                <a:extLst>
                  <a:ext uri="{FF2B5EF4-FFF2-40B4-BE49-F238E27FC236}">
                    <a16:creationId xmlns:a16="http://schemas.microsoft.com/office/drawing/2014/main" id="{7A8DCAC9-AF69-736C-8F70-21E49E64D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552" y="2077767"/>
                <a:ext cx="7920432" cy="1851020"/>
              </a:xfrm>
              <a:prstGeom prst="rect">
                <a:avLst/>
              </a:prstGeom>
              <a:blipFill>
                <a:blip r:embed="rId4"/>
                <a:stretch>
                  <a:fillRect l="-847" t="-1980" b="-3927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EB6B6BB2-6F69-BEBB-9BFD-CD4095E03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09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Métricas: variável contínua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</p:spTree>
    <p:extLst>
      <p:ext uri="{BB962C8B-B14F-4D97-AF65-F5344CB8AC3E}">
        <p14:creationId xmlns:p14="http://schemas.microsoft.com/office/powerpoint/2010/main" val="3948756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32605-94AC-BBFC-F37C-DD21FD7F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13">
                <a:extLst>
                  <a:ext uri="{FF2B5EF4-FFF2-40B4-BE49-F238E27FC236}">
                    <a16:creationId xmlns:a16="http://schemas.microsoft.com/office/drawing/2014/main" id="{46868D6F-B08D-7533-CEBC-ECCA578D34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356" y="2132856"/>
                <a:ext cx="7920432" cy="40934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3600"/>
                  </a:spcBef>
                </a:pP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True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Positive Rate (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Sensitivity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)</a:t>
                </a:r>
                <a:endParaRPr lang="pt-P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</m:oMath>
                  </m:oMathPara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False Positive Rate (1 -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Specificity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)</a:t>
                </a:r>
                <a:endParaRPr lang="pt-P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FP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Trade-off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: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Sensitivity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vs.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Specificity</a:t>
                </a:r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</p:txBody>
          </p:sp>
        </mc:Choice>
        <mc:Fallback>
          <p:sp>
            <p:nvSpPr>
              <p:cNvPr id="5" name="Text Box 13">
                <a:extLst>
                  <a:ext uri="{FF2B5EF4-FFF2-40B4-BE49-F238E27FC236}">
                    <a16:creationId xmlns:a16="http://schemas.microsoft.com/office/drawing/2014/main" id="{46868D6F-B08D-7533-CEBC-ECCA578D3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356" y="2132856"/>
                <a:ext cx="7920432" cy="4093428"/>
              </a:xfrm>
              <a:prstGeom prst="rect">
                <a:avLst/>
              </a:prstGeom>
              <a:blipFill>
                <a:blip r:embed="rId3"/>
                <a:stretch>
                  <a:fillRect l="-769" b="-178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B3AE1A7-6723-5381-1882-0131FBE6F5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896" y="3612708"/>
            <a:ext cx="3977536" cy="2613576"/>
          </a:xfrm>
          <a:prstGeom prst="rect">
            <a:avLst/>
          </a:prstGeom>
        </p:spPr>
      </p:pic>
      <p:sp>
        <p:nvSpPr>
          <p:cNvPr id="17413" name="Text Box 39">
            <a:extLst>
              <a:ext uri="{FF2B5EF4-FFF2-40B4-BE49-F238E27FC236}">
                <a16:creationId xmlns:a16="http://schemas.microsoft.com/office/drawing/2014/main" id="{0D3327EF-CA35-1DDA-EEC9-6924252129F0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63F2FFE3-EE77-555E-8A5A-4E8D9F973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69EF34AA-DB97-02CB-8953-B98D6102F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57941C65-3071-D3B8-364E-6A9FCCEDF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09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Métricas: variável categórica (binária)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6382609D-70C7-56FA-2834-2F2350104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503DD20C-DD48-7651-5AF0-3F28A98C1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538847"/>
              </p:ext>
            </p:extLst>
          </p:nvPr>
        </p:nvGraphicFramePr>
        <p:xfrm>
          <a:off x="2044390" y="2132856"/>
          <a:ext cx="4032448" cy="1479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147059463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33317467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631507993"/>
                    </a:ext>
                  </a:extLst>
                </a:gridCol>
              </a:tblGrid>
              <a:tr h="369963">
                <a:tc>
                  <a:txBody>
                    <a:bodyPr/>
                    <a:lstStyle/>
                    <a:p>
                      <a:pPr algn="ctr"/>
                      <a:endParaRPr lang="pt-PT" sz="175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sz="1750" dirty="0"/>
                        <a:t>Real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871798"/>
                  </a:ext>
                </a:extLst>
              </a:tr>
              <a:tr h="369963"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 err="1">
                          <a:solidFill>
                            <a:schemeClr val="bg1"/>
                          </a:solidFill>
                        </a:rPr>
                        <a:t>Predicted</a:t>
                      </a:r>
                      <a:endParaRPr lang="pt-PT" sz="17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Positive (P.)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Negative (N.)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07646"/>
                  </a:ext>
                </a:extLst>
              </a:tr>
              <a:tr h="369963">
                <a:tc>
                  <a:txBody>
                    <a:bodyPr/>
                    <a:lstStyle/>
                    <a:p>
                      <a:pPr algn="l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 err="1"/>
                        <a:t>True</a:t>
                      </a:r>
                      <a:r>
                        <a:rPr lang="pt-PT" sz="1750" b="1" dirty="0"/>
                        <a:t> P.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dirty="0"/>
                        <a:t>False P.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96222"/>
                  </a:ext>
                </a:extLst>
              </a:tr>
              <a:tr h="369963">
                <a:tc>
                  <a:txBody>
                    <a:bodyPr/>
                    <a:lstStyle/>
                    <a:p>
                      <a:pPr algn="l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Negative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dirty="0"/>
                        <a:t>False N.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 err="1"/>
                        <a:t>True</a:t>
                      </a:r>
                      <a:r>
                        <a:rPr lang="pt-PT" sz="1750" b="1" dirty="0"/>
                        <a:t> N.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54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4111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13">
                <a:extLst>
                  <a:ext uri="{FF2B5EF4-FFF2-40B4-BE49-F238E27FC236}">
                    <a16:creationId xmlns:a16="http://schemas.microsoft.com/office/drawing/2014/main" id="{BC4AD219-9BC9-B2E2-D663-018CCF766C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356" y="2132856"/>
                <a:ext cx="7920432" cy="40934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1200"/>
                  </a:spcBef>
                </a:pPr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3600"/>
                  </a:spcBef>
                </a:pP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True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Positive Rate (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Sensitivity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)</a:t>
                </a:r>
                <a:endParaRPr lang="pt-P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</m:oMath>
                  </m:oMathPara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False Positive Rate (1 -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Specificity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)</a:t>
                </a:r>
                <a:endParaRPr lang="pt-P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just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FP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r>
                        <a:rPr lang="pt-PT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type m:val="lin"/>
                          <m:ctrlPr>
                            <a:rPr lang="pt-P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PT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Trade-off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: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Sensitivity</a:t>
                </a:r>
                <a:r>
                  <a:rPr lang="pt-PT" sz="2000" dirty="0">
                    <a:solidFill>
                      <a:schemeClr val="tx1"/>
                    </a:solidFill>
                    <a:latin typeface="Humnst777 BT"/>
                  </a:rPr>
                  <a:t> vs. </a:t>
                </a:r>
                <a:r>
                  <a:rPr lang="pt-PT" sz="2000" dirty="0" err="1">
                    <a:solidFill>
                      <a:schemeClr val="tx1"/>
                    </a:solidFill>
                    <a:latin typeface="Humnst777 BT"/>
                  </a:rPr>
                  <a:t>Specificity</a:t>
                </a:r>
                <a:endParaRPr lang="pt-PT" sz="2000" dirty="0">
                  <a:solidFill>
                    <a:schemeClr val="tx1"/>
                  </a:solidFill>
                  <a:latin typeface="Humnst777 BT"/>
                </a:endParaRPr>
              </a:p>
            </p:txBody>
          </p:sp>
        </mc:Choice>
        <mc:Fallback>
          <p:sp>
            <p:nvSpPr>
              <p:cNvPr id="2" name="Text Box 13">
                <a:extLst>
                  <a:ext uri="{FF2B5EF4-FFF2-40B4-BE49-F238E27FC236}">
                    <a16:creationId xmlns:a16="http://schemas.microsoft.com/office/drawing/2014/main" id="{BC4AD219-9BC9-B2E2-D663-018CCF766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3356" y="2132856"/>
                <a:ext cx="7920432" cy="4093428"/>
              </a:xfrm>
              <a:prstGeom prst="rect">
                <a:avLst/>
              </a:prstGeom>
              <a:blipFill>
                <a:blip r:embed="rId3"/>
                <a:stretch>
                  <a:fillRect l="-769" b="-178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AC8C31-3CF4-4782-15B7-E2F0C00A5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800416"/>
              </p:ext>
            </p:extLst>
          </p:nvPr>
        </p:nvGraphicFramePr>
        <p:xfrm>
          <a:off x="2044390" y="2132856"/>
          <a:ext cx="4032448" cy="1479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147059463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333174679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3631507993"/>
                    </a:ext>
                  </a:extLst>
                </a:gridCol>
              </a:tblGrid>
              <a:tr h="369963">
                <a:tc>
                  <a:txBody>
                    <a:bodyPr/>
                    <a:lstStyle/>
                    <a:p>
                      <a:pPr algn="ctr"/>
                      <a:endParaRPr lang="pt-PT" sz="1750" dirty="0"/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sz="1750" dirty="0"/>
                        <a:t>Real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871798"/>
                  </a:ext>
                </a:extLst>
              </a:tr>
              <a:tr h="369963"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 err="1">
                          <a:solidFill>
                            <a:schemeClr val="bg1"/>
                          </a:solidFill>
                        </a:rPr>
                        <a:t>Predicted</a:t>
                      </a:r>
                      <a:endParaRPr lang="pt-PT" sz="175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Positive (P.)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Negative (N.)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07646"/>
                  </a:ext>
                </a:extLst>
              </a:tr>
              <a:tr h="369963">
                <a:tc>
                  <a:txBody>
                    <a:bodyPr/>
                    <a:lstStyle/>
                    <a:p>
                      <a:pPr algn="l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Positive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 err="1"/>
                        <a:t>True</a:t>
                      </a:r>
                      <a:r>
                        <a:rPr lang="pt-PT" sz="1750" b="1" dirty="0"/>
                        <a:t> P.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dirty="0"/>
                        <a:t>False P.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496222"/>
                  </a:ext>
                </a:extLst>
              </a:tr>
              <a:tr h="369963">
                <a:tc>
                  <a:txBody>
                    <a:bodyPr/>
                    <a:lstStyle/>
                    <a:p>
                      <a:pPr algn="l"/>
                      <a:r>
                        <a:rPr lang="pt-PT" sz="1750" b="1" dirty="0">
                          <a:solidFill>
                            <a:schemeClr val="bg1"/>
                          </a:solidFill>
                        </a:rPr>
                        <a:t>Negative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3E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dirty="0"/>
                        <a:t>False N.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50" b="1" dirty="0" err="1"/>
                        <a:t>True</a:t>
                      </a:r>
                      <a:r>
                        <a:rPr lang="pt-PT" sz="1750" b="1" dirty="0"/>
                        <a:t> N.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54050"/>
                  </a:ext>
                </a:extLst>
              </a:tr>
            </a:tbl>
          </a:graphicData>
        </a:graphic>
      </p:graphicFrame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EA09A705-6330-F9C2-57C5-4CD7AE9A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Avaliação de modelos</a:t>
            </a:r>
          </a:p>
        </p:txBody>
      </p:sp>
      <p:pic>
        <p:nvPicPr>
          <p:cNvPr id="5" name="Picture 4" descr="A diagram of a positive curve&#10;&#10;Description automatically generated">
            <a:extLst>
              <a:ext uri="{FF2B5EF4-FFF2-40B4-BE49-F238E27FC236}">
                <a16:creationId xmlns:a16="http://schemas.microsoft.com/office/drawing/2014/main" id="{C191EC24-D923-7E50-72DA-9DDBB21851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265" y="2133600"/>
            <a:ext cx="3762523" cy="37625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6CCC12-43F8-75B8-22E5-C5576594F0F3}"/>
              </a:ext>
            </a:extLst>
          </p:cNvPr>
          <p:cNvSpPr/>
          <p:nvPr/>
        </p:nvSpPr>
        <p:spPr>
          <a:xfrm rot="-5400000">
            <a:off x="8293933" y="3845584"/>
            <a:ext cx="37625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600" dirty="0">
                <a:solidFill>
                  <a:schemeClr val="tx1"/>
                </a:solidFill>
              </a:rPr>
              <a:t>M. Thoma (2018)</a:t>
            </a:r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10" name="Text Box 376">
            <a:extLst>
              <a:ext uri="{FF2B5EF4-FFF2-40B4-BE49-F238E27FC236}">
                <a16:creationId xmlns:a16="http://schemas.microsoft.com/office/drawing/2014/main" id="{2E00BAB9-9D34-94B2-0F83-8484228B8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11709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chemeClr val="bg2"/>
                </a:solidFill>
                <a:latin typeface="Humnst777 BT" pitchFamily="34" charset="0"/>
              </a:rPr>
              <a:t> </a:t>
            </a:r>
            <a:r>
              <a:rPr lang="pt-PT" sz="2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Métricas: variável categórica (binária)</a:t>
            </a:r>
            <a:endParaRPr lang="pt-PT" sz="2800" b="1" i="1" dirty="0">
              <a:solidFill>
                <a:schemeClr val="bg1">
                  <a:lumMod val="50000"/>
                </a:schemeClr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1304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</p:spTree>
    <p:extLst>
      <p:ext uri="{BB962C8B-B14F-4D97-AF65-F5344CB8AC3E}">
        <p14:creationId xmlns:p14="http://schemas.microsoft.com/office/powerpoint/2010/main" val="22802859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Text Box 376"/>
          <p:cNvSpPr txBox="1">
            <a:spLocks noChangeArrowheads="1"/>
          </p:cNvSpPr>
          <p:nvPr/>
        </p:nvSpPr>
        <p:spPr bwMode="auto">
          <a:xfrm>
            <a:off x="2206626" y="151378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Gestão de </a:t>
            </a:r>
            <a:r>
              <a:rPr lang="pt-PT" sz="2800" dirty="0" err="1">
                <a:solidFill>
                  <a:srgbClr val="808080"/>
                </a:solidFill>
                <a:latin typeface="Humnst777 BT" pitchFamily="34" charset="0"/>
              </a:rPr>
              <a:t>projectos</a:t>
            </a:r>
            <a:endParaRPr lang="pt-PT" sz="2800" dirty="0">
              <a:solidFill>
                <a:srgbClr val="808080"/>
              </a:solidFill>
              <a:latin typeface="Humnst777 BT" pitchFamily="34" charset="0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064000" y="2160001"/>
            <a:ext cx="806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Estrutura de pastas;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Ficheiro README (e nomeação de ficheiros);</a:t>
            </a: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Controlo de versões (e.g. github.com, gitlab.com, git.ine.pt).</a:t>
            </a: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C816A0FC-9989-00D0-7D80-27C79185F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</p:spTree>
    <p:extLst>
      <p:ext uri="{BB962C8B-B14F-4D97-AF65-F5344CB8AC3E}">
        <p14:creationId xmlns:p14="http://schemas.microsoft.com/office/powerpoint/2010/main" val="31991261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901BB25-96F3-CABB-18F1-00A2CC1AC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716" y="2133600"/>
            <a:ext cx="6411220" cy="3991532"/>
          </a:xfrm>
          <a:prstGeom prst="rect">
            <a:avLst/>
          </a:prstGeom>
        </p:spPr>
      </p:pic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ext Box 376"/>
          <p:cNvSpPr txBox="1">
            <a:spLocks noChangeArrowheads="1"/>
          </p:cNvSpPr>
          <p:nvPr/>
        </p:nvSpPr>
        <p:spPr bwMode="auto">
          <a:xfrm>
            <a:off x="2206626" y="151378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Estrutura de pastas</a:t>
            </a:r>
            <a:endParaRPr lang="pt-PT" sz="2800" b="1" dirty="0">
              <a:solidFill>
                <a:srgbClr val="808080"/>
              </a:solidFill>
              <a:latin typeface="Humnst777 BT" pitchFamily="34" charset="0"/>
            </a:endParaRP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E4998D98-DF15-38AD-4EF0-54D13D814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</p:spTree>
    <p:extLst>
      <p:ext uri="{BB962C8B-B14F-4D97-AF65-F5344CB8AC3E}">
        <p14:creationId xmlns:p14="http://schemas.microsoft.com/office/powerpoint/2010/main" val="1330619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ext Box 376"/>
          <p:cNvSpPr txBox="1">
            <a:spLocks noChangeArrowheads="1"/>
          </p:cNvSpPr>
          <p:nvPr/>
        </p:nvSpPr>
        <p:spPr bwMode="auto">
          <a:xfrm>
            <a:off x="2206626" y="151932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Ficheiro README</a:t>
            </a:r>
            <a:endParaRPr lang="pt-PT" sz="2800" b="1" dirty="0">
              <a:solidFill>
                <a:srgbClr val="808080"/>
              </a:solidFill>
              <a:latin typeface="Humnst777 BT" pitchFamily="34" charset="0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064000" y="2138367"/>
            <a:ext cx="8064000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#autor:     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Joao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Sollari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Lopes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#local:      INE, Lisboa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#criado:     31.12.2025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#modificado: 29.02.2026</a:t>
            </a:r>
          </a:p>
          <a:p>
            <a:pPr algn="just">
              <a:spcBef>
                <a:spcPts val="0"/>
              </a:spcBef>
            </a:pP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+bin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|0.examples.r                         #exemplos para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recapitulacao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|0.install_packages.r                 #instalar pacotes 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necessarios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|1.transform.r                        #transformacao de dados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|2.exploration.r                      #exploração de dados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|3.modelling.r                        #modelacao de dados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docs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|DSR-II2026_program.pdf               #programa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|DSR-II2026_slides.pdf                #slides [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versao</a:t>
            </a: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final]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|DSR-II2026_slides_20260101.pptx      #slides [v2026-01-01]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|DSR-II2026_slides_20260229.pptx      #slides [v2026-02-29]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pt-PT" sz="12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results</a:t>
            </a:r>
            <a:endParaRPr lang="pt-PT" sz="12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+1.tranform                           #resultados de "1.transform.r"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+2.exploration                        #resultados de "2.exploration.r"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+3.modelling                          #resultados de "3.modelling.r"</a:t>
            </a:r>
          </a:p>
          <a:p>
            <a:pPr algn="just">
              <a:spcBef>
                <a:spcPts val="0"/>
              </a:spcBef>
            </a:pPr>
            <a:r>
              <a:rPr lang="pt-PT" sz="12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README.txt                              #Este ficheiro</a:t>
            </a: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3E1FEC60-8B5D-CCEB-E2A3-AB39693BB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</p:spTree>
    <p:extLst>
      <p:ext uri="{BB962C8B-B14F-4D97-AF65-F5344CB8AC3E}">
        <p14:creationId xmlns:p14="http://schemas.microsoft.com/office/powerpoint/2010/main" val="2717735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ext Box 376"/>
          <p:cNvSpPr txBox="1">
            <a:spLocks noChangeArrowheads="1"/>
          </p:cNvSpPr>
          <p:nvPr/>
        </p:nvSpPr>
        <p:spPr bwMode="auto">
          <a:xfrm>
            <a:off x="2206626" y="151932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Controlo de versões</a:t>
            </a:r>
            <a:endParaRPr lang="pt-PT" sz="2800" b="1" dirty="0">
              <a:solidFill>
                <a:srgbClr val="808080"/>
              </a:solidFill>
              <a:latin typeface="Humnst777 BT" pitchFamily="34" charset="0"/>
            </a:endParaRPr>
          </a:p>
        </p:txBody>
      </p:sp>
      <p:sp>
        <p:nvSpPr>
          <p:cNvPr id="2" name="Rectangle 38">
            <a:extLst>
              <a:ext uri="{FF2B5EF4-FFF2-40B4-BE49-F238E27FC236}">
                <a16:creationId xmlns:a16="http://schemas.microsoft.com/office/drawing/2014/main" id="{3E1FEC60-8B5D-CCEB-E2A3-AB39693BB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95963E0-5EC7-7BB5-A8A1-1F78FEF0D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625" y="2133600"/>
            <a:ext cx="7973538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029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rgbClr val="808080"/>
                </a:solidFill>
                <a:latin typeface="Humnst777 BT" pitchFamily="34" charset="0"/>
              </a:rPr>
              <a:t>Informações finais</a:t>
            </a:r>
          </a:p>
        </p:txBody>
      </p:sp>
      <p:sp>
        <p:nvSpPr>
          <p:cNvPr id="12" name="Text Box 376"/>
          <p:cNvSpPr txBox="1">
            <a:spLocks noChangeArrowheads="1"/>
          </p:cNvSpPr>
          <p:nvPr/>
        </p:nvSpPr>
        <p:spPr bwMode="auto">
          <a:xfrm>
            <a:off x="2206626" y="152068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Comunidade R</a:t>
            </a:r>
            <a:endParaRPr lang="pt-PT" sz="2800" b="1" dirty="0">
              <a:solidFill>
                <a:srgbClr val="808080"/>
              </a:solidFill>
              <a:latin typeface="Humnst777 BT" pitchFamily="34" charset="0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2064000" y="2160001"/>
            <a:ext cx="8064000" cy="363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2"/>
              </a:rPr>
              <a:t>https://www.r-project.org/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3"/>
              </a:rPr>
              <a:t> https://www.tidyverse.org/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4"/>
              </a:rPr>
              <a:t>https://www.tidymodels.org/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5"/>
              </a:rPr>
              <a:t>https://education.rstudio.com/learn/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</a:rPr>
              <a:t>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6"/>
              </a:rPr>
              <a:t>https://www.r-project.org/help.html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/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7"/>
              </a:rPr>
              <a:t> 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  <a:p>
            <a:pPr algn="just">
              <a:buFontTx/>
              <a:buChar char="-"/>
            </a:pP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8"/>
              </a:rPr>
              <a:t> </a:t>
            </a:r>
            <a:r>
              <a:rPr lang="pt-PT" sz="2000" dirty="0">
                <a:solidFill>
                  <a:schemeClr val="tx1"/>
                </a:solidFill>
                <a:latin typeface="Humnst777 BT" pitchFamily="34" charset="0"/>
                <a:hlinkClick r:id="rId9"/>
              </a:rPr>
              <a:t>https://hour.ine.pt/</a:t>
            </a:r>
            <a:endParaRPr lang="pt-PT" sz="2000" dirty="0">
              <a:solidFill>
                <a:schemeClr val="tx1"/>
              </a:solidFill>
              <a:latin typeface="Humnst777 BT" pitchFamily="34" charset="0"/>
            </a:endParaRPr>
          </a:p>
        </p:txBody>
      </p:sp>
      <p:pic>
        <p:nvPicPr>
          <p:cNvPr id="3" name="Picture 2" descr="A clock with a blue and black text&#10;&#10;Description automatically generated">
            <a:hlinkClick r:id="rId9"/>
            <a:extLst>
              <a:ext uri="{FF2B5EF4-FFF2-40B4-BE49-F238E27FC236}">
                <a16:creationId xmlns:a16="http://schemas.microsoft.com/office/drawing/2014/main" id="{FE0D96AC-6A67-A5F9-F83D-6DF55E8DF49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817" y="5157192"/>
            <a:ext cx="941163" cy="92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2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Text Box 39"/>
          <p:cNvSpPr txBox="1">
            <a:spLocks noChangeArrowheads="1"/>
          </p:cNvSpPr>
          <p:nvPr/>
        </p:nvSpPr>
        <p:spPr bwMode="auto">
          <a:xfrm rot="5400000" flipV="1">
            <a:off x="9299576" y="946151"/>
            <a:ext cx="5048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CC301F"/>
                </a:solidFill>
              </a:rPr>
              <a:t>«</a:t>
            </a:r>
          </a:p>
        </p:txBody>
      </p:sp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524001" y="-507831"/>
            <a:ext cx="18473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4295776" y="404814"/>
            <a:ext cx="604837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spcBef>
                <a:spcPct val="0"/>
              </a:spcBef>
            </a:pPr>
            <a:r>
              <a:rPr lang="pt-PT" sz="3800" dirty="0">
                <a:solidFill>
                  <a:schemeClr val="bg1">
                    <a:lumMod val="50000"/>
                  </a:schemeClr>
                </a:solidFill>
                <a:latin typeface="Humnst777 BT" pitchFamily="34" charset="0"/>
              </a:rPr>
              <a:t>Informações finais</a:t>
            </a:r>
          </a:p>
        </p:txBody>
      </p:sp>
      <p:sp>
        <p:nvSpPr>
          <p:cNvPr id="13" name="Text Box 376"/>
          <p:cNvSpPr txBox="1">
            <a:spLocks noChangeArrowheads="1"/>
          </p:cNvSpPr>
          <p:nvPr/>
        </p:nvSpPr>
        <p:spPr bwMode="auto">
          <a:xfrm>
            <a:off x="2064000" y="2132856"/>
            <a:ext cx="8064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rgbClr val="CC301F"/>
                </a:solidFill>
                <a:latin typeface="Humnst777 BT"/>
              </a:rPr>
              <a:t>»</a:t>
            </a:r>
            <a:r>
              <a:rPr lang="pt-PT" sz="1800" dirty="0">
                <a:solidFill>
                  <a:schemeClr val="tx1"/>
                </a:solidFill>
                <a:latin typeface="Humnst777 BT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Humnst777 BT"/>
              </a:rPr>
              <a:t>Wickham H &amp; </a:t>
            </a:r>
            <a:r>
              <a:rPr lang="en-US" sz="1800" dirty="0" err="1">
                <a:solidFill>
                  <a:schemeClr val="tx1"/>
                </a:solidFill>
                <a:latin typeface="Humnst777 BT"/>
              </a:rPr>
              <a:t>Grolemund</a:t>
            </a:r>
            <a:r>
              <a:rPr lang="en-US" sz="1800" dirty="0">
                <a:solidFill>
                  <a:schemeClr val="tx1"/>
                </a:solidFill>
                <a:latin typeface="Humnst777 BT"/>
              </a:rPr>
              <a:t> G (2017) R for Data Science. </a:t>
            </a:r>
            <a:r>
              <a:rPr lang="pt-PT" sz="1800" dirty="0">
                <a:solidFill>
                  <a:schemeClr val="tx1"/>
                </a:solidFill>
              </a:rPr>
              <a:t>O’Reilly Media Inc., </a:t>
            </a:r>
            <a:r>
              <a:rPr lang="pt-PT" sz="1800" dirty="0" err="1">
                <a:solidFill>
                  <a:schemeClr val="tx1"/>
                </a:solidFill>
              </a:rPr>
              <a:t>Sevastopol</a:t>
            </a:r>
            <a:r>
              <a:rPr lang="pt-PT" sz="1800" dirty="0">
                <a:solidFill>
                  <a:schemeClr val="tx1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chemeClr val="tx1"/>
                </a:solidFill>
              </a:rPr>
              <a:t>URL:</a:t>
            </a:r>
            <a:r>
              <a:rPr lang="pt-PT" sz="1800" dirty="0">
                <a:solidFill>
                  <a:srgbClr val="002060"/>
                </a:solidFill>
              </a:rPr>
              <a:t> </a:t>
            </a:r>
            <a:r>
              <a:rPr lang="pt-PT" sz="1800" dirty="0">
                <a:solidFill>
                  <a:srgbClr val="002060"/>
                </a:solidFill>
                <a:hlinkClick r:id="rId2"/>
              </a:rPr>
              <a:t>https://r4ds.had.co.nz/</a:t>
            </a:r>
            <a:endParaRPr lang="pt-PT" sz="1800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pt-PT" sz="1800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rgbClr val="CC301F"/>
                </a:solidFill>
                <a:latin typeface="Humnst777 BT"/>
              </a:rPr>
              <a:t>»</a:t>
            </a:r>
            <a:r>
              <a:rPr lang="pt-PT" sz="1800" dirty="0">
                <a:solidFill>
                  <a:schemeClr val="tx1"/>
                </a:solidFill>
                <a:latin typeface="Humnst777 BT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Humnst777 BT"/>
              </a:rPr>
              <a:t>Wickham H, </a:t>
            </a:r>
            <a:r>
              <a:rPr lang="nl-NL" sz="1800" dirty="0">
                <a:solidFill>
                  <a:schemeClr val="tx1"/>
                </a:solidFill>
              </a:rPr>
              <a:t>Çetinkaya-Rundel M</a:t>
            </a:r>
            <a:r>
              <a:rPr lang="en-US" sz="1800" dirty="0">
                <a:solidFill>
                  <a:schemeClr val="tx1"/>
                </a:solidFill>
                <a:latin typeface="Humnst777 BT"/>
              </a:rPr>
              <a:t> &amp; </a:t>
            </a:r>
            <a:r>
              <a:rPr lang="en-US" sz="1800" dirty="0" err="1">
                <a:solidFill>
                  <a:schemeClr val="tx1"/>
                </a:solidFill>
                <a:latin typeface="Humnst777 BT"/>
              </a:rPr>
              <a:t>Grolemund</a:t>
            </a:r>
            <a:r>
              <a:rPr lang="en-US" sz="1800" dirty="0">
                <a:solidFill>
                  <a:schemeClr val="tx1"/>
                </a:solidFill>
                <a:latin typeface="Humnst777 BT"/>
              </a:rPr>
              <a:t> G (2023) R for Data Science. </a:t>
            </a:r>
            <a:r>
              <a:rPr lang="pt-PT" sz="1800" dirty="0">
                <a:solidFill>
                  <a:schemeClr val="tx1"/>
                </a:solidFill>
              </a:rPr>
              <a:t>O’Reilly Media Inc., </a:t>
            </a:r>
            <a:r>
              <a:rPr lang="pt-PT" sz="1800" dirty="0" err="1">
                <a:solidFill>
                  <a:schemeClr val="tx1"/>
                </a:solidFill>
              </a:rPr>
              <a:t>Sevastopol</a:t>
            </a:r>
            <a:r>
              <a:rPr lang="pt-PT" sz="1800" dirty="0">
                <a:solidFill>
                  <a:schemeClr val="tx1"/>
                </a:solidFill>
              </a:rPr>
              <a:t>. O’Reilly Media Inc., </a:t>
            </a:r>
            <a:r>
              <a:rPr lang="pt-PT" sz="1800" dirty="0" err="1">
                <a:solidFill>
                  <a:schemeClr val="tx1"/>
                </a:solidFill>
              </a:rPr>
              <a:t>Sevastopol</a:t>
            </a:r>
            <a:r>
              <a:rPr lang="pt-PT" sz="1800" dirty="0">
                <a:solidFill>
                  <a:schemeClr val="tx1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pt-PT" sz="1800" dirty="0">
                <a:solidFill>
                  <a:schemeClr val="tx1"/>
                </a:solidFill>
              </a:rPr>
              <a:t>URL: </a:t>
            </a:r>
            <a:r>
              <a:rPr lang="pt-PT" sz="1800" dirty="0">
                <a:solidFill>
                  <a:srgbClr val="002060"/>
                </a:solidFill>
                <a:hlinkClick r:id="rId3"/>
              </a:rPr>
              <a:t>https://r4ds.hadley.nz/</a:t>
            </a:r>
            <a:endParaRPr lang="pt-PT" sz="1800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spcAft>
                <a:spcPts val="1800"/>
              </a:spcAft>
            </a:pPr>
            <a:endParaRPr lang="en-US" sz="1800" dirty="0">
              <a:solidFill>
                <a:srgbClr val="002060"/>
              </a:solidFill>
              <a:latin typeface="Humnst777 BT"/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2063552" y="1506793"/>
            <a:ext cx="0" cy="45144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Box 376">
            <a:extLst>
              <a:ext uri="{FF2B5EF4-FFF2-40B4-BE49-F238E27FC236}">
                <a16:creationId xmlns:a16="http://schemas.microsoft.com/office/drawing/2014/main" id="{6EB0C4CC-07A0-8173-2EF9-6B7EE194A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26" y="1520687"/>
            <a:ext cx="7705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PT" sz="2800" b="1" dirty="0">
                <a:solidFill>
                  <a:srgbClr val="CC301F"/>
                </a:solidFill>
              </a:rPr>
              <a:t>»</a:t>
            </a:r>
            <a:r>
              <a:rPr lang="pt-PT" sz="2800" dirty="0">
                <a:solidFill>
                  <a:srgbClr val="808080"/>
                </a:solidFill>
                <a:latin typeface="Humnst777 BT" pitchFamily="34" charset="0"/>
              </a:rPr>
              <a:t> Bibliografia</a:t>
            </a:r>
            <a:endParaRPr lang="pt-PT" sz="2800" b="1" dirty="0">
              <a:solidFill>
                <a:srgbClr val="808080"/>
              </a:solidFill>
              <a:latin typeface="Humnst777 B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1871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6000" b="0" i="0" u="none" strike="noStrike" cap="none" normalizeH="0" baseline="0" smtClean="0">
            <a:ln>
              <a:noFill/>
            </a:ln>
            <a:solidFill>
              <a:srgbClr val="CC0000"/>
            </a:solidFill>
            <a:effectLst/>
            <a:latin typeface="Humanst521 BT" pitchFamily="34" charset="0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arrow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74432</TotalTime>
  <Words>2814</Words>
  <Application>Microsoft Office PowerPoint</Application>
  <PresentationFormat>Widescreen</PresentationFormat>
  <Paragraphs>538</Paragraphs>
  <Slides>45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Century Gothic</vt:lpstr>
      <vt:lpstr>Courier New</vt:lpstr>
      <vt:lpstr>Humanst521 BT</vt:lpstr>
      <vt:lpstr>Humnst777 BT</vt:lpstr>
      <vt:lpstr>Wingdings</vt:lpstr>
      <vt:lpstr>Default Design</vt:lpstr>
      <vt:lpstr>Custom Design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DPHCN</dc:creator>
  <cp:lastModifiedBy>João Lopes</cp:lastModifiedBy>
  <cp:revision>2958</cp:revision>
  <cp:lastPrinted>2026-02-25T18:09:40Z</cp:lastPrinted>
  <dcterms:created xsi:type="dcterms:W3CDTF">2004-01-14T16:14:16Z</dcterms:created>
  <dcterms:modified xsi:type="dcterms:W3CDTF">2026-03-16T18:27:58Z</dcterms:modified>
</cp:coreProperties>
</file>