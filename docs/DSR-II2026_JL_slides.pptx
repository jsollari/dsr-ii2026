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648" r:id="rId1"/>
    <p:sldMasterId id="2147483657" r:id="rId2"/>
    <p:sldMasterId id="2147483661" r:id="rId3"/>
  </p:sldMasterIdLst>
  <p:notesMasterIdLst>
    <p:notesMasterId r:id="rId49"/>
  </p:notesMasterIdLst>
  <p:handoutMasterIdLst>
    <p:handoutMasterId r:id="rId50"/>
  </p:handoutMasterIdLst>
  <p:sldIdLst>
    <p:sldId id="803" r:id="rId4"/>
    <p:sldId id="1387" r:id="rId5"/>
    <p:sldId id="1382" r:id="rId6"/>
    <p:sldId id="1332" r:id="rId7"/>
    <p:sldId id="1375" r:id="rId8"/>
    <p:sldId id="1384" r:id="rId9"/>
    <p:sldId id="1366" r:id="rId10"/>
    <p:sldId id="1094" r:id="rId11"/>
    <p:sldId id="1364" r:id="rId12"/>
    <p:sldId id="1369" r:id="rId13"/>
    <p:sldId id="1365" r:id="rId14"/>
    <p:sldId id="1385" r:id="rId15"/>
    <p:sldId id="1128" r:id="rId16"/>
    <p:sldId id="1076" r:id="rId17"/>
    <p:sldId id="1363" r:id="rId18"/>
    <p:sldId id="1367" r:id="rId19"/>
    <p:sldId id="1386" r:id="rId20"/>
    <p:sldId id="1271" r:id="rId21"/>
    <p:sldId id="1390" r:id="rId22"/>
    <p:sldId id="1389" r:id="rId23"/>
    <p:sldId id="1388" r:id="rId24"/>
    <p:sldId id="1391" r:id="rId25"/>
    <p:sldId id="1392" r:id="rId26"/>
    <p:sldId id="1393" r:id="rId27"/>
    <p:sldId id="1394" r:id="rId28"/>
    <p:sldId id="1395" r:id="rId29"/>
    <p:sldId id="1398" r:id="rId30"/>
    <p:sldId id="1399" r:id="rId31"/>
    <p:sldId id="1402" r:id="rId32"/>
    <p:sldId id="1400" r:id="rId33"/>
    <p:sldId id="1401" r:id="rId34"/>
    <p:sldId id="1403" r:id="rId35"/>
    <p:sldId id="1376" r:id="rId36"/>
    <p:sldId id="1379" r:id="rId37"/>
    <p:sldId id="1377" r:id="rId38"/>
    <p:sldId id="1380" r:id="rId39"/>
    <p:sldId id="1397" r:id="rId40"/>
    <p:sldId id="1378" r:id="rId41"/>
    <p:sldId id="1357" r:id="rId42"/>
    <p:sldId id="1327" r:id="rId43"/>
    <p:sldId id="1329" r:id="rId44"/>
    <p:sldId id="1328" r:id="rId45"/>
    <p:sldId id="1396" r:id="rId46"/>
    <p:sldId id="1383" r:id="rId47"/>
    <p:sldId id="1067" r:id="rId48"/>
  </p:sldIdLst>
  <p:sldSz cx="12192000" cy="6858000"/>
  <p:notesSz cx="6669088" cy="9926638"/>
  <p:defaultTextStyle>
    <a:defPPr>
      <a:defRPr lang="pt-PT"/>
    </a:defPPr>
    <a:lvl1pPr algn="l" rtl="0" fontAlgn="base">
      <a:spcBef>
        <a:spcPct val="50000"/>
      </a:spcBef>
      <a:spcAft>
        <a:spcPct val="0"/>
      </a:spcAft>
      <a:defRPr sz="6000" kern="1200">
        <a:solidFill>
          <a:srgbClr val="CC0000"/>
        </a:solidFill>
        <a:latin typeface="Humanst521 BT" pitchFamily="34" charset="0"/>
        <a:ea typeface="+mn-ea"/>
        <a:cs typeface="+mn-cs"/>
      </a:defRPr>
    </a:lvl1pPr>
    <a:lvl2pPr marL="457200" algn="l" rtl="0" fontAlgn="base">
      <a:spcBef>
        <a:spcPct val="50000"/>
      </a:spcBef>
      <a:spcAft>
        <a:spcPct val="0"/>
      </a:spcAft>
      <a:defRPr sz="6000" kern="1200">
        <a:solidFill>
          <a:srgbClr val="CC0000"/>
        </a:solidFill>
        <a:latin typeface="Humanst521 BT" pitchFamily="34" charset="0"/>
        <a:ea typeface="+mn-ea"/>
        <a:cs typeface="+mn-cs"/>
      </a:defRPr>
    </a:lvl2pPr>
    <a:lvl3pPr marL="914400" algn="l" rtl="0" fontAlgn="base">
      <a:spcBef>
        <a:spcPct val="50000"/>
      </a:spcBef>
      <a:spcAft>
        <a:spcPct val="0"/>
      </a:spcAft>
      <a:defRPr sz="6000" kern="1200">
        <a:solidFill>
          <a:srgbClr val="CC0000"/>
        </a:solidFill>
        <a:latin typeface="Humanst521 BT" pitchFamily="34" charset="0"/>
        <a:ea typeface="+mn-ea"/>
        <a:cs typeface="+mn-cs"/>
      </a:defRPr>
    </a:lvl3pPr>
    <a:lvl4pPr marL="1371600" algn="l" rtl="0" fontAlgn="base">
      <a:spcBef>
        <a:spcPct val="50000"/>
      </a:spcBef>
      <a:spcAft>
        <a:spcPct val="0"/>
      </a:spcAft>
      <a:defRPr sz="6000" kern="1200">
        <a:solidFill>
          <a:srgbClr val="CC0000"/>
        </a:solidFill>
        <a:latin typeface="Humanst521 BT" pitchFamily="34" charset="0"/>
        <a:ea typeface="+mn-ea"/>
        <a:cs typeface="+mn-cs"/>
      </a:defRPr>
    </a:lvl4pPr>
    <a:lvl5pPr marL="1828800" algn="l" rtl="0" fontAlgn="base">
      <a:spcBef>
        <a:spcPct val="50000"/>
      </a:spcBef>
      <a:spcAft>
        <a:spcPct val="0"/>
      </a:spcAft>
      <a:defRPr sz="6000" kern="1200">
        <a:solidFill>
          <a:srgbClr val="CC0000"/>
        </a:solidFill>
        <a:latin typeface="Humanst521 BT" pitchFamily="34" charset="0"/>
        <a:ea typeface="+mn-ea"/>
        <a:cs typeface="+mn-cs"/>
      </a:defRPr>
    </a:lvl5pPr>
    <a:lvl6pPr marL="2286000" algn="l" defTabSz="914400" rtl="0" eaLnBrk="1" latinLnBrk="0" hangingPunct="1">
      <a:defRPr sz="6000" kern="1200">
        <a:solidFill>
          <a:srgbClr val="CC0000"/>
        </a:solidFill>
        <a:latin typeface="Humanst521 BT" pitchFamily="34" charset="0"/>
        <a:ea typeface="+mn-ea"/>
        <a:cs typeface="+mn-cs"/>
      </a:defRPr>
    </a:lvl6pPr>
    <a:lvl7pPr marL="2743200" algn="l" defTabSz="914400" rtl="0" eaLnBrk="1" latinLnBrk="0" hangingPunct="1">
      <a:defRPr sz="6000" kern="1200">
        <a:solidFill>
          <a:srgbClr val="CC0000"/>
        </a:solidFill>
        <a:latin typeface="Humanst521 BT" pitchFamily="34" charset="0"/>
        <a:ea typeface="+mn-ea"/>
        <a:cs typeface="+mn-cs"/>
      </a:defRPr>
    </a:lvl7pPr>
    <a:lvl8pPr marL="3200400" algn="l" defTabSz="914400" rtl="0" eaLnBrk="1" latinLnBrk="0" hangingPunct="1">
      <a:defRPr sz="6000" kern="1200">
        <a:solidFill>
          <a:srgbClr val="CC0000"/>
        </a:solidFill>
        <a:latin typeface="Humanst521 BT" pitchFamily="34" charset="0"/>
        <a:ea typeface="+mn-ea"/>
        <a:cs typeface="+mn-cs"/>
      </a:defRPr>
    </a:lvl8pPr>
    <a:lvl9pPr marL="3657600" algn="l" defTabSz="914400" rtl="0" eaLnBrk="1" latinLnBrk="0" hangingPunct="1">
      <a:defRPr sz="6000" kern="1200">
        <a:solidFill>
          <a:srgbClr val="CC0000"/>
        </a:solidFill>
        <a:latin typeface="Humanst521 BT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981" userDrawn="1">
          <p15:clr>
            <a:srgbClr val="A4A3A4"/>
          </p15:clr>
        </p15:guide>
        <p15:guide id="2" pos="6289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7" userDrawn="1">
          <p15:clr>
            <a:srgbClr val="A4A3A4"/>
          </p15:clr>
        </p15:guide>
        <p15:guide id="2" pos="2101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3E6C"/>
    <a:srgbClr val="FFFFCC"/>
    <a:srgbClr val="B7ECFF"/>
    <a:srgbClr val="BDFBC3"/>
    <a:srgbClr val="CCCC00"/>
    <a:srgbClr val="EDDDA1"/>
    <a:srgbClr val="BDBB5F"/>
    <a:srgbClr val="E5B9BD"/>
    <a:srgbClr val="CC301F"/>
    <a:srgbClr val="FF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3691" autoAdjust="0"/>
  </p:normalViewPr>
  <p:slideViewPr>
    <p:cSldViewPr>
      <p:cViewPr varScale="1">
        <p:scale>
          <a:sx n="100" d="100"/>
          <a:sy n="100" d="100"/>
        </p:scale>
        <p:origin x="912" y="84"/>
      </p:cViewPr>
      <p:guideLst>
        <p:guide orient="horz" pos="981"/>
        <p:guide pos="6289"/>
      </p:guideLst>
    </p:cSldViewPr>
  </p:slideViewPr>
  <p:outlineViewPr>
    <p:cViewPr>
      <p:scale>
        <a:sx n="33" d="100"/>
        <a:sy n="33" d="100"/>
      </p:scale>
      <p:origin x="0" y="1236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55" d="100"/>
          <a:sy n="55" d="100"/>
        </p:scale>
        <p:origin x="-2190" y="-90"/>
      </p:cViewPr>
      <p:guideLst>
        <p:guide orient="horz" pos="3127"/>
        <p:guide pos="2101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9" Type="http://schemas.openxmlformats.org/officeDocument/2006/relationships/slide" Target="slides/slide36.xml"/><Relationship Id="rId21" Type="http://schemas.openxmlformats.org/officeDocument/2006/relationships/slide" Target="slides/slide18.xml"/><Relationship Id="rId34" Type="http://schemas.openxmlformats.org/officeDocument/2006/relationships/slide" Target="slides/slide31.xml"/><Relationship Id="rId42" Type="http://schemas.openxmlformats.org/officeDocument/2006/relationships/slide" Target="slides/slide39.xml"/><Relationship Id="rId47" Type="http://schemas.openxmlformats.org/officeDocument/2006/relationships/slide" Target="slides/slide44.xml"/><Relationship Id="rId50" Type="http://schemas.openxmlformats.org/officeDocument/2006/relationships/handoutMaster" Target="handoutMasters/handoutMaster1.xml"/><Relationship Id="rId7" Type="http://schemas.openxmlformats.org/officeDocument/2006/relationships/slide" Target="slides/slide4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9" Type="http://schemas.openxmlformats.org/officeDocument/2006/relationships/slide" Target="slides/slide26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slide" Target="slides/slide37.xml"/><Relationship Id="rId45" Type="http://schemas.openxmlformats.org/officeDocument/2006/relationships/slide" Target="slides/slide42.xml"/><Relationship Id="rId53" Type="http://schemas.openxmlformats.org/officeDocument/2006/relationships/theme" Target="theme/theme1.xml"/><Relationship Id="rId5" Type="http://schemas.openxmlformats.org/officeDocument/2006/relationships/slide" Target="slides/slide2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slide" Target="slides/slide28.xml"/><Relationship Id="rId44" Type="http://schemas.openxmlformats.org/officeDocument/2006/relationships/slide" Target="slides/slide41.xml"/><Relationship Id="rId52" Type="http://schemas.openxmlformats.org/officeDocument/2006/relationships/viewProps" Target="viewProp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slide" Target="slides/slide40.xml"/><Relationship Id="rId48" Type="http://schemas.openxmlformats.org/officeDocument/2006/relationships/slide" Target="slides/slide45.xml"/><Relationship Id="rId8" Type="http://schemas.openxmlformats.org/officeDocument/2006/relationships/slide" Target="slides/slide5.xml"/><Relationship Id="rId51" Type="http://schemas.openxmlformats.org/officeDocument/2006/relationships/presProps" Target="presProps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slide" Target="slides/slide43.xml"/><Relationship Id="rId20" Type="http://schemas.openxmlformats.org/officeDocument/2006/relationships/slide" Target="slides/slide17.xml"/><Relationship Id="rId41" Type="http://schemas.openxmlformats.org/officeDocument/2006/relationships/slide" Target="slides/slide38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49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1" y="0"/>
            <a:ext cx="2889938" cy="496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245" tIns="45122" rIns="90245" bIns="45122" numCol="1" anchor="t" anchorCtr="0" compatLnSpc="1">
            <a:prstTxWarp prst="textNoShape">
              <a:avLst/>
            </a:prstTxWarp>
          </a:bodyPr>
          <a:lstStyle>
            <a:lvl1pPr>
              <a:spcBef>
                <a:spcPct val="0"/>
              </a:spcBef>
              <a:defRPr sz="1200">
                <a:solidFill>
                  <a:schemeClr val="tx1"/>
                </a:solidFill>
                <a:latin typeface="Arial" charset="0"/>
              </a:defRPr>
            </a:lvl1pPr>
          </a:lstStyle>
          <a:p>
            <a:pPr>
              <a:defRPr/>
            </a:pPr>
            <a:endParaRPr lang="pt-PT"/>
          </a:p>
        </p:txBody>
      </p:sp>
      <p:sp>
        <p:nvSpPr>
          <p:cNvPr id="19459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777607" y="0"/>
            <a:ext cx="2889938" cy="496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245" tIns="45122" rIns="90245" bIns="45122" numCol="1" anchor="t" anchorCtr="0" compatLnSpc="1">
            <a:prstTxWarp prst="textNoShape">
              <a:avLst/>
            </a:prstTxWarp>
          </a:bodyPr>
          <a:lstStyle>
            <a:lvl1pPr algn="r">
              <a:spcBef>
                <a:spcPct val="0"/>
              </a:spcBef>
              <a:defRPr sz="1200">
                <a:solidFill>
                  <a:schemeClr val="tx1"/>
                </a:solidFill>
                <a:latin typeface="Arial" charset="0"/>
              </a:defRPr>
            </a:lvl1pPr>
          </a:lstStyle>
          <a:p>
            <a:pPr>
              <a:defRPr/>
            </a:pPr>
            <a:endParaRPr lang="pt-PT"/>
          </a:p>
        </p:txBody>
      </p:sp>
      <p:sp>
        <p:nvSpPr>
          <p:cNvPr id="19460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1" y="9428091"/>
            <a:ext cx="2889938" cy="496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245" tIns="45122" rIns="90245" bIns="45122" numCol="1" anchor="b" anchorCtr="0" compatLnSpc="1">
            <a:prstTxWarp prst="textNoShape">
              <a:avLst/>
            </a:prstTxWarp>
          </a:bodyPr>
          <a:lstStyle>
            <a:lvl1pPr>
              <a:spcBef>
                <a:spcPct val="0"/>
              </a:spcBef>
              <a:defRPr sz="1200">
                <a:solidFill>
                  <a:schemeClr val="tx1"/>
                </a:solidFill>
                <a:latin typeface="Arial" charset="0"/>
              </a:defRPr>
            </a:lvl1pPr>
          </a:lstStyle>
          <a:p>
            <a:pPr>
              <a:defRPr/>
            </a:pPr>
            <a:endParaRPr lang="pt-PT"/>
          </a:p>
        </p:txBody>
      </p:sp>
      <p:sp>
        <p:nvSpPr>
          <p:cNvPr id="19461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777607" y="9428091"/>
            <a:ext cx="2889938" cy="496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245" tIns="45122" rIns="90245" bIns="45122" numCol="1" anchor="b" anchorCtr="0" compatLnSpc="1">
            <a:prstTxWarp prst="textNoShape">
              <a:avLst/>
            </a:prstTxWarp>
          </a:bodyPr>
          <a:lstStyle>
            <a:lvl1pPr algn="r">
              <a:spcBef>
                <a:spcPct val="0"/>
              </a:spcBef>
              <a:defRPr sz="1200">
                <a:solidFill>
                  <a:schemeClr val="tx1"/>
                </a:solidFill>
                <a:latin typeface="Arial" charset="0"/>
              </a:defRPr>
            </a:lvl1pPr>
          </a:lstStyle>
          <a:p>
            <a:pPr>
              <a:defRPr/>
            </a:pPr>
            <a:fld id="{786E3228-BDA5-4C88-B65C-28A18C301E9B}" type="slidenum">
              <a:rPr lang="pt-PT"/>
              <a:pPr>
                <a:defRPr/>
              </a:pPr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874418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1" y="0"/>
            <a:ext cx="2889938" cy="496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245" tIns="45122" rIns="90245" bIns="45122" numCol="1" anchor="t" anchorCtr="0" compatLnSpc="1">
            <a:prstTxWarp prst="textNoShape">
              <a:avLst/>
            </a:prstTxWarp>
          </a:bodyPr>
          <a:lstStyle>
            <a:lvl1pPr>
              <a:spcBef>
                <a:spcPct val="0"/>
              </a:spcBef>
              <a:defRPr sz="1200">
                <a:solidFill>
                  <a:schemeClr val="tx1"/>
                </a:solidFill>
                <a:latin typeface="Arial" charset="0"/>
              </a:defRPr>
            </a:lvl1pPr>
          </a:lstStyle>
          <a:p>
            <a:pPr>
              <a:defRPr/>
            </a:pPr>
            <a:endParaRPr lang="pt-PT"/>
          </a:p>
        </p:txBody>
      </p:sp>
      <p:sp>
        <p:nvSpPr>
          <p:cNvPr id="1331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777607" y="0"/>
            <a:ext cx="2889938" cy="496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245" tIns="45122" rIns="90245" bIns="45122" numCol="1" anchor="t" anchorCtr="0" compatLnSpc="1">
            <a:prstTxWarp prst="textNoShape">
              <a:avLst/>
            </a:prstTxWarp>
          </a:bodyPr>
          <a:lstStyle>
            <a:lvl1pPr algn="r">
              <a:spcBef>
                <a:spcPct val="0"/>
              </a:spcBef>
              <a:defRPr sz="1200">
                <a:solidFill>
                  <a:schemeClr val="tx1"/>
                </a:solidFill>
                <a:latin typeface="Arial" charset="0"/>
              </a:defRPr>
            </a:lvl1pPr>
          </a:lstStyle>
          <a:p>
            <a:pPr>
              <a:defRPr/>
            </a:pPr>
            <a:endParaRPr lang="pt-PT"/>
          </a:p>
        </p:txBody>
      </p:sp>
      <p:sp>
        <p:nvSpPr>
          <p:cNvPr id="24580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25400" y="742950"/>
            <a:ext cx="6618288" cy="3724275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331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66909" y="4714837"/>
            <a:ext cx="5335270" cy="446793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245" tIns="45122" rIns="90245" bIns="45122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PT" noProof="0"/>
              <a:t>Click to edit Master text styles</a:t>
            </a:r>
          </a:p>
          <a:p>
            <a:pPr lvl="1"/>
            <a:r>
              <a:rPr lang="pt-PT" noProof="0"/>
              <a:t>Second level</a:t>
            </a:r>
          </a:p>
          <a:p>
            <a:pPr lvl="2"/>
            <a:r>
              <a:rPr lang="pt-PT" noProof="0"/>
              <a:t>Third level</a:t>
            </a:r>
          </a:p>
          <a:p>
            <a:pPr lvl="3"/>
            <a:r>
              <a:rPr lang="pt-PT" noProof="0"/>
              <a:t>Fourth level</a:t>
            </a:r>
          </a:p>
          <a:p>
            <a:pPr lvl="4"/>
            <a:r>
              <a:rPr lang="pt-PT" noProof="0"/>
              <a:t>Fifth level</a:t>
            </a:r>
          </a:p>
        </p:txBody>
      </p:sp>
      <p:sp>
        <p:nvSpPr>
          <p:cNvPr id="1331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1" y="9428091"/>
            <a:ext cx="2889938" cy="496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245" tIns="45122" rIns="90245" bIns="45122" numCol="1" anchor="b" anchorCtr="0" compatLnSpc="1">
            <a:prstTxWarp prst="textNoShape">
              <a:avLst/>
            </a:prstTxWarp>
          </a:bodyPr>
          <a:lstStyle>
            <a:lvl1pPr>
              <a:spcBef>
                <a:spcPct val="0"/>
              </a:spcBef>
              <a:defRPr sz="1200">
                <a:solidFill>
                  <a:schemeClr val="tx1"/>
                </a:solidFill>
                <a:latin typeface="Arial" charset="0"/>
              </a:defRPr>
            </a:lvl1pPr>
          </a:lstStyle>
          <a:p>
            <a:pPr>
              <a:defRPr/>
            </a:pPr>
            <a:endParaRPr lang="pt-PT"/>
          </a:p>
        </p:txBody>
      </p:sp>
      <p:sp>
        <p:nvSpPr>
          <p:cNvPr id="1331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777607" y="9428091"/>
            <a:ext cx="2889938" cy="496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245" tIns="45122" rIns="90245" bIns="45122" numCol="1" anchor="b" anchorCtr="0" compatLnSpc="1">
            <a:prstTxWarp prst="textNoShape">
              <a:avLst/>
            </a:prstTxWarp>
          </a:bodyPr>
          <a:lstStyle>
            <a:lvl1pPr algn="r">
              <a:spcBef>
                <a:spcPct val="0"/>
              </a:spcBef>
              <a:defRPr sz="1200">
                <a:solidFill>
                  <a:schemeClr val="tx1"/>
                </a:solidFill>
                <a:latin typeface="Arial" charset="0"/>
              </a:defRPr>
            </a:lvl1pPr>
          </a:lstStyle>
          <a:p>
            <a:pPr>
              <a:defRPr/>
            </a:pPr>
            <a:fld id="{5705EB50-1723-4F02-82E6-3547F8722922}" type="slidenum">
              <a:rPr lang="pt-PT"/>
              <a:pPr>
                <a:defRPr/>
              </a:pPr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893644301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908BD25-CBF9-4615-A160-A69E56E69E3E}" type="slidenum">
              <a:rPr lang="pt-PT" smtClean="0"/>
              <a:pPr/>
              <a:t>0</a:t>
            </a:fld>
            <a:endParaRPr lang="pt-PT"/>
          </a:p>
        </p:txBody>
      </p:sp>
      <p:sp>
        <p:nvSpPr>
          <p:cNvPr id="256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5400" y="742950"/>
            <a:ext cx="6618288" cy="3724275"/>
          </a:xfrm>
          <a:ln/>
        </p:spPr>
      </p:sp>
      <p:sp>
        <p:nvSpPr>
          <p:cNvPr id="256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908BD25-CBF9-4615-A160-A69E56E69E3E}" type="slidenum">
              <a:rPr lang="pt-PT" smtClean="0"/>
              <a:pPr/>
              <a:t>1</a:t>
            </a:fld>
            <a:endParaRPr lang="pt-PT"/>
          </a:p>
        </p:txBody>
      </p:sp>
      <p:sp>
        <p:nvSpPr>
          <p:cNvPr id="256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5400" y="742950"/>
            <a:ext cx="6618288" cy="3724275"/>
          </a:xfrm>
          <a:ln/>
        </p:spPr>
      </p:sp>
      <p:sp>
        <p:nvSpPr>
          <p:cNvPr id="256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70803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908BD25-CBF9-4615-A160-A69E56E69E3E}" type="slidenum">
              <a:rPr lang="pt-PT" smtClean="0"/>
              <a:pPr/>
              <a:t>2</a:t>
            </a:fld>
            <a:endParaRPr lang="pt-PT"/>
          </a:p>
        </p:txBody>
      </p:sp>
      <p:sp>
        <p:nvSpPr>
          <p:cNvPr id="256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5400" y="742950"/>
            <a:ext cx="6618288" cy="3724275"/>
          </a:xfrm>
          <a:ln/>
        </p:spPr>
      </p:sp>
      <p:sp>
        <p:nvSpPr>
          <p:cNvPr id="256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482113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908BD25-CBF9-4615-A160-A69E56E69E3E}" type="slidenum">
              <a:rPr lang="pt-PT" smtClean="0"/>
              <a:pPr/>
              <a:t>3</a:t>
            </a:fld>
            <a:endParaRPr lang="pt-PT"/>
          </a:p>
        </p:txBody>
      </p:sp>
      <p:sp>
        <p:nvSpPr>
          <p:cNvPr id="256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5400" y="742950"/>
            <a:ext cx="6618288" cy="3724275"/>
          </a:xfrm>
          <a:ln/>
        </p:spPr>
      </p:sp>
      <p:sp>
        <p:nvSpPr>
          <p:cNvPr id="256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908BD25-CBF9-4615-A160-A69E56E69E3E}" type="slidenum">
              <a:rPr lang="pt-PT" smtClean="0"/>
              <a:pPr/>
              <a:t>5</a:t>
            </a:fld>
            <a:endParaRPr lang="pt-PT"/>
          </a:p>
        </p:txBody>
      </p:sp>
      <p:sp>
        <p:nvSpPr>
          <p:cNvPr id="256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5400" y="742950"/>
            <a:ext cx="6618288" cy="3724275"/>
          </a:xfrm>
          <a:ln/>
        </p:spPr>
      </p:sp>
      <p:sp>
        <p:nvSpPr>
          <p:cNvPr id="256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222754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908BD25-CBF9-4615-A160-A69E56E69E3E}" type="slidenum">
              <a:rPr lang="pt-PT" smtClean="0"/>
              <a:pPr/>
              <a:t>6</a:t>
            </a:fld>
            <a:endParaRPr lang="pt-PT"/>
          </a:p>
        </p:txBody>
      </p:sp>
      <p:sp>
        <p:nvSpPr>
          <p:cNvPr id="256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5400" y="742950"/>
            <a:ext cx="6618288" cy="3724275"/>
          </a:xfrm>
          <a:ln/>
        </p:spPr>
      </p:sp>
      <p:sp>
        <p:nvSpPr>
          <p:cNvPr id="256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166422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908BD25-CBF9-4615-A160-A69E56E69E3E}" type="slidenum">
              <a:rPr lang="pt-PT" smtClean="0"/>
              <a:pPr/>
              <a:t>10</a:t>
            </a:fld>
            <a:endParaRPr lang="pt-PT"/>
          </a:p>
        </p:txBody>
      </p:sp>
      <p:sp>
        <p:nvSpPr>
          <p:cNvPr id="256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5400" y="742950"/>
            <a:ext cx="6618288" cy="3724275"/>
          </a:xfrm>
          <a:ln/>
        </p:spPr>
      </p:sp>
      <p:sp>
        <p:nvSpPr>
          <p:cNvPr id="256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072656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908BD25-CBF9-4615-A160-A69E56E69E3E}" type="slidenum">
              <a:rPr lang="pt-PT" smtClean="0"/>
              <a:pPr/>
              <a:t>11</a:t>
            </a:fld>
            <a:endParaRPr lang="pt-PT"/>
          </a:p>
        </p:txBody>
      </p:sp>
      <p:sp>
        <p:nvSpPr>
          <p:cNvPr id="256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5400" y="742950"/>
            <a:ext cx="6618288" cy="3724275"/>
          </a:xfrm>
          <a:ln/>
        </p:spPr>
      </p:sp>
      <p:sp>
        <p:nvSpPr>
          <p:cNvPr id="256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437224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908BD25-CBF9-4615-A160-A69E56E69E3E}" type="slidenum">
              <a:rPr lang="pt-PT" smtClean="0"/>
              <a:pPr/>
              <a:t>15</a:t>
            </a:fld>
            <a:endParaRPr lang="pt-PT"/>
          </a:p>
        </p:txBody>
      </p:sp>
      <p:sp>
        <p:nvSpPr>
          <p:cNvPr id="256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5400" y="742950"/>
            <a:ext cx="6618288" cy="3724275"/>
          </a:xfrm>
          <a:ln/>
        </p:spPr>
      </p:sp>
      <p:sp>
        <p:nvSpPr>
          <p:cNvPr id="256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646467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908BD25-CBF9-4615-A160-A69E56E69E3E}" type="slidenum">
              <a:rPr lang="pt-PT" smtClean="0"/>
              <a:pPr/>
              <a:t>16</a:t>
            </a:fld>
            <a:endParaRPr lang="pt-PT"/>
          </a:p>
        </p:txBody>
      </p:sp>
      <p:sp>
        <p:nvSpPr>
          <p:cNvPr id="256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5400" y="742950"/>
            <a:ext cx="6618288" cy="3724275"/>
          </a:xfrm>
          <a:ln/>
        </p:spPr>
      </p:sp>
      <p:sp>
        <p:nvSpPr>
          <p:cNvPr id="256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284047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705EB50-1723-4F02-82E6-3547F8722922}" type="slidenum">
              <a:rPr lang="pt-PT" smtClean="0"/>
              <a:pPr>
                <a:defRPr/>
              </a:pPr>
              <a:t>17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34639968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400" y="742950"/>
            <a:ext cx="6618288" cy="3724275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705EB50-1723-4F02-82E6-3547F8722922}" type="slidenum">
              <a:rPr lang="pt-PT" smtClean="0"/>
              <a:pPr>
                <a:defRPr/>
              </a:pPr>
              <a:t>19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18068520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400" y="742950"/>
            <a:ext cx="6618288" cy="3724275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705EB50-1723-4F02-82E6-3547F8722922}" type="slidenum">
              <a:rPr lang="pt-PT" smtClean="0"/>
              <a:pPr>
                <a:defRPr/>
              </a:pPr>
              <a:t>21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563613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400" y="742950"/>
            <a:ext cx="6618288" cy="3724275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705EB50-1723-4F02-82E6-3547F8722922}" type="slidenum">
              <a:rPr lang="pt-PT" smtClean="0"/>
              <a:pPr>
                <a:defRPr/>
              </a:pPr>
              <a:t>23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96821339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400" y="742950"/>
            <a:ext cx="6618288" cy="3724275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705EB50-1723-4F02-82E6-3547F8722922}" type="slidenum">
              <a:rPr lang="pt-PT" smtClean="0"/>
              <a:pPr>
                <a:defRPr/>
              </a:pPr>
              <a:t>25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62641120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CD2EC3-C4BB-6881-5507-E42B6B136F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78663B-3325-6106-CACC-985D4EFC68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400" y="742950"/>
            <a:ext cx="6618288" cy="3724275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DDE0070-8B3B-D76E-4A3A-2BEFF32814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C78710-CCCE-0E12-419C-DAC1CE9E06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705EB50-1723-4F02-82E6-3547F8722922}" type="slidenum">
              <a:rPr lang="pt-PT" smtClean="0"/>
              <a:pPr>
                <a:defRPr/>
              </a:pPr>
              <a:t>27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05871543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254CCD-C91D-8BF7-190B-D3CB3C688B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D6C360-C074-A2AB-8D37-C020B85BDF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400" y="742950"/>
            <a:ext cx="6618288" cy="3724275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87DC93-9629-F02F-47A7-11333C123D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AED727-B2F8-128D-209F-8E88817D4F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705EB50-1723-4F02-82E6-3547F8722922}" type="slidenum">
              <a:rPr lang="pt-PT" smtClean="0"/>
              <a:pPr>
                <a:defRPr/>
              </a:pPr>
              <a:t>28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16190044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E3FECE-412F-3B5F-FFD8-13E949BF0D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4AFC8E-C1DB-4081-3E60-298F67705B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400" y="742950"/>
            <a:ext cx="6618288" cy="3724275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9E89A6E-0204-8BE2-C807-33474B9EAA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A43B54-FE54-3046-3423-85E0CB5D72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705EB50-1723-4F02-82E6-3547F8722922}" type="slidenum">
              <a:rPr lang="pt-PT" smtClean="0"/>
              <a:pPr>
                <a:defRPr/>
              </a:pPr>
              <a:t>30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0968040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291BEF-C169-94BB-AADD-4A6C5F7F86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451805-41EC-A753-0175-27ED4B5D14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400" y="742950"/>
            <a:ext cx="6618288" cy="3724275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CEDF2F-45B2-6E2D-C0B3-6FC5E58379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2AB4CB-061C-7A59-5544-8D30750F1E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705EB50-1723-4F02-82E6-3547F8722922}" type="slidenum">
              <a:rPr lang="pt-PT" smtClean="0"/>
              <a:pPr>
                <a:defRPr/>
              </a:pPr>
              <a:t>31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49881173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400" y="742950"/>
            <a:ext cx="6618288" cy="3724275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705EB50-1723-4F02-82E6-3547F8722922}" type="slidenum">
              <a:rPr lang="pt-PT" smtClean="0"/>
              <a:pPr>
                <a:defRPr/>
              </a:pPr>
              <a:t>35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75146881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1D4345-8F17-3B73-3016-AB1DAD854C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1882E8-DED9-989B-6517-7206095AFF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400" y="742950"/>
            <a:ext cx="6618288" cy="3724275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9F1BC6-7CF6-519B-9867-1753588E29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C99E6D-D4BE-DFF0-0F19-EC2859E12A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705EB50-1723-4F02-82E6-3547F8722922}" type="slidenum">
              <a:rPr lang="pt-PT" smtClean="0"/>
              <a:pPr>
                <a:defRPr/>
              </a:pPr>
              <a:t>36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22065752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400" y="742950"/>
            <a:ext cx="6618288" cy="3724275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705EB50-1723-4F02-82E6-3547F8722922}" type="slidenum">
              <a:rPr lang="pt-PT" smtClean="0"/>
              <a:pPr>
                <a:defRPr/>
              </a:pPr>
              <a:t>37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0742955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Box 13"/>
          <p:cNvSpPr txBox="1">
            <a:spLocks noChangeArrowheads="1"/>
          </p:cNvSpPr>
          <p:nvPr userDrawn="1"/>
        </p:nvSpPr>
        <p:spPr bwMode="auto">
          <a:xfrm>
            <a:off x="11100392" y="6163979"/>
            <a:ext cx="960000" cy="5040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ctr">
            <a:noAutofit/>
          </a:bodyPr>
          <a:lstStyle/>
          <a:p>
            <a:pPr algn="l"/>
            <a:r>
              <a:rPr lang="pt-PT" sz="1200" dirty="0">
                <a:solidFill>
                  <a:schemeClr val="bg2"/>
                </a:solidFill>
                <a:latin typeface="Humnst777 BT" pitchFamily="34" charset="0"/>
              </a:rPr>
              <a:t>       /28</a:t>
            </a:r>
          </a:p>
        </p:txBody>
      </p:sp>
      <p:sp>
        <p:nvSpPr>
          <p:cNvPr id="11" name="Text Box 13"/>
          <p:cNvSpPr txBox="1">
            <a:spLocks noChangeArrowheads="1"/>
          </p:cNvSpPr>
          <p:nvPr userDrawn="1"/>
        </p:nvSpPr>
        <p:spPr bwMode="auto">
          <a:xfrm>
            <a:off x="5039883" y="6164408"/>
            <a:ext cx="3744000" cy="504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ctr">
            <a:noAutofit/>
          </a:bodyPr>
          <a:lstStyle/>
          <a:p>
            <a:pPr algn="ctr"/>
            <a:r>
              <a:rPr lang="pt-PT" sz="1200" dirty="0">
                <a:solidFill>
                  <a:schemeClr val="bg2"/>
                </a:solidFill>
                <a:latin typeface="Humnst777 BT" pitchFamily="34" charset="0"/>
              </a:rPr>
              <a:t>Data </a:t>
            </a:r>
            <a:r>
              <a:rPr lang="pt-PT" sz="1200" dirty="0" err="1">
                <a:solidFill>
                  <a:schemeClr val="bg2"/>
                </a:solidFill>
                <a:latin typeface="Humnst777 BT" pitchFamily="34" charset="0"/>
              </a:rPr>
              <a:t>Science</a:t>
            </a:r>
            <a:r>
              <a:rPr lang="pt-PT" sz="1200" dirty="0">
                <a:solidFill>
                  <a:schemeClr val="bg2"/>
                </a:solidFill>
                <a:latin typeface="Humnst777 BT" pitchFamily="34" charset="0"/>
              </a:rPr>
              <a:t> com R - II</a:t>
            </a:r>
          </a:p>
        </p:txBody>
      </p:sp>
      <p:sp>
        <p:nvSpPr>
          <p:cNvPr id="12" name="Text Box 13"/>
          <p:cNvSpPr txBox="1">
            <a:spLocks noChangeArrowheads="1"/>
          </p:cNvSpPr>
          <p:nvPr userDrawn="1"/>
        </p:nvSpPr>
        <p:spPr bwMode="auto">
          <a:xfrm>
            <a:off x="8783882" y="6176009"/>
            <a:ext cx="2227356" cy="504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ctr">
            <a:noAutofit/>
          </a:bodyPr>
          <a:lstStyle/>
          <a:p>
            <a:pPr algn="ctr"/>
            <a:r>
              <a:rPr lang="pt-PT" sz="1200" dirty="0">
                <a:solidFill>
                  <a:schemeClr val="bg2"/>
                </a:solidFill>
                <a:latin typeface="Humnst777 BT" pitchFamily="34" charset="0"/>
              </a:rPr>
              <a:t>Setembro 2024</a:t>
            </a:r>
          </a:p>
        </p:txBody>
      </p:sp>
      <p:sp>
        <p:nvSpPr>
          <p:cNvPr id="13" name="Text Box 34"/>
          <p:cNvSpPr txBox="1">
            <a:spLocks noChangeArrowheads="1"/>
          </p:cNvSpPr>
          <p:nvPr userDrawn="1"/>
        </p:nvSpPr>
        <p:spPr bwMode="auto">
          <a:xfrm flipV="1">
            <a:off x="10703984" y="6215453"/>
            <a:ext cx="626533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 sz="2400" dirty="0">
                <a:solidFill>
                  <a:srgbClr val="CC301F"/>
                </a:solidFill>
              </a:rPr>
              <a:t>«</a:t>
            </a:r>
          </a:p>
        </p:txBody>
      </p:sp>
    </p:spTree>
    <p:extLst>
      <p:ext uri="{BB962C8B-B14F-4D97-AF65-F5344CB8AC3E}">
        <p14:creationId xmlns:p14="http://schemas.microsoft.com/office/powerpoint/2010/main" val="17558224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228305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3385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43106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89453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01263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4/6/2026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19601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4/6/2026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24564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4/6/2026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233769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206104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694765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392049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77276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jpeg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1.xml"/><Relationship Id="rId13" Type="http://schemas.openxmlformats.org/officeDocument/2006/relationships/image" Target="../media/image2.jpeg"/><Relationship Id="rId3" Type="http://schemas.openxmlformats.org/officeDocument/2006/relationships/slideLayout" Target="../slideLayouts/slideLayout6.xml"/><Relationship Id="rId7" Type="http://schemas.openxmlformats.org/officeDocument/2006/relationships/slideLayout" Target="../slideLayouts/slideLayout10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5.xml"/><Relationship Id="rId16" Type="http://schemas.openxmlformats.org/officeDocument/2006/relationships/image" Target="../media/image5.svg"/><Relationship Id="rId1" Type="http://schemas.openxmlformats.org/officeDocument/2006/relationships/slideLayout" Target="../slideLayouts/slideLayout4.xml"/><Relationship Id="rId6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4.xml"/><Relationship Id="rId5" Type="http://schemas.openxmlformats.org/officeDocument/2006/relationships/slideLayout" Target="../slideLayouts/slideLayout8.xml"/><Relationship Id="rId15" Type="http://schemas.openxmlformats.org/officeDocument/2006/relationships/image" Target="../media/image4.png"/><Relationship Id="rId10" Type="http://schemas.openxmlformats.org/officeDocument/2006/relationships/slideLayout" Target="../slideLayouts/slideLayout13.xml"/><Relationship Id="rId4" Type="http://schemas.openxmlformats.org/officeDocument/2006/relationships/slideLayout" Target="../slideLayouts/slideLayout7.xml"/><Relationship Id="rId9" Type="http://schemas.openxmlformats.org/officeDocument/2006/relationships/slideLayout" Target="../slideLayouts/slideLayout12.xml"/><Relationship Id="rId14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5" name="Rectangle 11"/>
          <p:cNvSpPr>
            <a:spLocks noChangeArrowheads="1"/>
          </p:cNvSpPr>
          <p:nvPr/>
        </p:nvSpPr>
        <p:spPr bwMode="auto">
          <a:xfrm>
            <a:off x="624417" y="765175"/>
            <a:ext cx="287867" cy="215900"/>
          </a:xfrm>
          <a:prstGeom prst="rect">
            <a:avLst/>
          </a:prstGeom>
          <a:solidFill>
            <a:srgbClr val="1A3A6E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defRPr/>
            </a:pPr>
            <a:endParaRPr lang="en-US" sz="6000"/>
          </a:p>
        </p:txBody>
      </p:sp>
      <p:sp>
        <p:nvSpPr>
          <p:cNvPr id="1036" name="Rectangle 12"/>
          <p:cNvSpPr>
            <a:spLocks noChangeArrowheads="1"/>
          </p:cNvSpPr>
          <p:nvPr/>
        </p:nvSpPr>
        <p:spPr bwMode="auto">
          <a:xfrm>
            <a:off x="1009651" y="765175"/>
            <a:ext cx="383116" cy="215900"/>
          </a:xfrm>
          <a:prstGeom prst="rect">
            <a:avLst/>
          </a:prstGeom>
          <a:solidFill>
            <a:srgbClr val="CC301F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r">
              <a:spcBef>
                <a:spcPct val="0"/>
              </a:spcBef>
              <a:defRPr/>
            </a:pPr>
            <a:endParaRPr lang="en-US" sz="180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037" name="Rectangle 13"/>
          <p:cNvSpPr>
            <a:spLocks noChangeArrowheads="1"/>
          </p:cNvSpPr>
          <p:nvPr/>
        </p:nvSpPr>
        <p:spPr bwMode="auto">
          <a:xfrm>
            <a:off x="1488018" y="765175"/>
            <a:ext cx="1153583" cy="215900"/>
          </a:xfrm>
          <a:prstGeom prst="rect">
            <a:avLst/>
          </a:prstGeom>
          <a:solidFill>
            <a:srgbClr val="C0C0C0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defRPr/>
            </a:pPr>
            <a:endParaRPr lang="en-US" sz="6000"/>
          </a:p>
        </p:txBody>
      </p:sp>
      <p:sp>
        <p:nvSpPr>
          <p:cNvPr id="1038" name="Rectangle 14"/>
          <p:cNvSpPr>
            <a:spLocks noChangeArrowheads="1"/>
          </p:cNvSpPr>
          <p:nvPr/>
        </p:nvSpPr>
        <p:spPr bwMode="auto">
          <a:xfrm>
            <a:off x="2736851" y="765175"/>
            <a:ext cx="768349" cy="215900"/>
          </a:xfrm>
          <a:prstGeom prst="rect">
            <a:avLst/>
          </a:prstGeom>
          <a:solidFill>
            <a:srgbClr val="1A3A6E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defRPr/>
            </a:pPr>
            <a:endParaRPr lang="en-US" sz="6000"/>
          </a:p>
        </p:txBody>
      </p:sp>
      <p:sp>
        <p:nvSpPr>
          <p:cNvPr id="1039" name="Rectangle 15"/>
          <p:cNvSpPr>
            <a:spLocks noChangeArrowheads="1"/>
          </p:cNvSpPr>
          <p:nvPr/>
        </p:nvSpPr>
        <p:spPr bwMode="auto">
          <a:xfrm>
            <a:off x="1104901" y="909638"/>
            <a:ext cx="768351" cy="2159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defRPr/>
            </a:pPr>
            <a:endParaRPr lang="en-US" sz="6000"/>
          </a:p>
        </p:txBody>
      </p:sp>
      <p:pic>
        <p:nvPicPr>
          <p:cNvPr id="1031" name="Picture 17" descr="Logo2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334434" y="6237289"/>
            <a:ext cx="4847167" cy="4222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  <p:sldLayoutId id="2147483656" r:id="rId2"/>
  </p:sldLayoutIdLst>
  <p:hf sldNum="0"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8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2" descr="Proposta da CCDR Algarve ao Instituto Nacional de Estatística (INE) | RAARA">
            <a:extLst>
              <a:ext uri="{FF2B5EF4-FFF2-40B4-BE49-F238E27FC236}">
                <a16:creationId xmlns:a16="http://schemas.microsoft.com/office/drawing/2014/main" id="{3B4B0A3F-174F-9975-3A0D-CD0A3F6D16C4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352" b="27068"/>
          <a:stretch/>
        </p:blipFill>
        <p:spPr bwMode="auto">
          <a:xfrm>
            <a:off x="239350" y="260649"/>
            <a:ext cx="2497185" cy="6657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5758294-BA60-9AEB-86AB-B100BBBA7FE4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476248" y="6203895"/>
            <a:ext cx="3133725" cy="47625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9FB409DF-DE00-B517-2DF9-54D162DA592A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41361" y="6082428"/>
            <a:ext cx="5423827" cy="586933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2F7509D5-5A88-C501-CAAA-043034EB7865}"/>
              </a:ext>
            </a:extLst>
          </p:cNvPr>
          <p:cNvPicPr>
            <a:picLocks noChangeAspect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765189" y="6226319"/>
            <a:ext cx="950564" cy="3443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58321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PT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525" userDrawn="1">
          <p15:clr>
            <a:srgbClr val="F26B43"/>
          </p15:clr>
        </p15:guide>
        <p15:guide id="2" pos="5120" userDrawn="1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  <a:t>4/6/2026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2" descr="Proposta da CCDR Algarve ao Instituto Nacional de Estatística (INE) | RAARA">
            <a:extLst>
              <a:ext uri="{FF2B5EF4-FFF2-40B4-BE49-F238E27FC236}">
                <a16:creationId xmlns:a16="http://schemas.microsoft.com/office/drawing/2014/main" id="{15BB259D-C105-86D0-2352-14F17054695C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352" b="27068"/>
          <a:stretch/>
        </p:blipFill>
        <p:spPr bwMode="auto">
          <a:xfrm>
            <a:off x="239350" y="260649"/>
            <a:ext cx="2497185" cy="6657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0556E44-4CB4-9477-DFE6-80A97E70895D}"/>
              </a:ext>
            </a:extLst>
          </p:cNvPr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476248" y="6203895"/>
            <a:ext cx="3133725" cy="4762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A55D422-210E-C94E-136F-383243BFF92B}"/>
              </a:ext>
            </a:extLst>
          </p:cNvPr>
          <p:cNvPicPr>
            <a:picLocks noChangeAspect="1"/>
          </p:cNvPicPr>
          <p:nvPr userDrawn="1"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41361" y="6082428"/>
            <a:ext cx="5423827" cy="586933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FC6E12E6-BE03-6D82-78C0-C972C149CCF3}"/>
              </a:ext>
            </a:extLst>
          </p:cNvPr>
          <p:cNvPicPr>
            <a:picLocks noChangeAspect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10765189" y="6226319"/>
            <a:ext cx="950564" cy="3443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31514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525" userDrawn="1">
          <p15:clr>
            <a:srgbClr val="F26B43"/>
          </p15:clr>
        </p15:guide>
        <p15:guide id="2" pos="512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0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r4ds.hadley.nz/" TargetMode="Externa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0.xml"/><Relationship Id="rId5" Type="http://schemas.openxmlformats.org/officeDocument/2006/relationships/hyperlink" Target="https://rstudio.github.io/cheatsheets/html/data-transformation.html" TargetMode="External"/><Relationship Id="rId4" Type="http://schemas.openxmlformats.org/officeDocument/2006/relationships/hyperlink" Target="https://tidyverse.org/" TargetMode="Externa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0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dplyr.tidyverse.org/" TargetMode="External"/><Relationship Id="rId1" Type="http://schemas.openxmlformats.org/officeDocument/2006/relationships/slideLayout" Target="../slideLayouts/slideLayout10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0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0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s://ggplot2.tidyverse.org/" TargetMode="External"/><Relationship Id="rId1" Type="http://schemas.openxmlformats.org/officeDocument/2006/relationships/slideLayout" Target="../slideLayouts/slideLayout10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0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0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mwr.org/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0.xml"/><Relationship Id="rId4" Type="http://schemas.openxmlformats.org/officeDocument/2006/relationships/hyperlink" Target="https://www.tidymodels.org/" TargetMode="Externa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0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0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0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0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0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0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0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17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18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16.png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0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0.xml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r-bloggers.com/" TargetMode="External"/><Relationship Id="rId3" Type="http://schemas.openxmlformats.org/officeDocument/2006/relationships/hyperlink" Target="https://www.tidyverse.org/" TargetMode="External"/><Relationship Id="rId7" Type="http://schemas.openxmlformats.org/officeDocument/2006/relationships/hyperlink" Target="https://stackoverflow.com/" TargetMode="External"/><Relationship Id="rId2" Type="http://schemas.openxmlformats.org/officeDocument/2006/relationships/hyperlink" Target="https://www.r-project.org/" TargetMode="External"/><Relationship Id="rId1" Type="http://schemas.openxmlformats.org/officeDocument/2006/relationships/slideLayout" Target="../slideLayouts/slideLayout10.xml"/><Relationship Id="rId6" Type="http://schemas.openxmlformats.org/officeDocument/2006/relationships/hyperlink" Target="https://www.r-project.org/help.html" TargetMode="External"/><Relationship Id="rId5" Type="http://schemas.openxmlformats.org/officeDocument/2006/relationships/hyperlink" Target="https://education.rstudio.com/learn/" TargetMode="External"/><Relationship Id="rId10" Type="http://schemas.openxmlformats.org/officeDocument/2006/relationships/image" Target="../media/image21.png"/><Relationship Id="rId4" Type="http://schemas.openxmlformats.org/officeDocument/2006/relationships/hyperlink" Target="https://www.tidymodels.org/" TargetMode="External"/><Relationship Id="rId9" Type="http://schemas.openxmlformats.org/officeDocument/2006/relationships/hyperlink" Target="https://hour.ine.pt/" TargetMode="Externa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hyperlink" Target="https://r4ds.hadley.nz/" TargetMode="External"/><Relationship Id="rId2" Type="http://schemas.openxmlformats.org/officeDocument/2006/relationships/hyperlink" Target="https://r4ds.had.co.nz/" TargetMode="External"/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ângulo 4">
            <a:extLst>
              <a:ext uri="{FF2B5EF4-FFF2-40B4-BE49-F238E27FC236}">
                <a16:creationId xmlns:a16="http://schemas.microsoft.com/office/drawing/2014/main" id="{DE0ABF8F-D2B3-EC60-474F-46A54BA68A0E}"/>
              </a:ext>
            </a:extLst>
          </p:cNvPr>
          <p:cNvSpPr/>
          <p:nvPr/>
        </p:nvSpPr>
        <p:spPr>
          <a:xfrm>
            <a:off x="2845666" y="2140905"/>
            <a:ext cx="6500668" cy="7571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lnSpc>
                <a:spcPct val="90000"/>
              </a:lnSpc>
              <a:spcBef>
                <a:spcPct val="20000"/>
              </a:spcBef>
              <a:spcAft>
                <a:spcPct val="0"/>
              </a:spcAft>
            </a:pPr>
            <a:r>
              <a:rPr lang="pt-PT" sz="4800" dirty="0">
                <a:solidFill>
                  <a:schemeClr val="accent1">
                    <a:lumMod val="50000"/>
                  </a:schemeClr>
                </a:solidFill>
                <a:latin typeface="Century Gothic" panose="020B0502020202020204" pitchFamily="34" charset="0"/>
              </a:rPr>
              <a:t>Primeira Parte</a:t>
            </a:r>
          </a:p>
        </p:txBody>
      </p:sp>
      <p:sp>
        <p:nvSpPr>
          <p:cNvPr id="8" name="Rectângulo 5">
            <a:extLst>
              <a:ext uri="{FF2B5EF4-FFF2-40B4-BE49-F238E27FC236}">
                <a16:creationId xmlns:a16="http://schemas.microsoft.com/office/drawing/2014/main" id="{8BCFD7A4-841C-F5D6-56F5-3DA59592295D}"/>
              </a:ext>
            </a:extLst>
          </p:cNvPr>
          <p:cNvSpPr/>
          <p:nvPr/>
        </p:nvSpPr>
        <p:spPr>
          <a:xfrm>
            <a:off x="4069961" y="4070517"/>
            <a:ext cx="4052078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50000"/>
              </a:spcBef>
              <a:spcAft>
                <a:spcPct val="0"/>
              </a:spcAft>
            </a:pPr>
            <a:r>
              <a:rPr lang="pt-PT" sz="2000" b="1" u="sng" dirty="0">
                <a:solidFill>
                  <a:srgbClr val="4D4D4D"/>
                </a:solidFill>
                <a:latin typeface="Century Gothic" panose="020B0502020202020204" pitchFamily="34" charset="0"/>
              </a:rPr>
              <a:t>João Lopes</a:t>
            </a:r>
            <a:r>
              <a:rPr lang="pt-PT" sz="2000" b="1" dirty="0">
                <a:solidFill>
                  <a:srgbClr val="4D4D4D"/>
                </a:solidFill>
                <a:latin typeface="Century Gothic" panose="020B0502020202020204" pitchFamily="34" charset="0"/>
              </a:rPr>
              <a:t> e Pedro Sousa</a:t>
            </a:r>
            <a:endParaRPr lang="pt-PT" sz="2000" b="1" u="sng" dirty="0">
              <a:solidFill>
                <a:srgbClr val="4D4D4D"/>
              </a:solidFill>
              <a:latin typeface="Century Gothic" panose="020B0502020202020204" pitchFamily="34" charset="0"/>
            </a:endParaRPr>
          </a:p>
        </p:txBody>
      </p:sp>
      <p:sp>
        <p:nvSpPr>
          <p:cNvPr id="9" name="Rectângulo 8">
            <a:extLst>
              <a:ext uri="{FF2B5EF4-FFF2-40B4-BE49-F238E27FC236}">
                <a16:creationId xmlns:a16="http://schemas.microsoft.com/office/drawing/2014/main" id="{B5C31F85-B977-D2FF-C53D-8BC887AD2124}"/>
              </a:ext>
            </a:extLst>
          </p:cNvPr>
          <p:cNvSpPr/>
          <p:nvPr/>
        </p:nvSpPr>
        <p:spPr>
          <a:xfrm>
            <a:off x="5087888" y="4778256"/>
            <a:ext cx="2160240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lang="pt-PT" sz="2000" dirty="0">
                <a:solidFill>
                  <a:srgbClr val="4D4D4D"/>
                </a:solidFill>
                <a:latin typeface="Century Gothic" panose="020B0502020202020204" pitchFamily="34" charset="0"/>
              </a:rPr>
              <a:t>Março 2026</a:t>
            </a:r>
          </a:p>
        </p:txBody>
      </p:sp>
      <p:sp>
        <p:nvSpPr>
          <p:cNvPr id="10" name="Rectângulo 4">
            <a:extLst>
              <a:ext uri="{FF2B5EF4-FFF2-40B4-BE49-F238E27FC236}">
                <a16:creationId xmlns:a16="http://schemas.microsoft.com/office/drawing/2014/main" id="{B96B270A-36D4-C846-DE6F-8B19A4B374BE}"/>
              </a:ext>
            </a:extLst>
          </p:cNvPr>
          <p:cNvSpPr/>
          <p:nvPr/>
        </p:nvSpPr>
        <p:spPr>
          <a:xfrm>
            <a:off x="2845666" y="1196753"/>
            <a:ext cx="6500668" cy="5355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lnSpc>
                <a:spcPct val="90000"/>
              </a:lnSpc>
              <a:spcBef>
                <a:spcPct val="20000"/>
              </a:spcBef>
              <a:spcAft>
                <a:spcPct val="0"/>
              </a:spcAft>
            </a:pPr>
            <a:r>
              <a:rPr lang="pt-PT" sz="3200" dirty="0">
                <a:solidFill>
                  <a:schemeClr val="accent1">
                    <a:lumMod val="50000"/>
                  </a:schemeClr>
                </a:solidFill>
                <a:latin typeface="Century Gothic" panose="020B0502020202020204" pitchFamily="34" charset="0"/>
              </a:rPr>
              <a:t>R para Ciência dos Dados - II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0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Programa</a:t>
            </a:r>
          </a:p>
        </p:txBody>
      </p:sp>
      <p:sp>
        <p:nvSpPr>
          <p:cNvPr id="2" name="Text Box 39">
            <a:extLst>
              <a:ext uri="{FF2B5EF4-FFF2-40B4-BE49-F238E27FC236}">
                <a16:creationId xmlns:a16="http://schemas.microsoft.com/office/drawing/2014/main" id="{DFC7A314-AAAE-806C-7A7D-BF773D16BAF1}"/>
              </a:ext>
            </a:extLst>
          </p:cNvPr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 dirty="0">
                <a:solidFill>
                  <a:srgbClr val="CC301F"/>
                </a:solidFill>
              </a:rPr>
              <a:t>«</a:t>
            </a:r>
          </a:p>
        </p:txBody>
      </p:sp>
    </p:spTree>
    <p:extLst>
      <p:ext uri="{BB962C8B-B14F-4D97-AF65-F5344CB8AC3E}">
        <p14:creationId xmlns:p14="http://schemas.microsoft.com/office/powerpoint/2010/main" val="24417031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Line 10"/>
          <p:cNvSpPr>
            <a:spLocks noChangeShapeType="1"/>
          </p:cNvSpPr>
          <p:nvPr/>
        </p:nvSpPr>
        <p:spPr bwMode="auto">
          <a:xfrm flipH="1">
            <a:off x="2063552" y="1556792"/>
            <a:ext cx="6477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3075" name="Line 11"/>
          <p:cNvSpPr>
            <a:spLocks noChangeShapeType="1"/>
          </p:cNvSpPr>
          <p:nvPr/>
        </p:nvSpPr>
        <p:spPr bwMode="auto">
          <a:xfrm>
            <a:off x="2711252" y="1556792"/>
            <a:ext cx="372" cy="234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3077" name="Text Box 16"/>
          <p:cNvSpPr txBox="1">
            <a:spLocks noChangeArrowheads="1"/>
          </p:cNvSpPr>
          <p:nvPr/>
        </p:nvSpPr>
        <p:spPr bwMode="auto">
          <a:xfrm>
            <a:off x="2744591" y="1556793"/>
            <a:ext cx="4968875" cy="2323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25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 </a:t>
            </a:r>
            <a:r>
              <a:rPr lang="pt-PT" sz="2500" b="1" dirty="0">
                <a:solidFill>
                  <a:srgbClr val="003E6C"/>
                </a:solidFill>
              </a:rPr>
              <a:t>Transformação dos dados</a:t>
            </a:r>
          </a:p>
          <a:p>
            <a:pPr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2500" b="1" dirty="0">
                <a:solidFill>
                  <a:srgbClr val="003E6C"/>
                </a:solidFill>
                <a:latin typeface="Humnst777 BT" pitchFamily="34" charset="0"/>
              </a:rPr>
              <a:t>  Exploração dos dados</a:t>
            </a:r>
          </a:p>
          <a:p>
            <a:pPr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2500" b="1" dirty="0">
                <a:solidFill>
                  <a:srgbClr val="003E6C"/>
                </a:solidFill>
                <a:latin typeface="Humnst777 BT" pitchFamily="34" charset="0"/>
              </a:rPr>
              <a:t>  Modelação</a:t>
            </a:r>
            <a:endParaRPr lang="pt-PT" sz="2500" b="1" i="1" dirty="0">
              <a:solidFill>
                <a:srgbClr val="003E6C"/>
              </a:solidFill>
              <a:latin typeface="Humnst777 BT" pitchFamily="34" charset="0"/>
            </a:endParaRPr>
          </a:p>
          <a:p>
            <a:pPr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2500" dirty="0">
                <a:solidFill>
                  <a:schemeClr val="tx1">
                    <a:lumMod val="85000"/>
                    <a:lumOff val="15000"/>
                  </a:schemeClr>
                </a:solidFill>
                <a:latin typeface="Humnst777 BT" pitchFamily="34" charset="0"/>
              </a:rPr>
              <a:t>  </a:t>
            </a:r>
            <a:r>
              <a:rPr lang="pt-PT" sz="2500" dirty="0">
                <a:solidFill>
                  <a:schemeClr val="tx1"/>
                </a:solidFill>
                <a:latin typeface="Humnst777 BT" pitchFamily="34" charset="0"/>
              </a:rPr>
              <a:t>Relatórios e apresentações </a:t>
            </a:r>
          </a:p>
          <a:p>
            <a:pPr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2500" dirty="0">
                <a:solidFill>
                  <a:schemeClr val="tx1">
                    <a:lumMod val="85000"/>
                    <a:lumOff val="15000"/>
                  </a:schemeClr>
                </a:solidFill>
                <a:latin typeface="Humnst777 BT" pitchFamily="34" charset="0"/>
              </a:rPr>
              <a:t>  Comunicação</a:t>
            </a:r>
          </a:p>
        </p:txBody>
      </p:sp>
      <p:sp>
        <p:nvSpPr>
          <p:cNvPr id="3080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Programa</a:t>
            </a:r>
          </a:p>
        </p:txBody>
      </p:sp>
      <p:sp>
        <p:nvSpPr>
          <p:cNvPr id="2" name="Text Box 39">
            <a:extLst>
              <a:ext uri="{FF2B5EF4-FFF2-40B4-BE49-F238E27FC236}">
                <a16:creationId xmlns:a16="http://schemas.microsoft.com/office/drawing/2014/main" id="{E726C6CB-0249-7F60-9345-744BA08E109D}"/>
              </a:ext>
            </a:extLst>
          </p:cNvPr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 dirty="0">
                <a:solidFill>
                  <a:srgbClr val="CC301F"/>
                </a:solidFill>
              </a:rPr>
              <a:t>«</a:t>
            </a:r>
          </a:p>
        </p:txBody>
      </p:sp>
    </p:spTree>
    <p:extLst>
      <p:ext uri="{BB962C8B-B14F-4D97-AF65-F5344CB8AC3E}">
        <p14:creationId xmlns:p14="http://schemas.microsoft.com/office/powerpoint/2010/main" val="7284279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7" name="Text Box 16"/>
          <p:cNvSpPr txBox="1">
            <a:spLocks noChangeArrowheads="1"/>
          </p:cNvSpPr>
          <p:nvPr/>
        </p:nvSpPr>
        <p:spPr bwMode="auto">
          <a:xfrm>
            <a:off x="2711625" y="1557338"/>
            <a:ext cx="4968875" cy="461664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800" b="1" dirty="0">
                <a:solidFill>
                  <a:schemeClr val="accent2"/>
                </a:solidFill>
                <a:latin typeface="Humnst777 BT" pitchFamily="34" charset="0"/>
              </a:rPr>
              <a:t>  </a:t>
            </a:r>
            <a:r>
              <a:rPr lang="pt-PT" sz="1800" b="1" dirty="0">
                <a:solidFill>
                  <a:srgbClr val="003E6C"/>
                </a:solidFill>
                <a:latin typeface="Humnst777 BT" pitchFamily="34" charset="0"/>
              </a:rPr>
              <a:t>Transformação dos dados</a:t>
            </a:r>
          </a:p>
          <a:p>
            <a:pPr lvl="1"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800" b="1" dirty="0">
                <a:solidFill>
                  <a:srgbClr val="003E6C"/>
                </a:solidFill>
                <a:latin typeface="Humnst777 BT" pitchFamily="34" charset="0"/>
              </a:rPr>
              <a:t> </a:t>
            </a:r>
            <a:r>
              <a:rPr lang="pt-PT" sz="1800" dirty="0">
                <a:solidFill>
                  <a:srgbClr val="003E6C"/>
                </a:solidFill>
                <a:latin typeface="Humnst777 BT" pitchFamily="34" charset="0"/>
              </a:rPr>
              <a:t>Vetores numéricos</a:t>
            </a:r>
          </a:p>
          <a:p>
            <a:pPr lvl="1"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800" dirty="0">
                <a:solidFill>
                  <a:srgbClr val="003E6C"/>
                </a:solidFill>
                <a:latin typeface="Humnst777 BT" pitchFamily="34" charset="0"/>
              </a:rPr>
              <a:t> Fatores</a:t>
            </a:r>
          </a:p>
          <a:p>
            <a:pPr lvl="1"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800" dirty="0">
                <a:solidFill>
                  <a:srgbClr val="003E6C"/>
                </a:solidFill>
                <a:latin typeface="Humnst777 BT" pitchFamily="34" charset="0"/>
              </a:rPr>
              <a:t> Vetores lógicos</a:t>
            </a:r>
          </a:p>
          <a:p>
            <a:pPr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800" b="1" dirty="0">
                <a:solidFill>
                  <a:srgbClr val="003E6C"/>
                </a:solidFill>
                <a:latin typeface="Humnst777 BT" pitchFamily="34" charset="0"/>
              </a:rPr>
              <a:t>  Exploração dos dados</a:t>
            </a:r>
          </a:p>
          <a:p>
            <a:pPr lvl="1"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800" b="1" dirty="0">
                <a:solidFill>
                  <a:srgbClr val="003E6C"/>
                </a:solidFill>
                <a:latin typeface="Humnst777 BT" pitchFamily="34" charset="0"/>
              </a:rPr>
              <a:t> </a:t>
            </a:r>
            <a:r>
              <a:rPr lang="pt-PT" sz="1800" dirty="0">
                <a:solidFill>
                  <a:srgbClr val="003E6C"/>
                </a:solidFill>
                <a:latin typeface="Humnst777 BT" pitchFamily="34" charset="0"/>
              </a:rPr>
              <a:t>Variação</a:t>
            </a:r>
          </a:p>
          <a:p>
            <a:pPr lvl="1"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800" dirty="0">
                <a:solidFill>
                  <a:srgbClr val="003E6C"/>
                </a:solidFill>
                <a:latin typeface="Humnst777 BT" pitchFamily="34" charset="0"/>
              </a:rPr>
              <a:t> Valores em falta</a:t>
            </a:r>
          </a:p>
          <a:p>
            <a:pPr lvl="1"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800" dirty="0">
                <a:solidFill>
                  <a:srgbClr val="003E6C"/>
                </a:solidFill>
                <a:latin typeface="Humnst777 BT" pitchFamily="34" charset="0"/>
              </a:rPr>
              <a:t> Covariação</a:t>
            </a:r>
          </a:p>
          <a:p>
            <a:pPr lvl="1"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800" dirty="0">
                <a:solidFill>
                  <a:srgbClr val="003E6C"/>
                </a:solidFill>
                <a:latin typeface="Humnst777 BT" pitchFamily="34" charset="0"/>
              </a:rPr>
              <a:t> Padrões e Modelos</a:t>
            </a:r>
          </a:p>
          <a:p>
            <a:pPr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800" b="1" dirty="0">
                <a:solidFill>
                  <a:srgbClr val="003E6C"/>
                </a:solidFill>
                <a:latin typeface="Humnst777 BT" pitchFamily="34" charset="0"/>
              </a:rPr>
              <a:t>  Modelação</a:t>
            </a:r>
          </a:p>
          <a:p>
            <a:pPr lvl="1"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800" b="1" dirty="0">
                <a:solidFill>
                  <a:srgbClr val="003E6C"/>
                </a:solidFill>
                <a:latin typeface="Humnst777 BT" pitchFamily="34" charset="0"/>
              </a:rPr>
              <a:t> </a:t>
            </a:r>
            <a:r>
              <a:rPr lang="pt-PT" sz="1800" dirty="0">
                <a:solidFill>
                  <a:srgbClr val="003E6C"/>
                </a:solidFill>
                <a:latin typeface="Humnst777 BT" pitchFamily="34" charset="0"/>
              </a:rPr>
              <a:t>Construir modelo simples</a:t>
            </a:r>
          </a:p>
          <a:p>
            <a:pPr lvl="1"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800" dirty="0">
                <a:solidFill>
                  <a:srgbClr val="003E6C"/>
                </a:solidFill>
                <a:latin typeface="Humnst777 BT" pitchFamily="34" charset="0"/>
              </a:rPr>
              <a:t> Construir modelo com </a:t>
            </a:r>
            <a:r>
              <a:rPr lang="pt-PT" sz="1800" dirty="0" err="1">
                <a:solidFill>
                  <a:srgbClr val="003E6C"/>
                </a:solidFill>
                <a:latin typeface="Humnst777 BT" pitchFamily="34" charset="0"/>
              </a:rPr>
              <a:t>workflow</a:t>
            </a:r>
            <a:r>
              <a:rPr lang="pt-PT" sz="1800" dirty="0">
                <a:solidFill>
                  <a:srgbClr val="003E6C"/>
                </a:solidFill>
                <a:latin typeface="Humnst777 BT" pitchFamily="34" charset="0"/>
              </a:rPr>
              <a:t>()</a:t>
            </a:r>
          </a:p>
          <a:p>
            <a:pPr lvl="1"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800" dirty="0">
                <a:solidFill>
                  <a:srgbClr val="003E6C"/>
                </a:solidFill>
                <a:latin typeface="Humnst777 BT" pitchFamily="34" charset="0"/>
              </a:rPr>
              <a:t> Construir vários modelos com </a:t>
            </a:r>
            <a:r>
              <a:rPr lang="pt-PT" sz="1800" dirty="0" err="1">
                <a:solidFill>
                  <a:srgbClr val="003E6C"/>
                </a:solidFill>
                <a:latin typeface="Humnst777 BT" pitchFamily="34" charset="0"/>
              </a:rPr>
              <a:t>workflow</a:t>
            </a:r>
            <a:r>
              <a:rPr lang="pt-PT" sz="1800" dirty="0">
                <a:solidFill>
                  <a:srgbClr val="003E6C"/>
                </a:solidFill>
                <a:latin typeface="Humnst777 BT" pitchFamily="34" charset="0"/>
              </a:rPr>
              <a:t>()</a:t>
            </a:r>
          </a:p>
        </p:txBody>
      </p:sp>
      <p:sp>
        <p:nvSpPr>
          <p:cNvPr id="3080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Programa</a:t>
            </a:r>
          </a:p>
        </p:txBody>
      </p:sp>
      <p:sp>
        <p:nvSpPr>
          <p:cNvPr id="2" name="Line 10">
            <a:extLst>
              <a:ext uri="{FF2B5EF4-FFF2-40B4-BE49-F238E27FC236}">
                <a16:creationId xmlns:a16="http://schemas.microsoft.com/office/drawing/2014/main" id="{4CD33B91-A899-201A-4E83-3EF6578869EC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065214" y="1557338"/>
            <a:ext cx="6477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3" name="Line 11">
            <a:extLst>
              <a:ext uri="{FF2B5EF4-FFF2-40B4-BE49-F238E27FC236}">
                <a16:creationId xmlns:a16="http://schemas.microsoft.com/office/drawing/2014/main" id="{8F1E4C9B-F63F-19E5-CB9C-DBC853459CC5}"/>
              </a:ext>
            </a:extLst>
          </p:cNvPr>
          <p:cNvSpPr>
            <a:spLocks noChangeShapeType="1"/>
          </p:cNvSpPr>
          <p:nvPr/>
        </p:nvSpPr>
        <p:spPr bwMode="auto">
          <a:xfrm>
            <a:off x="2712914" y="1557338"/>
            <a:ext cx="372" cy="450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Box 39">
            <a:extLst>
              <a:ext uri="{FF2B5EF4-FFF2-40B4-BE49-F238E27FC236}">
                <a16:creationId xmlns:a16="http://schemas.microsoft.com/office/drawing/2014/main" id="{11E63F42-DEAC-47C1-9ADA-B513FA96B97B}"/>
              </a:ext>
            </a:extLst>
          </p:cNvPr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 dirty="0">
                <a:solidFill>
                  <a:srgbClr val="CC301F"/>
                </a:solidFill>
              </a:rPr>
              <a:t>«</a:t>
            </a:r>
          </a:p>
        </p:txBody>
      </p:sp>
    </p:spTree>
    <p:extLst>
      <p:ext uri="{BB962C8B-B14F-4D97-AF65-F5344CB8AC3E}">
        <p14:creationId xmlns:p14="http://schemas.microsoft.com/office/powerpoint/2010/main" val="18077180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 dirty="0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11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Recapitulação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25934" y="4941168"/>
            <a:ext cx="493544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nl-NL" sz="1600" dirty="0">
                <a:solidFill>
                  <a:schemeClr val="tx1"/>
                </a:solidFill>
              </a:rPr>
              <a:t>H. Wickham M. Çetinkaya-Rundel &amp; G. Grolemund (2023)</a:t>
            </a:r>
            <a:endParaRPr lang="pt-PT" sz="1600" dirty="0">
              <a:solidFill>
                <a:schemeClr val="tx1"/>
              </a:solidFill>
            </a:endParaRPr>
          </a:p>
        </p:txBody>
      </p:sp>
      <p:pic>
        <p:nvPicPr>
          <p:cNvPr id="3" name="Picture 2" descr="A diagram of a model&#10;&#10;Description automatically generated">
            <a:extLst>
              <a:ext uri="{FF2B5EF4-FFF2-40B4-BE49-F238E27FC236}">
                <a16:creationId xmlns:a16="http://schemas.microsoft.com/office/drawing/2014/main" id="{026DF472-C5F6-5267-7655-957222DCBC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28639" y="2132618"/>
            <a:ext cx="7334722" cy="2477419"/>
          </a:xfrm>
          <a:prstGeom prst="rect">
            <a:avLst/>
          </a:prstGeom>
        </p:spPr>
      </p:pic>
      <p:sp>
        <p:nvSpPr>
          <p:cNvPr id="4" name="Text Box 376">
            <a:extLst>
              <a:ext uri="{FF2B5EF4-FFF2-40B4-BE49-F238E27FC236}">
                <a16:creationId xmlns:a16="http://schemas.microsoft.com/office/drawing/2014/main" id="{F028F56D-0FE2-9788-2090-540A0D5D7B6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08732"/>
            <a:ext cx="7705725" cy="52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Esquema geral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  <p:sp>
        <p:nvSpPr>
          <p:cNvPr id="2" name="Text Box 13">
            <a:extLst>
              <a:ext uri="{FF2B5EF4-FFF2-40B4-BE49-F238E27FC236}">
                <a16:creationId xmlns:a16="http://schemas.microsoft.com/office/drawing/2014/main" id="{AECCD5C1-1ACD-14CB-B01D-C5A3BC29080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64000" y="2160000"/>
            <a:ext cx="8064000" cy="40934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>
              <a:buFontTx/>
              <a:buChar char="-"/>
            </a:pPr>
            <a:endParaRPr lang="pt-PT" sz="2000" dirty="0">
              <a:solidFill>
                <a:schemeClr val="tx1"/>
              </a:solidFill>
              <a:latin typeface="Humnst777 BT" pitchFamily="34" charset="0"/>
              <a:cs typeface="Courier New" panose="02070309020205020404" pitchFamily="49" charset="0"/>
            </a:endParaRPr>
          </a:p>
          <a:p>
            <a:pPr algn="just">
              <a:buFontTx/>
              <a:buChar char="-"/>
            </a:pPr>
            <a:endParaRPr lang="pt-PT" sz="2000" dirty="0">
              <a:solidFill>
                <a:schemeClr val="tx1"/>
              </a:solidFill>
              <a:latin typeface="Humnst777 BT" pitchFamily="34" charset="0"/>
              <a:cs typeface="Courier New" panose="02070309020205020404" pitchFamily="49" charset="0"/>
            </a:endParaRPr>
          </a:p>
          <a:p>
            <a:pPr algn="just">
              <a:buFontTx/>
              <a:buChar char="-"/>
            </a:pPr>
            <a:endParaRPr lang="pt-PT" sz="2000" dirty="0">
              <a:solidFill>
                <a:schemeClr val="tx1"/>
              </a:solidFill>
              <a:latin typeface="Humnst777 BT" pitchFamily="34" charset="0"/>
              <a:cs typeface="Courier New" panose="02070309020205020404" pitchFamily="49" charset="0"/>
            </a:endParaRPr>
          </a:p>
          <a:p>
            <a:pPr algn="just">
              <a:buFontTx/>
              <a:buChar char="-"/>
            </a:pPr>
            <a:endParaRPr lang="pt-PT" sz="2000" dirty="0">
              <a:solidFill>
                <a:schemeClr val="tx1"/>
              </a:solidFill>
              <a:latin typeface="Humnst777 BT" pitchFamily="34" charset="0"/>
              <a:cs typeface="Courier New" panose="02070309020205020404" pitchFamily="49" charset="0"/>
            </a:endParaRPr>
          </a:p>
          <a:p>
            <a:pPr algn="just">
              <a:buFontTx/>
              <a:buChar char="-"/>
            </a:pPr>
            <a:endParaRPr lang="pt-PT" sz="2000" dirty="0">
              <a:solidFill>
                <a:schemeClr val="tx1"/>
              </a:solidFill>
              <a:latin typeface="Humnst777 BT" pitchFamily="34" charset="0"/>
              <a:cs typeface="Courier New" panose="02070309020205020404" pitchFamily="49" charset="0"/>
            </a:endParaRPr>
          </a:p>
          <a:p>
            <a:pPr algn="just">
              <a:buFontTx/>
              <a:buChar char="-"/>
            </a:pPr>
            <a:endParaRPr lang="pt-PT" sz="2000" dirty="0">
              <a:solidFill>
                <a:schemeClr val="tx1"/>
              </a:solidFill>
              <a:latin typeface="Humnst777 BT" pitchFamily="34" charset="0"/>
              <a:cs typeface="Courier New" panose="02070309020205020404" pitchFamily="49" charset="0"/>
            </a:endParaRPr>
          </a:p>
          <a:p>
            <a:pPr algn="just">
              <a:buFontTx/>
              <a:buChar char="-"/>
            </a:pPr>
            <a:endParaRPr lang="pt-PT" sz="2000" dirty="0">
              <a:solidFill>
                <a:schemeClr val="tx1"/>
              </a:solidFill>
              <a:latin typeface="Humnst777 BT" pitchFamily="34" charset="0"/>
              <a:cs typeface="Courier New" panose="02070309020205020404" pitchFamily="49" charset="0"/>
            </a:endParaRPr>
          </a:p>
          <a:p>
            <a:pPr algn="just"/>
            <a:r>
              <a:rPr lang="pt-PT" sz="2000" dirty="0">
                <a:solidFill>
                  <a:schemeClr val="tx1"/>
                </a:solidFill>
                <a:latin typeface="Humnst777 BT"/>
                <a:cs typeface="Courier New" panose="02070309020205020404" pitchFamily="49" charset="0"/>
                <a:hlinkClick r:id="rId3"/>
              </a:rPr>
              <a:t>https://r4ds.hadley.nz/</a:t>
            </a:r>
            <a:endParaRPr lang="pt-PT" sz="2000" dirty="0">
              <a:solidFill>
                <a:schemeClr val="tx1"/>
              </a:solidFill>
              <a:latin typeface="Humnst777 BT"/>
              <a:cs typeface="Courier New" panose="02070309020205020404" pitchFamily="49" charset="0"/>
            </a:endParaRPr>
          </a:p>
          <a:p>
            <a:pPr algn="just"/>
            <a:r>
              <a:rPr lang="pt-PT" sz="2000" dirty="0">
                <a:solidFill>
                  <a:schemeClr val="tx1"/>
                </a:solidFill>
                <a:latin typeface="Humnst777 BT"/>
                <a:cs typeface="Courier New" panose="02070309020205020404" pitchFamily="49" charset="0"/>
                <a:hlinkClick r:id="rId4"/>
              </a:rPr>
              <a:t>https://tidyverse.org/</a:t>
            </a:r>
            <a:endParaRPr lang="pt-PT" sz="2000" dirty="0">
              <a:solidFill>
                <a:schemeClr val="tx1"/>
              </a:solidFill>
              <a:latin typeface="Humnst777 BT"/>
              <a:cs typeface="Courier New" panose="02070309020205020404" pitchFamily="49" charset="0"/>
              <a:hlinkClick r:id="rId5"/>
            </a:endParaRPr>
          </a:p>
        </p:txBody>
      </p:sp>
    </p:spTree>
    <p:extLst>
      <p:ext uri="{BB962C8B-B14F-4D97-AF65-F5344CB8AC3E}">
        <p14:creationId xmlns:p14="http://schemas.microsoft.com/office/powerpoint/2010/main" val="25674921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0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Dia 1 - Transformação</a:t>
            </a:r>
          </a:p>
        </p:txBody>
      </p:sp>
      <p:sp>
        <p:nvSpPr>
          <p:cNvPr id="7" name="Text Box 39">
            <a:extLst>
              <a:ext uri="{FF2B5EF4-FFF2-40B4-BE49-F238E27FC236}">
                <a16:creationId xmlns:a16="http://schemas.microsoft.com/office/drawing/2014/main" id="{2560167D-AED5-DA49-4DD4-4C9749A7D709}"/>
              </a:ext>
            </a:extLst>
          </p:cNvPr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 dirty="0">
                <a:solidFill>
                  <a:srgbClr val="CC301F"/>
                </a:solidFill>
              </a:rPr>
              <a:t>«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2E8F571-F152-FA3A-EFF8-32C04E879C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36619892"/>
              </p:ext>
            </p:extLst>
          </p:nvPr>
        </p:nvGraphicFramePr>
        <p:xfrm>
          <a:off x="2032000" y="2132856"/>
          <a:ext cx="8128000" cy="2931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43720">
                  <a:extLst>
                    <a:ext uri="{9D8B030D-6E8A-4147-A177-3AD203B41FA5}">
                      <a16:colId xmlns:a16="http://schemas.microsoft.com/office/drawing/2014/main" val="2284436744"/>
                    </a:ext>
                  </a:extLst>
                </a:gridCol>
                <a:gridCol w="6584280">
                  <a:extLst>
                    <a:ext uri="{9D8B030D-6E8A-4147-A177-3AD203B41FA5}">
                      <a16:colId xmlns:a16="http://schemas.microsoft.com/office/drawing/2014/main" val="18679730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t-PT" dirty="0">
                          <a:latin typeface="Humnst777 BT"/>
                        </a:rPr>
                        <a:t>Horário</a:t>
                      </a:r>
                    </a:p>
                  </a:txBody>
                  <a:tcPr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pt-PT" dirty="0">
                          <a:latin typeface="Humnst777 BT"/>
                        </a:rPr>
                        <a:t>Tema</a:t>
                      </a: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973653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PT" dirty="0">
                          <a:latin typeface="Humnst777 BT"/>
                        </a:rPr>
                        <a:t>09:30 – 11:00</a:t>
                      </a:r>
                    </a:p>
                  </a:txBody>
                  <a:tcPr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pt-PT" dirty="0">
                          <a:latin typeface="Humnst777 BT"/>
                        </a:rPr>
                        <a:t>Introdução</a:t>
                      </a:r>
                    </a:p>
                    <a:p>
                      <a:r>
                        <a:rPr lang="pt-PT" dirty="0">
                          <a:latin typeface="Humnst777 BT"/>
                        </a:rPr>
                        <a:t>Vetores numéricos</a:t>
                      </a: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3245138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PT" dirty="0">
                          <a:latin typeface="Humnst777 BT"/>
                        </a:rPr>
                        <a:t>11:15 – 12:30</a:t>
                      </a:r>
                    </a:p>
                  </a:txBody>
                  <a:tcPr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pt-PT" dirty="0">
                          <a:latin typeface="Humnst777 BT"/>
                        </a:rPr>
                        <a:t>Vetores numéricos (</a:t>
                      </a:r>
                      <a:r>
                        <a:rPr lang="pt-PT" dirty="0" err="1">
                          <a:latin typeface="Humnst777 BT"/>
                        </a:rPr>
                        <a:t>cont</a:t>
                      </a:r>
                      <a:r>
                        <a:rPr lang="pt-PT" dirty="0">
                          <a:latin typeface="Humnst777 BT"/>
                        </a:rPr>
                        <a:t>.)</a:t>
                      </a:r>
                    </a:p>
                    <a:p>
                      <a:endParaRPr lang="pt-PT" dirty="0">
                        <a:latin typeface="Humnst777 BT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777302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PT" dirty="0">
                          <a:latin typeface="Humnst777 BT"/>
                        </a:rPr>
                        <a:t>14:00 – 15:00</a:t>
                      </a:r>
                    </a:p>
                  </a:txBody>
                  <a:tcPr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pt-PT" dirty="0">
                          <a:latin typeface="Humnst777 BT"/>
                        </a:rPr>
                        <a:t>Fatores</a:t>
                      </a:r>
                    </a:p>
                    <a:p>
                      <a:endParaRPr lang="pt-PT" dirty="0">
                        <a:latin typeface="Humnst777 BT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4491589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PT" dirty="0">
                          <a:latin typeface="Humnst777 BT"/>
                        </a:rPr>
                        <a:t>15:15 – 17:00</a:t>
                      </a:r>
                    </a:p>
                  </a:txBody>
                  <a:tcPr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r>
                        <a:rPr lang="pt-PT" dirty="0">
                          <a:latin typeface="Humnst777 BT"/>
                        </a:rPr>
                        <a:t>Vetores lógicos</a:t>
                      </a:r>
                    </a:p>
                    <a:p>
                      <a:endParaRPr lang="pt-PT" dirty="0">
                        <a:latin typeface="Humnst777 BT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93767202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941727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7" name="Text Box 16"/>
          <p:cNvSpPr txBox="1">
            <a:spLocks noChangeArrowheads="1"/>
          </p:cNvSpPr>
          <p:nvPr/>
        </p:nvSpPr>
        <p:spPr bwMode="auto">
          <a:xfrm>
            <a:off x="2711625" y="1557339"/>
            <a:ext cx="4968875" cy="437299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</a:t>
            </a:r>
            <a:r>
              <a:rPr lang="pt-PT" sz="1600" b="1" dirty="0">
                <a:solidFill>
                  <a:srgbClr val="003E6C"/>
                </a:solidFill>
                <a:latin typeface="Humnst777 BT" pitchFamily="34" charset="0"/>
              </a:rPr>
              <a:t>Vetores numéricos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Contagens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Transformações numéricas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Transformações genéricas</a:t>
            </a:r>
          </a:p>
          <a:p>
            <a:pPr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</a:t>
            </a:r>
            <a:r>
              <a:rPr lang="pt-PT" sz="1600" b="1" dirty="0">
                <a:solidFill>
                  <a:srgbClr val="003E6C"/>
                </a:solidFill>
                <a:latin typeface="Humnst777 BT" pitchFamily="34" charset="0"/>
              </a:rPr>
              <a:t>Fatores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Operações básicas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Base de dados </a:t>
            </a:r>
            <a:r>
              <a:rPr lang="pt-PT" sz="1600" dirty="0" err="1">
                <a:solidFill>
                  <a:srgbClr val="003E6C"/>
                </a:solidFill>
                <a:latin typeface="Humnst777 BT" pitchFamily="34" charset="0"/>
              </a:rPr>
              <a:t>gss_cat</a:t>
            </a: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Alterar ordem dos fatores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Alterar os fatores</a:t>
            </a:r>
          </a:p>
          <a:p>
            <a:pPr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b="1" dirty="0">
                <a:solidFill>
                  <a:srgbClr val="003E6C"/>
                </a:solidFill>
                <a:latin typeface="Humnst777 BT" pitchFamily="34" charset="0"/>
              </a:rPr>
              <a:t> Vetores lógicos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Comparações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Álgebra booleana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Sumarização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Transformações condicionais</a:t>
            </a:r>
          </a:p>
        </p:txBody>
      </p:sp>
      <p:sp>
        <p:nvSpPr>
          <p:cNvPr id="3080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Dia 1 - Transformação</a:t>
            </a:r>
          </a:p>
        </p:txBody>
      </p:sp>
      <p:sp>
        <p:nvSpPr>
          <p:cNvPr id="2" name="Line 10">
            <a:extLst>
              <a:ext uri="{FF2B5EF4-FFF2-40B4-BE49-F238E27FC236}">
                <a16:creationId xmlns:a16="http://schemas.microsoft.com/office/drawing/2014/main" id="{4CD33B91-A899-201A-4E83-3EF6578869EC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065214" y="1557338"/>
            <a:ext cx="6477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3" name="Line 11">
            <a:extLst>
              <a:ext uri="{FF2B5EF4-FFF2-40B4-BE49-F238E27FC236}">
                <a16:creationId xmlns:a16="http://schemas.microsoft.com/office/drawing/2014/main" id="{8F1E4C9B-F63F-19E5-CB9C-DBC853459CC5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711624" y="1557339"/>
            <a:ext cx="1289" cy="432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Box 39">
            <a:extLst>
              <a:ext uri="{FF2B5EF4-FFF2-40B4-BE49-F238E27FC236}">
                <a16:creationId xmlns:a16="http://schemas.microsoft.com/office/drawing/2014/main" id="{2560167D-AED5-DA49-4DD4-4C9749A7D709}"/>
              </a:ext>
            </a:extLst>
          </p:cNvPr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 dirty="0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4" name="Text Box 16">
            <a:extLst>
              <a:ext uri="{FF2B5EF4-FFF2-40B4-BE49-F238E27FC236}">
                <a16:creationId xmlns:a16="http://schemas.microsoft.com/office/drawing/2014/main" id="{7D379FE4-9E59-CB7E-0624-A7D1CD0A995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81164" y="1557339"/>
            <a:ext cx="3602461" cy="437299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---------------------------------- (c/ exercícios)</a:t>
            </a: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------------ (c/ exercícios)</a:t>
            </a: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-------------- c/ exercícios)</a:t>
            </a: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------------------ (c/ exercícios)</a:t>
            </a: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-------------- (c/ exercícios)</a:t>
            </a: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------------------------- (c/ exercícios)</a:t>
            </a: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------------------------------ (c/ exercícios)</a:t>
            </a: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------------------------- (c/ exercícios)</a:t>
            </a: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------------------------------- (c/ exercícios)</a:t>
            </a: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---------- (c/ exercícios)</a:t>
            </a:r>
          </a:p>
        </p:txBody>
      </p:sp>
    </p:spTree>
    <p:extLst>
      <p:ext uri="{BB962C8B-B14F-4D97-AF65-F5344CB8AC3E}">
        <p14:creationId xmlns:p14="http://schemas.microsoft.com/office/powerpoint/2010/main" val="42164305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Recapitulação</a:t>
            </a:r>
          </a:p>
        </p:txBody>
      </p:sp>
      <p:sp>
        <p:nvSpPr>
          <p:cNvPr id="9" name="Text Box 13"/>
          <p:cNvSpPr txBox="1">
            <a:spLocks noChangeArrowheads="1"/>
          </p:cNvSpPr>
          <p:nvPr/>
        </p:nvSpPr>
        <p:spPr bwMode="auto">
          <a:xfrm>
            <a:off x="2064000" y="2160000"/>
            <a:ext cx="8064000" cy="36317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filter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  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 </a:t>
            </a: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Selecionar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linhas (i.e. observações);</a:t>
            </a:r>
          </a:p>
          <a:p>
            <a:pPr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arrange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 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 Ordenar linhas (i.e. observações);</a:t>
            </a:r>
          </a:p>
          <a:p>
            <a:pPr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   </a:t>
            </a: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Selecionar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colunas (i.e. variáveis);</a:t>
            </a:r>
          </a:p>
          <a:p>
            <a:pPr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mutate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   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Criar novas colunas (i.e. variáveis);</a:t>
            </a:r>
          </a:p>
          <a:p>
            <a:pPr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summarize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Calcular estatísticas descritivas.</a:t>
            </a:r>
            <a:endParaRPr lang="pt-PT" sz="20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group_by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 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Criar grupos de observações para manipulação.</a:t>
            </a:r>
          </a:p>
          <a:p>
            <a:pPr algn="just">
              <a:buFontTx/>
              <a:buChar char="-"/>
            </a:pPr>
            <a:endParaRPr lang="pt-PT" sz="2000" dirty="0">
              <a:solidFill>
                <a:schemeClr val="tx1"/>
              </a:solidFill>
              <a:latin typeface="Humnst777 BT" pitchFamily="34" charset="0"/>
              <a:cs typeface="Courier New" panose="02070309020205020404" pitchFamily="49" charset="0"/>
            </a:endParaRPr>
          </a:p>
          <a:p>
            <a:pPr algn="just"/>
            <a:r>
              <a:rPr lang="pt-PT" sz="2000" dirty="0">
                <a:solidFill>
                  <a:schemeClr val="tx1"/>
                </a:solidFill>
                <a:latin typeface="Humnst777 BT" pitchFamily="34" charset="0"/>
                <a:cs typeface="Courier New" panose="02070309020205020404" pitchFamily="49" charset="0"/>
                <a:hlinkClick r:id="rId2"/>
              </a:rPr>
              <a:t>https://dplyr.tidyverse.org/</a:t>
            </a:r>
            <a:endParaRPr lang="pt-PT" sz="2000" dirty="0">
              <a:solidFill>
                <a:schemeClr val="tx1"/>
              </a:solidFill>
              <a:latin typeface="Humnst777 BT" pitchFamily="34" charset="0"/>
              <a:cs typeface="Courier New" panose="02070309020205020404" pitchFamily="49" charset="0"/>
            </a:endParaRPr>
          </a:p>
        </p:txBody>
      </p:sp>
      <p:sp>
        <p:nvSpPr>
          <p:cNvPr id="2" name="Text Box 376">
            <a:extLst>
              <a:ext uri="{FF2B5EF4-FFF2-40B4-BE49-F238E27FC236}">
                <a16:creationId xmlns:a16="http://schemas.microsoft.com/office/drawing/2014/main" id="{F0DEADA4-5A5D-024A-AC90-C48442A12D5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21984"/>
            <a:ext cx="7705725" cy="52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Pacote </a:t>
            </a:r>
            <a:r>
              <a:rPr lang="pt-PT" sz="28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dplyr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96320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Recapitulação</a:t>
            </a:r>
          </a:p>
        </p:txBody>
      </p:sp>
      <p:sp>
        <p:nvSpPr>
          <p:cNvPr id="2" name="Text Box 376">
            <a:extLst>
              <a:ext uri="{FF2B5EF4-FFF2-40B4-BE49-F238E27FC236}">
                <a16:creationId xmlns:a16="http://schemas.microsoft.com/office/drawing/2014/main" id="{B3E0D27C-D272-A2B8-5E71-A5A90C749A9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21984"/>
            <a:ext cx="7705725" cy="52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Pacote </a:t>
            </a:r>
            <a:r>
              <a:rPr lang="pt-PT" sz="28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dplyr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  <p:sp>
        <p:nvSpPr>
          <p:cNvPr id="3" name="Text Box 13">
            <a:extLst>
              <a:ext uri="{FF2B5EF4-FFF2-40B4-BE49-F238E27FC236}">
                <a16:creationId xmlns:a16="http://schemas.microsoft.com/office/drawing/2014/main" id="{A9C32175-D614-E958-3360-7D2094899F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15804" y="2153756"/>
            <a:ext cx="7560392" cy="393954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rgbClr val="7030A0"/>
                </a:solidFill>
                <a:latin typeface="Courier New" pitchFamily="49" charset="0"/>
                <a:cs typeface="Courier New" pitchFamily="49" charset="0"/>
              </a:rPr>
              <a:t>library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tidyverse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algn="just">
              <a:spcBef>
                <a:spcPts val="600"/>
              </a:spcBef>
            </a:pPr>
            <a:endParaRPr lang="pt-PT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?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diamonds</a:t>
            </a:r>
            <a:endParaRPr lang="pt-PT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endParaRPr lang="pt-PT" sz="1200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diamonds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|&gt;                    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use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data 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diamonds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select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price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carat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cut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|&gt; 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select 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price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", 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carat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and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"cut"</a:t>
            </a:r>
            <a:r>
              <a:rPr lang="pt-PT" sz="1200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</a:t>
            </a:r>
            <a:endParaRPr lang="pt-PT" sz="1200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filter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carat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&lt;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3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|&gt;         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filter for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smaller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diamonds</a:t>
            </a:r>
            <a:endParaRPr lang="pt-PT" sz="1200" b="1" dirty="0">
              <a:solidFill>
                <a:srgbClr val="00B050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mutate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lprice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log10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price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 |&gt;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create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variable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lprice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group_by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cut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|&gt;             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group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by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"cut"</a:t>
            </a: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summarize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mean_lprice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mean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lprice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calculate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mean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of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lprice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mean_carat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mean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carat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  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calculate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mean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of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carat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) |&gt;</a:t>
            </a: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arrange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desc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mean_lprice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   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arrange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by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mean_lprice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</a:p>
          <a:p>
            <a:pPr algn="just">
              <a:spcBef>
                <a:spcPts val="600"/>
              </a:spcBef>
            </a:pPr>
            <a:endParaRPr lang="pt-PT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52844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Recapitulação</a:t>
            </a:r>
          </a:p>
        </p:txBody>
      </p:sp>
      <p:sp>
        <p:nvSpPr>
          <p:cNvPr id="2" name="Text Box 376">
            <a:extLst>
              <a:ext uri="{FF2B5EF4-FFF2-40B4-BE49-F238E27FC236}">
                <a16:creationId xmlns:a16="http://schemas.microsoft.com/office/drawing/2014/main" id="{B3E0D27C-D272-A2B8-5E71-A5A90C749A9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21984"/>
            <a:ext cx="7705725" cy="52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Pacote </a:t>
            </a:r>
            <a:r>
              <a:rPr lang="pt-PT" sz="28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dplyr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  <p:sp>
        <p:nvSpPr>
          <p:cNvPr id="3" name="Text Box 13">
            <a:extLst>
              <a:ext uri="{FF2B5EF4-FFF2-40B4-BE49-F238E27FC236}">
                <a16:creationId xmlns:a16="http://schemas.microsoft.com/office/drawing/2014/main" id="{A9C32175-D614-E958-3360-7D2094899F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15804" y="2153756"/>
            <a:ext cx="7560392" cy="393954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# A </a:t>
            </a:r>
            <a:r>
              <a:rPr lang="en-US" sz="1200" b="1" dirty="0" err="1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tibble</a:t>
            </a:r>
            <a:r>
              <a:rPr lang="en-US" sz="1200" b="1" dirty="0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: 5 × 3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cut       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mean_lprice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mean_carat</a:t>
            </a:r>
            <a:endParaRPr lang="en-US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  &lt;</a:t>
            </a:r>
            <a:r>
              <a:rPr lang="en-US" sz="1200" b="1" dirty="0" err="1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ord</a:t>
            </a:r>
            <a:r>
              <a:rPr lang="en-US" sz="1200" b="1" dirty="0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&gt;           &lt;</a:t>
            </a:r>
            <a:r>
              <a:rPr lang="en-US" sz="1200" b="1" dirty="0" err="1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dbl</a:t>
            </a:r>
            <a:r>
              <a:rPr lang="en-US" sz="1200" b="1" dirty="0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&gt;      &lt;</a:t>
            </a:r>
            <a:r>
              <a:rPr lang="en-US" sz="1200" b="1" dirty="0" err="1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dbl</a:t>
            </a:r>
            <a:r>
              <a:rPr lang="en-US" sz="1200" b="1" dirty="0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&gt;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1 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Fair             3.51      1.03 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2 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Premium          3.45      0.889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3 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Good             3.41      0.847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4 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Very Good        3.39      0.806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5 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Ideal            3.32      0.702</a:t>
            </a:r>
          </a:p>
          <a:p>
            <a:pPr algn="just">
              <a:spcBef>
                <a:spcPts val="600"/>
              </a:spcBef>
            </a:pPr>
            <a:endParaRPr lang="en-US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endParaRPr lang="en-US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endParaRPr lang="en-US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endParaRPr lang="en-US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endParaRPr lang="en-US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endParaRPr lang="en-US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endParaRPr lang="en-US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959552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0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Dia 2 - Exploração</a:t>
            </a:r>
          </a:p>
        </p:txBody>
      </p:sp>
      <p:sp>
        <p:nvSpPr>
          <p:cNvPr id="7" name="Text Box 39">
            <a:extLst>
              <a:ext uri="{FF2B5EF4-FFF2-40B4-BE49-F238E27FC236}">
                <a16:creationId xmlns:a16="http://schemas.microsoft.com/office/drawing/2014/main" id="{011B0E89-4F52-C331-46AC-BBA6713F7F6B}"/>
              </a:ext>
            </a:extLst>
          </p:cNvPr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 dirty="0">
                <a:solidFill>
                  <a:srgbClr val="CC301F"/>
                </a:solidFill>
              </a:rPr>
              <a:t>«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BCDED4F7-8FA3-9785-9726-2C2ED3F9FF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8993336"/>
              </p:ext>
            </p:extLst>
          </p:nvPr>
        </p:nvGraphicFramePr>
        <p:xfrm>
          <a:off x="2032000" y="2132856"/>
          <a:ext cx="8128000" cy="2931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43720">
                  <a:extLst>
                    <a:ext uri="{9D8B030D-6E8A-4147-A177-3AD203B41FA5}">
                      <a16:colId xmlns:a16="http://schemas.microsoft.com/office/drawing/2014/main" val="2284436744"/>
                    </a:ext>
                  </a:extLst>
                </a:gridCol>
                <a:gridCol w="6584280">
                  <a:extLst>
                    <a:ext uri="{9D8B030D-6E8A-4147-A177-3AD203B41FA5}">
                      <a16:colId xmlns:a16="http://schemas.microsoft.com/office/drawing/2014/main" val="18679730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t-PT" dirty="0">
                          <a:latin typeface="Humnst777 BT"/>
                        </a:rPr>
                        <a:t>Horário</a:t>
                      </a:r>
                    </a:p>
                  </a:txBody>
                  <a:tcPr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pt-PT" dirty="0">
                          <a:latin typeface="Humnst777 BT"/>
                        </a:rPr>
                        <a:t>Tema</a:t>
                      </a: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973653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PT" dirty="0">
                          <a:latin typeface="Humnst777 BT"/>
                        </a:rPr>
                        <a:t>09:30 – 11:00</a:t>
                      </a:r>
                    </a:p>
                  </a:txBody>
                  <a:tcPr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pt-PT" dirty="0">
                          <a:latin typeface="Humnst777 BT"/>
                        </a:rPr>
                        <a:t>Estatísticas descritivas</a:t>
                      </a:r>
                    </a:p>
                    <a:p>
                      <a:r>
                        <a:rPr lang="pt-PT" dirty="0">
                          <a:latin typeface="Humnst777 BT"/>
                        </a:rPr>
                        <a:t>Variação</a:t>
                      </a: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3245138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PT" dirty="0">
                          <a:latin typeface="Humnst777 BT"/>
                        </a:rPr>
                        <a:t>11:15 – 12:30</a:t>
                      </a:r>
                    </a:p>
                  </a:txBody>
                  <a:tcPr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pt-PT" dirty="0">
                          <a:latin typeface="Humnst777 BT"/>
                        </a:rPr>
                        <a:t>Valores em falta</a:t>
                      </a:r>
                    </a:p>
                    <a:p>
                      <a:endParaRPr lang="pt-PT" dirty="0">
                        <a:latin typeface="Humnst777 BT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777302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PT" dirty="0">
                          <a:latin typeface="Humnst777 BT"/>
                        </a:rPr>
                        <a:t>14:00 – 15:00</a:t>
                      </a:r>
                    </a:p>
                  </a:txBody>
                  <a:tcPr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pt-PT" dirty="0">
                          <a:latin typeface="Humnst777 BT"/>
                        </a:rPr>
                        <a:t>Covariação</a:t>
                      </a:r>
                    </a:p>
                    <a:p>
                      <a:endParaRPr lang="pt-PT" dirty="0">
                        <a:latin typeface="Humnst777 BT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4491589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PT" dirty="0">
                          <a:latin typeface="Humnst777 BT"/>
                        </a:rPr>
                        <a:t>15:15 – 17:00</a:t>
                      </a:r>
                    </a:p>
                  </a:txBody>
                  <a:tcPr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r>
                        <a:rPr lang="pt-PT" dirty="0">
                          <a:latin typeface="Humnst777 BT"/>
                        </a:rPr>
                        <a:t>Covariação (</a:t>
                      </a:r>
                      <a:r>
                        <a:rPr lang="pt-PT" dirty="0" err="1">
                          <a:latin typeface="Humnst777 BT"/>
                        </a:rPr>
                        <a:t>cont</a:t>
                      </a:r>
                      <a:r>
                        <a:rPr lang="pt-PT" dirty="0">
                          <a:latin typeface="Humnst777 BT"/>
                        </a:rPr>
                        <a:t>.)</a:t>
                      </a:r>
                    </a:p>
                    <a:p>
                      <a:r>
                        <a:rPr lang="pt-PT" dirty="0">
                          <a:latin typeface="Humnst777 BT"/>
                        </a:rPr>
                        <a:t>Padrões e modelos</a:t>
                      </a: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93767202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702149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7" name="Text Box 16"/>
          <p:cNvSpPr txBox="1">
            <a:spLocks noChangeArrowheads="1"/>
          </p:cNvSpPr>
          <p:nvPr/>
        </p:nvSpPr>
        <p:spPr bwMode="auto">
          <a:xfrm>
            <a:off x="2711625" y="1557339"/>
            <a:ext cx="4968875" cy="40626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</a:t>
            </a:r>
            <a:r>
              <a:rPr lang="pt-PT" sz="1600" b="1" dirty="0">
                <a:solidFill>
                  <a:srgbClr val="003E6C"/>
                </a:solidFill>
                <a:latin typeface="Humnst777 BT" pitchFamily="34" charset="0"/>
              </a:rPr>
              <a:t>Estatísticas descritivas</a:t>
            </a:r>
          </a:p>
          <a:p>
            <a:pPr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b="1" dirty="0">
                <a:solidFill>
                  <a:srgbClr val="003E6C"/>
                </a:solidFill>
                <a:latin typeface="Humnst777 BT" pitchFamily="34" charset="0"/>
              </a:rPr>
              <a:t> Variação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Valores típicos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Valores invulgares</a:t>
            </a:r>
          </a:p>
          <a:p>
            <a:pPr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</a:t>
            </a:r>
            <a:r>
              <a:rPr lang="pt-PT" sz="1600" b="1" dirty="0">
                <a:solidFill>
                  <a:srgbClr val="003E6C"/>
                </a:solidFill>
                <a:latin typeface="Humnst777 BT" pitchFamily="34" charset="0"/>
              </a:rPr>
              <a:t>Valores em falta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Explícitos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Implícitos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Fatores e grupos vazios</a:t>
            </a:r>
          </a:p>
          <a:p>
            <a:pPr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b="1" dirty="0">
                <a:solidFill>
                  <a:srgbClr val="003E6C"/>
                </a:solidFill>
                <a:latin typeface="Humnst777 BT" pitchFamily="34" charset="0"/>
              </a:rPr>
              <a:t> Covariação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Uma categórica e uma numérica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Duas categóricas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Duas numéricas</a:t>
            </a:r>
          </a:p>
          <a:p>
            <a:pPr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</a:t>
            </a:r>
            <a:r>
              <a:rPr lang="pt-PT" sz="1600" b="1" dirty="0">
                <a:solidFill>
                  <a:srgbClr val="003E6C"/>
                </a:solidFill>
                <a:latin typeface="Humnst777 BT" pitchFamily="34" charset="0"/>
              </a:rPr>
              <a:t>Padrões e modelos</a:t>
            </a:r>
          </a:p>
        </p:txBody>
      </p:sp>
      <p:sp>
        <p:nvSpPr>
          <p:cNvPr id="3080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Dia 2 - Exploração</a:t>
            </a:r>
          </a:p>
        </p:txBody>
      </p:sp>
      <p:sp>
        <p:nvSpPr>
          <p:cNvPr id="2" name="Line 10">
            <a:extLst>
              <a:ext uri="{FF2B5EF4-FFF2-40B4-BE49-F238E27FC236}">
                <a16:creationId xmlns:a16="http://schemas.microsoft.com/office/drawing/2014/main" id="{4CD33B91-A899-201A-4E83-3EF6578869EC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065214" y="1557338"/>
            <a:ext cx="6477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3" name="Line 11">
            <a:extLst>
              <a:ext uri="{FF2B5EF4-FFF2-40B4-BE49-F238E27FC236}">
                <a16:creationId xmlns:a16="http://schemas.microsoft.com/office/drawing/2014/main" id="{8F1E4C9B-F63F-19E5-CB9C-DBC853459CC5}"/>
              </a:ext>
            </a:extLst>
          </p:cNvPr>
          <p:cNvSpPr>
            <a:spLocks noChangeShapeType="1"/>
          </p:cNvSpPr>
          <p:nvPr/>
        </p:nvSpPr>
        <p:spPr bwMode="auto">
          <a:xfrm>
            <a:off x="2712914" y="1557338"/>
            <a:ext cx="372" cy="396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Box 39">
            <a:extLst>
              <a:ext uri="{FF2B5EF4-FFF2-40B4-BE49-F238E27FC236}">
                <a16:creationId xmlns:a16="http://schemas.microsoft.com/office/drawing/2014/main" id="{011B0E89-4F52-C331-46AC-BBA6713F7F6B}"/>
              </a:ext>
            </a:extLst>
          </p:cNvPr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 dirty="0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4" name="Text Box 16">
            <a:extLst>
              <a:ext uri="{FF2B5EF4-FFF2-40B4-BE49-F238E27FC236}">
                <a16:creationId xmlns:a16="http://schemas.microsoft.com/office/drawing/2014/main" id="{745442AA-E9E8-3EE2-26EE-20BE7137CDF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81166" y="1557339"/>
            <a:ext cx="3602460" cy="40626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r">
              <a:spcBef>
                <a:spcPts val="500"/>
              </a:spcBef>
              <a:buClr>
                <a:srgbClr val="CC0000"/>
              </a:buClr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------------------------- (c/ exercícios)</a:t>
            </a: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----------------------------- (c/ exercícios)</a:t>
            </a: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----------------------------------- (c/ exercícios)</a:t>
            </a: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----------------------------------- (c/ exercícios)</a:t>
            </a: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----- (c/ exercícios)</a:t>
            </a: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------------------------- (c/ exercícios)</a:t>
            </a: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-------------------------- (c/ exercícios)</a:t>
            </a: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----------------------------- (c/ exercícios)</a:t>
            </a:r>
          </a:p>
        </p:txBody>
      </p:sp>
    </p:spTree>
    <p:extLst>
      <p:ext uri="{BB962C8B-B14F-4D97-AF65-F5344CB8AC3E}">
        <p14:creationId xmlns:p14="http://schemas.microsoft.com/office/powerpoint/2010/main" val="23075174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17415" name="Text Box 376"/>
          <p:cNvSpPr txBox="1">
            <a:spLocks noChangeArrowheads="1"/>
          </p:cNvSpPr>
          <p:nvPr/>
        </p:nvSpPr>
        <p:spPr bwMode="auto">
          <a:xfrm>
            <a:off x="2206626" y="1521984"/>
            <a:ext cx="7705725" cy="52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Pacote </a:t>
            </a:r>
            <a:r>
              <a:rPr lang="pt-PT" sz="28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ggplot2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Recapitulação</a:t>
            </a:r>
          </a:p>
        </p:txBody>
      </p:sp>
      <p:sp>
        <p:nvSpPr>
          <p:cNvPr id="9" name="Text Box 13"/>
          <p:cNvSpPr txBox="1">
            <a:spLocks noChangeArrowheads="1"/>
          </p:cNvSpPr>
          <p:nvPr/>
        </p:nvSpPr>
        <p:spPr bwMode="auto">
          <a:xfrm>
            <a:off x="2064000" y="2160000"/>
            <a:ext cx="7920432" cy="36317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Data;</a:t>
            </a:r>
          </a:p>
          <a:p>
            <a:pPr marL="342900" indent="-342900" algn="just">
              <a:buFontTx/>
              <a:buChar char="-"/>
            </a:pP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Aesthetic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mapping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(</a:t>
            </a:r>
            <a:r>
              <a:rPr lang="pt-PT" sz="2000" b="1" dirty="0" err="1">
                <a:solidFill>
                  <a:schemeClr val="tx1"/>
                </a:solidFill>
                <a:latin typeface="Humnst777 BT" pitchFamily="34" charset="0"/>
              </a:rPr>
              <a:t>aes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);</a:t>
            </a:r>
          </a:p>
          <a:p>
            <a:pPr marL="342900" indent="-342900" algn="just">
              <a:buFontTx/>
              <a:buChar char="-"/>
            </a:pP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Geometric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object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(</a:t>
            </a:r>
            <a:r>
              <a:rPr lang="pt-PT" sz="2000" b="1" dirty="0" err="1">
                <a:solidFill>
                  <a:schemeClr val="tx1"/>
                </a:solidFill>
                <a:latin typeface="Humnst777 BT" pitchFamily="34" charset="0"/>
              </a:rPr>
              <a:t>geom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);</a:t>
            </a:r>
          </a:p>
          <a:p>
            <a:pPr marL="342900" indent="-342900" algn="just">
              <a:buFontTx/>
              <a:buChar char="-"/>
            </a:pP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Statistical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transformation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(</a:t>
            </a:r>
            <a:r>
              <a:rPr lang="pt-PT" sz="2000" b="1" dirty="0" err="1">
                <a:solidFill>
                  <a:schemeClr val="tx1"/>
                </a:solidFill>
                <a:latin typeface="Humnst777 BT" pitchFamily="34" charset="0"/>
              </a:rPr>
              <a:t>stat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);</a:t>
            </a:r>
          </a:p>
          <a:p>
            <a:pPr marL="342900" indent="-342900" algn="just">
              <a:buFontTx/>
              <a:buChar char="-"/>
            </a:pP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Scale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;</a:t>
            </a:r>
          </a:p>
          <a:p>
            <a:pPr marL="342900" indent="-342900" algn="just">
              <a:buFontTx/>
              <a:buChar char="-"/>
            </a:pP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Themes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.</a:t>
            </a:r>
          </a:p>
          <a:p>
            <a:pPr algn="just"/>
            <a:endParaRPr lang="pt-PT" sz="2000" dirty="0">
              <a:solidFill>
                <a:schemeClr val="tx1"/>
              </a:solidFill>
              <a:latin typeface="Humnst777 BT" pitchFamily="34" charset="0"/>
            </a:endParaRPr>
          </a:p>
          <a:p>
            <a:pPr algn="just"/>
            <a:r>
              <a:rPr lang="pt-PT" sz="2000" dirty="0">
                <a:solidFill>
                  <a:schemeClr val="tx1"/>
                </a:solidFill>
                <a:latin typeface="Humnst777 BT" pitchFamily="34" charset="0"/>
                <a:hlinkClick r:id="rId2"/>
              </a:rPr>
              <a:t>https://ggplot2.tidyverse.org/</a:t>
            </a:r>
            <a:endParaRPr lang="pt-PT" sz="2000" dirty="0">
              <a:solidFill>
                <a:schemeClr val="tx1"/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001841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Recapitulação</a:t>
            </a:r>
          </a:p>
        </p:txBody>
      </p:sp>
      <p:sp>
        <p:nvSpPr>
          <p:cNvPr id="2" name="Text Box 376">
            <a:extLst>
              <a:ext uri="{FF2B5EF4-FFF2-40B4-BE49-F238E27FC236}">
                <a16:creationId xmlns:a16="http://schemas.microsoft.com/office/drawing/2014/main" id="{B3E0D27C-D272-A2B8-5E71-A5A90C749A9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21984"/>
            <a:ext cx="7705725" cy="52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Pacote </a:t>
            </a:r>
            <a:r>
              <a:rPr lang="pt-PT" sz="28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ggplot2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  <p:sp>
        <p:nvSpPr>
          <p:cNvPr id="3" name="Text Box 13">
            <a:extLst>
              <a:ext uri="{FF2B5EF4-FFF2-40B4-BE49-F238E27FC236}">
                <a16:creationId xmlns:a16="http://schemas.microsoft.com/office/drawing/2014/main" id="{A9C32175-D614-E958-3360-7D2094899F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15804" y="2153756"/>
            <a:ext cx="7560392" cy="393954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set.seed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1984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algn="just">
              <a:spcBef>
                <a:spcPts val="600"/>
              </a:spcBef>
            </a:pPr>
            <a:endParaRPr lang="pt-PT" sz="1200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diamonds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|&gt;                         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use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data 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diamonds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“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filter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carat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3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|&gt;              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filter for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smaller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diamonds</a:t>
            </a:r>
            <a:endParaRPr lang="pt-PT" sz="1200" b="1" dirty="0">
              <a:solidFill>
                <a:srgbClr val="00B050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slice_sample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n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500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by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cut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|&gt;    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sample for 500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obs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per "cut"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ggplot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aes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carat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y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price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color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cut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aesthetics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mapping</a:t>
            </a:r>
            <a:endParaRPr lang="pt-PT" sz="1200" b="1" dirty="0">
              <a:solidFill>
                <a:srgbClr val="00B050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geom_point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alpha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0.1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size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+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geometric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object</a:t>
            </a:r>
            <a:endParaRPr lang="pt-PT" sz="1200" b="1" dirty="0">
              <a:solidFill>
                <a:srgbClr val="00B050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stat_smooth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                      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statistical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transformation</a:t>
            </a:r>
            <a:endParaRPr lang="pt-PT" sz="1200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method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"lm"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formula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"y ~ x + I(x^2) + I(x^3)"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se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7030A0"/>
                </a:solidFill>
                <a:latin typeface="Courier New" pitchFamily="49" charset="0"/>
                <a:cs typeface="Courier New" pitchFamily="49" charset="0"/>
              </a:rPr>
              <a:t>FALSE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+</a:t>
            </a:r>
            <a:endParaRPr lang="pt-PT" sz="1200" b="1" dirty="0">
              <a:solidFill>
                <a:srgbClr val="00B050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scale_x_continuous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trans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"log10"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scale for x-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axis</a:t>
            </a:r>
            <a:endParaRPr lang="pt-PT" sz="1200" b="1" dirty="0">
              <a:solidFill>
                <a:srgbClr val="00B050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scale_y_continuous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trans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"log10"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scale for y-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axis</a:t>
            </a:r>
            <a:endParaRPr lang="pt-PT" sz="1200" b="1" dirty="0">
              <a:solidFill>
                <a:srgbClr val="00B050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labs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Weight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y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"Price"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color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"Cut"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scale for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labels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theme_minimal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()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               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change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theme</a:t>
            </a:r>
            <a:endParaRPr lang="pt-PT" sz="1200" b="1" dirty="0">
              <a:solidFill>
                <a:srgbClr val="00B050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26586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graph with lines and dots&#10;&#10;Description automatically generated with medium confidence">
            <a:extLst>
              <a:ext uri="{FF2B5EF4-FFF2-40B4-BE49-F238E27FC236}">
                <a16:creationId xmlns:a16="http://schemas.microsoft.com/office/drawing/2014/main" id="{5B2E28D7-2814-1A37-EA2B-9400B4741F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02846" y="2133600"/>
            <a:ext cx="6186309" cy="4064926"/>
          </a:xfrm>
          <a:prstGeom prst="rect">
            <a:avLst/>
          </a:prstGeom>
        </p:spPr>
      </p:pic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Recapitulação</a:t>
            </a:r>
          </a:p>
        </p:txBody>
      </p:sp>
      <p:sp>
        <p:nvSpPr>
          <p:cNvPr id="2" name="Text Box 376">
            <a:extLst>
              <a:ext uri="{FF2B5EF4-FFF2-40B4-BE49-F238E27FC236}">
                <a16:creationId xmlns:a16="http://schemas.microsoft.com/office/drawing/2014/main" id="{B3E0D27C-D272-A2B8-5E71-A5A90C749A9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21984"/>
            <a:ext cx="7705725" cy="52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Pacote </a:t>
            </a:r>
            <a:r>
              <a:rPr lang="pt-PT" sz="28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ggplot2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8932999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0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Dia 3 - Modelação</a:t>
            </a:r>
          </a:p>
        </p:txBody>
      </p:sp>
      <p:sp>
        <p:nvSpPr>
          <p:cNvPr id="4" name="Text Box 39">
            <a:extLst>
              <a:ext uri="{FF2B5EF4-FFF2-40B4-BE49-F238E27FC236}">
                <a16:creationId xmlns:a16="http://schemas.microsoft.com/office/drawing/2014/main" id="{E39B369C-2491-251B-2DFE-4302AB7FD700}"/>
              </a:ext>
            </a:extLst>
          </p:cNvPr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 dirty="0">
                <a:solidFill>
                  <a:srgbClr val="CC301F"/>
                </a:solidFill>
              </a:rPr>
              <a:t>«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1C1056B1-204C-30DA-5BFD-482BBA6885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9092465"/>
              </p:ext>
            </p:extLst>
          </p:nvPr>
        </p:nvGraphicFramePr>
        <p:xfrm>
          <a:off x="2032000" y="2132856"/>
          <a:ext cx="8128000" cy="2931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43720">
                  <a:extLst>
                    <a:ext uri="{9D8B030D-6E8A-4147-A177-3AD203B41FA5}">
                      <a16:colId xmlns:a16="http://schemas.microsoft.com/office/drawing/2014/main" val="2284436744"/>
                    </a:ext>
                  </a:extLst>
                </a:gridCol>
                <a:gridCol w="6584280">
                  <a:extLst>
                    <a:ext uri="{9D8B030D-6E8A-4147-A177-3AD203B41FA5}">
                      <a16:colId xmlns:a16="http://schemas.microsoft.com/office/drawing/2014/main" val="18679730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t-PT" dirty="0">
                          <a:latin typeface="Humnst777 BT"/>
                        </a:rPr>
                        <a:t>Horário</a:t>
                      </a:r>
                    </a:p>
                  </a:txBody>
                  <a:tcPr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pt-PT" dirty="0">
                          <a:latin typeface="Humnst777 BT"/>
                        </a:rPr>
                        <a:t>Tema</a:t>
                      </a: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973653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PT" dirty="0">
                          <a:latin typeface="Humnst777 BT"/>
                        </a:rPr>
                        <a:t>09:30 – 11:00</a:t>
                      </a:r>
                    </a:p>
                  </a:txBody>
                  <a:tcPr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pt-PT" dirty="0">
                          <a:latin typeface="Humnst777 BT"/>
                        </a:rPr>
                        <a:t>Introdução</a:t>
                      </a:r>
                    </a:p>
                    <a:p>
                      <a:r>
                        <a:rPr lang="pt-PT" dirty="0">
                          <a:latin typeface="Humnst777 BT"/>
                        </a:rPr>
                        <a:t>Construir modelo simples</a:t>
                      </a: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3245138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PT" dirty="0">
                          <a:latin typeface="Humnst777 BT"/>
                        </a:rPr>
                        <a:t>11:15 – 12:30</a:t>
                      </a:r>
                    </a:p>
                  </a:txBody>
                  <a:tcPr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pt-PT" dirty="0">
                          <a:latin typeface="Humnst777 BT"/>
                        </a:rPr>
                        <a:t>Construir modelo com </a:t>
                      </a:r>
                      <a:r>
                        <a:rPr lang="pt-PT" i="1" dirty="0" err="1">
                          <a:latin typeface="Humnst777 BT"/>
                        </a:rPr>
                        <a:t>workflow</a:t>
                      </a:r>
                      <a:endParaRPr lang="pt-PT" i="1" dirty="0">
                        <a:latin typeface="Humnst777 BT"/>
                      </a:endParaRPr>
                    </a:p>
                    <a:p>
                      <a:endParaRPr lang="pt-PT" dirty="0">
                        <a:latin typeface="Humnst777 BT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777302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PT" dirty="0">
                          <a:latin typeface="Humnst777 BT"/>
                        </a:rPr>
                        <a:t>14:00 – 15:00</a:t>
                      </a:r>
                    </a:p>
                  </a:txBody>
                  <a:tcPr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pt-PT" dirty="0">
                          <a:latin typeface="Humnst777 BT"/>
                        </a:rPr>
                        <a:t>Construir modelo com </a:t>
                      </a:r>
                      <a:r>
                        <a:rPr lang="pt-PT" i="1" dirty="0" err="1">
                          <a:latin typeface="Humnst777 BT"/>
                        </a:rPr>
                        <a:t>workflow</a:t>
                      </a:r>
                      <a:r>
                        <a:rPr lang="pt-PT" dirty="0">
                          <a:latin typeface="Humnst777 BT"/>
                        </a:rPr>
                        <a:t> (</a:t>
                      </a:r>
                      <a:r>
                        <a:rPr lang="pt-PT" dirty="0" err="1">
                          <a:latin typeface="Humnst777 BT"/>
                        </a:rPr>
                        <a:t>cont</a:t>
                      </a:r>
                      <a:r>
                        <a:rPr lang="pt-PT" dirty="0">
                          <a:latin typeface="Humnst777 BT"/>
                        </a:rPr>
                        <a:t>.)</a:t>
                      </a:r>
                    </a:p>
                    <a:p>
                      <a:r>
                        <a:rPr lang="pt-PT" dirty="0">
                          <a:latin typeface="Humnst777 BT"/>
                        </a:rPr>
                        <a:t>Construir vários modelos com </a:t>
                      </a:r>
                      <a:r>
                        <a:rPr lang="pt-PT" i="1" dirty="0" err="1">
                          <a:latin typeface="Humnst777 BT"/>
                        </a:rPr>
                        <a:t>workflow</a:t>
                      </a:r>
                      <a:endParaRPr lang="pt-PT" i="1" dirty="0">
                        <a:latin typeface="Humnst777 BT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4491589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PT" dirty="0">
                          <a:latin typeface="Humnst777 BT"/>
                        </a:rPr>
                        <a:t>15:15 – 17:00</a:t>
                      </a:r>
                    </a:p>
                  </a:txBody>
                  <a:tcPr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r>
                        <a:rPr lang="pt-PT" dirty="0">
                          <a:latin typeface="Humnst777 BT"/>
                        </a:rPr>
                        <a:t>Construir vários modelos com </a:t>
                      </a:r>
                      <a:r>
                        <a:rPr lang="pt-PT" i="1" dirty="0" err="1">
                          <a:latin typeface="Humnst777 BT"/>
                        </a:rPr>
                        <a:t>workflow</a:t>
                      </a:r>
                      <a:r>
                        <a:rPr lang="pt-PT" dirty="0">
                          <a:latin typeface="Humnst777 BT"/>
                        </a:rPr>
                        <a:t> (</a:t>
                      </a:r>
                      <a:r>
                        <a:rPr lang="pt-PT" dirty="0" err="1">
                          <a:latin typeface="Humnst777 BT"/>
                        </a:rPr>
                        <a:t>cont</a:t>
                      </a:r>
                      <a:r>
                        <a:rPr lang="pt-PT" dirty="0">
                          <a:latin typeface="Humnst777 BT"/>
                        </a:rPr>
                        <a:t>.)</a:t>
                      </a:r>
                    </a:p>
                    <a:p>
                      <a:r>
                        <a:rPr lang="pt-PT" dirty="0">
                          <a:latin typeface="Humnst777 BT"/>
                        </a:rPr>
                        <a:t>Informações finais</a:t>
                      </a: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93767202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53624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7" name="Text Box 16"/>
          <p:cNvSpPr txBox="1">
            <a:spLocks noChangeArrowheads="1"/>
          </p:cNvSpPr>
          <p:nvPr/>
        </p:nvSpPr>
        <p:spPr bwMode="auto">
          <a:xfrm>
            <a:off x="2711625" y="1557339"/>
            <a:ext cx="4968875" cy="474745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</a:t>
            </a:r>
            <a:r>
              <a:rPr lang="pt-PT" sz="1500" b="1" dirty="0">
                <a:solidFill>
                  <a:srgbClr val="003E6C"/>
                </a:solidFill>
                <a:latin typeface="Humnst777 BT" pitchFamily="34" charset="0"/>
              </a:rPr>
              <a:t>Construir modelo simples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Explorar dados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Ajustar e avaliar modelo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Usar modelo para previsão</a:t>
            </a:r>
          </a:p>
          <a:p>
            <a:pPr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</a:t>
            </a:r>
            <a:r>
              <a:rPr lang="pt-PT" sz="1500" b="1" dirty="0">
                <a:solidFill>
                  <a:srgbClr val="003E6C"/>
                </a:solidFill>
                <a:latin typeface="Humnst777 BT" pitchFamily="34" charset="0"/>
              </a:rPr>
              <a:t>Construir modelo com </a:t>
            </a:r>
            <a:r>
              <a:rPr lang="pt-PT" sz="1500" b="1" i="1" dirty="0" err="1">
                <a:solidFill>
                  <a:srgbClr val="003E6C"/>
                </a:solidFill>
                <a:latin typeface="Humnst777 BT" pitchFamily="34" charset="0"/>
              </a:rPr>
              <a:t>workflow</a:t>
            </a:r>
            <a:endParaRPr lang="pt-PT" sz="1500" b="1" i="1" dirty="0">
              <a:solidFill>
                <a:srgbClr val="003E6C"/>
              </a:solidFill>
              <a:latin typeface="Humnst777 BT" pitchFamily="34" charset="0"/>
            </a:endParaRP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Explorar dados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Dividir dados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Criar </a:t>
            </a:r>
            <a:r>
              <a:rPr lang="pt-PT" sz="1500" i="1" dirty="0" err="1">
                <a:solidFill>
                  <a:srgbClr val="003E6C"/>
                </a:solidFill>
                <a:latin typeface="Humnst777 BT" pitchFamily="34" charset="0"/>
              </a:rPr>
              <a:t>workflow</a:t>
            </a:r>
            <a:endParaRPr lang="pt-PT" sz="1500" i="1" dirty="0">
              <a:solidFill>
                <a:srgbClr val="003E6C"/>
              </a:solidFill>
              <a:latin typeface="Humnst777 BT" pitchFamily="34" charset="0"/>
            </a:endParaRP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Ajustar modelo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Avaliar modelo</a:t>
            </a:r>
          </a:p>
          <a:p>
            <a:pPr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500" b="1" dirty="0">
                <a:solidFill>
                  <a:srgbClr val="003E6C"/>
                </a:solidFill>
                <a:latin typeface="Humnst777 BT" pitchFamily="34" charset="0"/>
              </a:rPr>
              <a:t> Construir vários modelos com </a:t>
            </a:r>
            <a:r>
              <a:rPr lang="pt-PT" sz="1500" b="1" i="1" dirty="0" err="1">
                <a:solidFill>
                  <a:srgbClr val="003E6C"/>
                </a:solidFill>
                <a:latin typeface="Humnst777 BT" pitchFamily="34" charset="0"/>
              </a:rPr>
              <a:t>workflow</a:t>
            </a:r>
            <a:endParaRPr lang="pt-PT" sz="1500" b="1" i="1" dirty="0">
              <a:solidFill>
                <a:srgbClr val="003E6C"/>
              </a:solidFill>
              <a:latin typeface="Humnst777 BT" pitchFamily="34" charset="0"/>
            </a:endParaRP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Explorar dados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Dividir dados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Criar </a:t>
            </a:r>
            <a:r>
              <a:rPr lang="pt-PT" sz="1500" i="1" dirty="0" err="1">
                <a:solidFill>
                  <a:srgbClr val="003E6C"/>
                </a:solidFill>
                <a:latin typeface="Humnst777 BT" pitchFamily="34" charset="0"/>
              </a:rPr>
              <a:t>workflow</a:t>
            </a: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e afinar modelo 1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Criar </a:t>
            </a:r>
            <a:r>
              <a:rPr lang="pt-PT" sz="1500" i="1" dirty="0" err="1">
                <a:solidFill>
                  <a:srgbClr val="003E6C"/>
                </a:solidFill>
                <a:latin typeface="Humnst777 BT" pitchFamily="34" charset="0"/>
              </a:rPr>
              <a:t>workflow</a:t>
            </a: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e afinar modelo 2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Ajustar e avaliar o melhor modelo</a:t>
            </a:r>
          </a:p>
        </p:txBody>
      </p:sp>
      <p:sp>
        <p:nvSpPr>
          <p:cNvPr id="3080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Dia 3 - Modelação</a:t>
            </a:r>
          </a:p>
        </p:txBody>
      </p:sp>
      <p:sp>
        <p:nvSpPr>
          <p:cNvPr id="2" name="Line 10">
            <a:extLst>
              <a:ext uri="{FF2B5EF4-FFF2-40B4-BE49-F238E27FC236}">
                <a16:creationId xmlns:a16="http://schemas.microsoft.com/office/drawing/2014/main" id="{4CD33B91-A899-201A-4E83-3EF6578869EC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065214" y="1557338"/>
            <a:ext cx="6477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3" name="Line 11">
            <a:extLst>
              <a:ext uri="{FF2B5EF4-FFF2-40B4-BE49-F238E27FC236}">
                <a16:creationId xmlns:a16="http://schemas.microsoft.com/office/drawing/2014/main" id="{8F1E4C9B-F63F-19E5-CB9C-DBC853459CC5}"/>
              </a:ext>
            </a:extLst>
          </p:cNvPr>
          <p:cNvSpPr>
            <a:spLocks noChangeShapeType="1"/>
          </p:cNvSpPr>
          <p:nvPr/>
        </p:nvSpPr>
        <p:spPr bwMode="auto">
          <a:xfrm>
            <a:off x="2712914" y="1557338"/>
            <a:ext cx="372" cy="450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Box 39">
            <a:extLst>
              <a:ext uri="{FF2B5EF4-FFF2-40B4-BE49-F238E27FC236}">
                <a16:creationId xmlns:a16="http://schemas.microsoft.com/office/drawing/2014/main" id="{18E9901F-A625-5978-C8B9-7AB1C93843DE}"/>
              </a:ext>
            </a:extLst>
          </p:cNvPr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 dirty="0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4" name="Text Box 16">
            <a:extLst>
              <a:ext uri="{FF2B5EF4-FFF2-40B4-BE49-F238E27FC236}">
                <a16:creationId xmlns:a16="http://schemas.microsoft.com/office/drawing/2014/main" id="{CA297767-53D3-DAE7-A6FA-8A84C3E5823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81166" y="1557339"/>
            <a:ext cx="3602460" cy="474745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-------------------- (c/ exercícios)</a:t>
            </a: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---------------- (c/ exercícios)</a:t>
            </a: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-------------------------------- (c/ exercícios)</a:t>
            </a: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------------------------------- (c/ exercícios)</a:t>
            </a: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-------------------------------- (c/ exercícios)</a:t>
            </a: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------- (c/ exercícios)</a:t>
            </a: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------- (c/ exercícios)</a:t>
            </a: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------- (c/ exercícios)</a:t>
            </a:r>
          </a:p>
        </p:txBody>
      </p:sp>
    </p:spTree>
    <p:extLst>
      <p:ext uri="{BB962C8B-B14F-4D97-AF65-F5344CB8AC3E}">
        <p14:creationId xmlns:p14="http://schemas.microsoft.com/office/powerpoint/2010/main" val="293349026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3" name="Rectangle 38">
            <a:extLst>
              <a:ext uri="{FF2B5EF4-FFF2-40B4-BE49-F238E27FC236}">
                <a16:creationId xmlns:a16="http://schemas.microsoft.com/office/drawing/2014/main" id="{0C38659E-44D2-1F8B-7063-017B1A96E1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Recapitulação</a:t>
            </a:r>
          </a:p>
        </p:txBody>
      </p:sp>
      <p:sp>
        <p:nvSpPr>
          <p:cNvPr id="4" name="Text Box 13">
            <a:extLst>
              <a:ext uri="{FF2B5EF4-FFF2-40B4-BE49-F238E27FC236}">
                <a16:creationId xmlns:a16="http://schemas.microsoft.com/office/drawing/2014/main" id="{46A14C6A-AFDD-4709-CE5D-8CB0945F56C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64000" y="2160000"/>
            <a:ext cx="7920432" cy="40934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Data;</a:t>
            </a:r>
          </a:p>
          <a:p>
            <a:pPr marL="342900" indent="-342900"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Formula (e.g. 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formula()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);</a:t>
            </a:r>
          </a:p>
          <a:p>
            <a:pPr marL="342900" indent="-342900" algn="just">
              <a:buFontTx/>
              <a:buChar char="-"/>
            </a:pP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Fit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model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(</a:t>
            </a: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eg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. 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lm()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, </a:t>
            </a:r>
            <a:r>
              <a:rPr lang="pt-PT" sz="20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glm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, </a:t>
            </a:r>
            <a:r>
              <a:rPr lang="pt-PT" sz="20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aov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, …);</a:t>
            </a:r>
          </a:p>
          <a:p>
            <a:pPr marL="342900" indent="-342900" algn="just">
              <a:buFontTx/>
              <a:buChar char="-"/>
            </a:pP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Extract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parametes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(</a:t>
            </a: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eg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. </a:t>
            </a:r>
            <a:r>
              <a:rPr lang="pt-PT" sz="20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residuals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, </a:t>
            </a:r>
            <a:r>
              <a:rPr lang="pt-PT" sz="20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predicted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, </a:t>
            </a:r>
            <a:r>
              <a:rPr lang="pt-PT" sz="20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coef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, …);</a:t>
            </a:r>
          </a:p>
          <a:p>
            <a:pPr marL="342900" indent="-342900" algn="just">
              <a:buFontTx/>
              <a:buChar char="-"/>
            </a:pP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Testing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assumptions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(</a:t>
            </a: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eg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. </a:t>
            </a:r>
            <a:r>
              <a:rPr lang="pt-PT" sz="20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plot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, …);</a:t>
            </a:r>
          </a:p>
          <a:p>
            <a:pPr marL="342900" indent="-342900" algn="just">
              <a:buFontTx/>
              <a:buChar char="-"/>
            </a:pP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Evaluate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model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(</a:t>
            </a: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eg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. </a:t>
            </a:r>
            <a:r>
              <a:rPr lang="pt-PT" sz="20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summary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, 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AIC()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, </a:t>
            </a:r>
            <a:r>
              <a:rPr lang="pt-PT" sz="20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logLik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, …).</a:t>
            </a:r>
          </a:p>
          <a:p>
            <a:pPr algn="just"/>
            <a:endParaRPr lang="pt-PT" sz="2000" dirty="0">
              <a:solidFill>
                <a:schemeClr val="tx1"/>
              </a:solidFill>
              <a:latin typeface="Humnst777 BT" pitchFamily="34" charset="0"/>
              <a:hlinkClick r:id="rId3"/>
            </a:endParaRPr>
          </a:p>
          <a:p>
            <a:pPr algn="just"/>
            <a:r>
              <a:rPr lang="pt-PT" sz="2000" dirty="0">
                <a:solidFill>
                  <a:schemeClr val="tx1"/>
                </a:solidFill>
                <a:latin typeface="Humnst777 BT" pitchFamily="34" charset="0"/>
                <a:hlinkClick r:id="rId3"/>
              </a:rPr>
              <a:t>https://www.tmwr.org</a:t>
            </a:r>
          </a:p>
          <a:p>
            <a:pPr algn="just"/>
            <a:r>
              <a:rPr lang="pt-PT" sz="2000" dirty="0">
                <a:solidFill>
                  <a:schemeClr val="tx1"/>
                </a:solidFill>
                <a:latin typeface="Humnst777 BT" pitchFamily="34" charset="0"/>
                <a:hlinkClick r:id="rId4"/>
              </a:rPr>
              <a:t>https://www.tidymodels.org/</a:t>
            </a:r>
            <a:endParaRPr lang="pt-PT" sz="2000" dirty="0">
              <a:solidFill>
                <a:schemeClr val="tx1"/>
              </a:solidFill>
              <a:latin typeface="Humnst777 BT" pitchFamily="34" charset="0"/>
            </a:endParaRPr>
          </a:p>
        </p:txBody>
      </p:sp>
      <p:sp>
        <p:nvSpPr>
          <p:cNvPr id="5" name="Text Box 376">
            <a:extLst>
              <a:ext uri="{FF2B5EF4-FFF2-40B4-BE49-F238E27FC236}">
                <a16:creationId xmlns:a16="http://schemas.microsoft.com/office/drawing/2014/main" id="{5857582F-6E27-D19A-1E20-9F3CB0B387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21984"/>
            <a:ext cx="7705725" cy="52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Pacote </a:t>
            </a:r>
            <a:r>
              <a:rPr lang="pt-PT" sz="28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stats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: funções </a:t>
            </a:r>
            <a:r>
              <a:rPr lang="pt-PT" sz="28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lm()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 e </a:t>
            </a:r>
            <a:r>
              <a:rPr lang="pt-PT" sz="28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summary</a:t>
            </a:r>
            <a:r>
              <a:rPr lang="pt-PT" sz="28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600348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Modelos</a:t>
            </a:r>
          </a:p>
        </p:txBody>
      </p:sp>
      <p:sp>
        <p:nvSpPr>
          <p:cNvPr id="3" name="Text Box 13">
            <a:extLst>
              <a:ext uri="{FF2B5EF4-FFF2-40B4-BE49-F238E27FC236}">
                <a16:creationId xmlns:a16="http://schemas.microsoft.com/office/drawing/2014/main" id="{A9C32175-D614-E958-3360-7D2094899F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15804" y="2153756"/>
            <a:ext cx="7560392" cy="393954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beta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c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(-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.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6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.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03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tb_lm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tibble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x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runif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min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18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max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60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y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beta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[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]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beta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[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]*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rnorm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20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mean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sd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.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algn="just">
              <a:spcBef>
                <a:spcPts val="600"/>
              </a:spcBef>
            </a:pPr>
            <a:endParaRPr lang="pt-PT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res_lm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lm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y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~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x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data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tb_lm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tb_lm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|&gt;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mutate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preds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predict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res_lm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resids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residuals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res_lm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|&gt;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ggplot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aes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y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y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geom_point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() +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stat_smooth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method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"lm"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formula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"y ~ x"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se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7030A0"/>
                </a:solidFill>
                <a:latin typeface="Courier New" pitchFamily="49" charset="0"/>
                <a:cs typeface="Courier New" pitchFamily="49" charset="0"/>
              </a:rPr>
              <a:t>FALSE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color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blue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geom_segment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aes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xend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yend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preds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color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red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algn="just">
              <a:spcBef>
                <a:spcPts val="600"/>
              </a:spcBef>
            </a:pPr>
            <a:endParaRPr lang="pt-PT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endParaRPr lang="pt-PT" sz="1200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4" name="Text Box 376">
            <a:extLst>
              <a:ext uri="{FF2B5EF4-FFF2-40B4-BE49-F238E27FC236}">
                <a16:creationId xmlns:a16="http://schemas.microsoft.com/office/drawing/2014/main" id="{DF7D90EC-3CA4-678A-C3F4-4E823A162F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21983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Regressão linear simples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5912832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7606ECA-7BCD-4CEF-684F-09FB8A798C4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06034" y="2133600"/>
            <a:ext cx="6186309" cy="4064926"/>
          </a:xfrm>
          <a:prstGeom prst="rect">
            <a:avLst/>
          </a:prstGeom>
        </p:spPr>
      </p:pic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Modelos</a:t>
            </a:r>
          </a:p>
        </p:txBody>
      </p:sp>
      <p:sp>
        <p:nvSpPr>
          <p:cNvPr id="4" name="Text Box 376">
            <a:extLst>
              <a:ext uri="{FF2B5EF4-FFF2-40B4-BE49-F238E27FC236}">
                <a16:creationId xmlns:a16="http://schemas.microsoft.com/office/drawing/2014/main" id="{DF7D90EC-3CA4-678A-C3F4-4E823A162F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21983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Regressão linear simples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213349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Modelos</a:t>
            </a:r>
          </a:p>
        </p:txBody>
      </p:sp>
      <p:sp>
        <p:nvSpPr>
          <p:cNvPr id="3" name="Text Box 13">
            <a:extLst>
              <a:ext uri="{FF2B5EF4-FFF2-40B4-BE49-F238E27FC236}">
                <a16:creationId xmlns:a16="http://schemas.microsoft.com/office/drawing/2014/main" id="{A9C32175-D614-E958-3360-7D2094899F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15804" y="2153756"/>
            <a:ext cx="7560392" cy="393954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beta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c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(-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.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6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 0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.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03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-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1.0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tb_lm2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tibble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x1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runif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min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18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max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60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x2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rbinom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size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prob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.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5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y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beta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[</a:t>
            </a:r>
            <a:r>
              <a:rPr lang="pt-PT" sz="1200" b="1" dirty="0">
                <a:solidFill>
                  <a:schemeClr val="accent1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]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beta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[</a:t>
            </a:r>
            <a:r>
              <a:rPr lang="pt-PT" sz="1200" b="1" dirty="0">
                <a:solidFill>
                  <a:schemeClr val="accent1"/>
                </a:solidFill>
                <a:latin typeface="Courier New" pitchFamily="49" charset="0"/>
                <a:cs typeface="Courier New" pitchFamily="49" charset="0"/>
              </a:rPr>
              <a:t>2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]*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x1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beta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[</a:t>
            </a:r>
            <a:r>
              <a:rPr lang="pt-PT" sz="1200" b="1" dirty="0">
                <a:solidFill>
                  <a:schemeClr val="accent1"/>
                </a:solidFill>
                <a:latin typeface="Courier New" pitchFamily="49" charset="0"/>
                <a:cs typeface="Courier New" pitchFamily="49" charset="0"/>
              </a:rPr>
              <a:t>3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]*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x2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rnorm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20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mean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sd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.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res_lm2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lm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y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~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x1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x2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data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tb_lm2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&lt;-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coef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res_lm2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  <a:endParaRPr lang="pt-PT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tb_lm2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|&gt;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mutate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x2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factor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x2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preds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predict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res_lm2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resids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residuals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res_lm2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|&gt;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ggplot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aes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y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y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color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x2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 +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geom_point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() +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geom_abline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slope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[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],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intercept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[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],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color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blue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+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geom_abline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slope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[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],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intercept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sum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[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3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]),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color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blue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+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geom_segment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aes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xend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yend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preds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color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red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sp>
        <p:nvSpPr>
          <p:cNvPr id="4" name="Text Box 376">
            <a:extLst>
              <a:ext uri="{FF2B5EF4-FFF2-40B4-BE49-F238E27FC236}">
                <a16:creationId xmlns:a16="http://schemas.microsoft.com/office/drawing/2014/main" id="{DF7D90EC-3CA4-678A-C3F4-4E823A162F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21983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Regressão linear múltipla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1675644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01D5FF26-4442-4905-4857-9B725AEAFA1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02845" y="2133600"/>
            <a:ext cx="6186309" cy="4064926"/>
          </a:xfrm>
          <a:prstGeom prst="rect">
            <a:avLst/>
          </a:prstGeom>
        </p:spPr>
      </p:pic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Modelos</a:t>
            </a:r>
          </a:p>
        </p:txBody>
      </p:sp>
      <p:sp>
        <p:nvSpPr>
          <p:cNvPr id="4" name="Text Box 376">
            <a:extLst>
              <a:ext uri="{FF2B5EF4-FFF2-40B4-BE49-F238E27FC236}">
                <a16:creationId xmlns:a16="http://schemas.microsoft.com/office/drawing/2014/main" id="{DF7D90EC-3CA4-678A-C3F4-4E823A162F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21983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Regressão linear múltipla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7405728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Modelos</a:t>
            </a:r>
          </a:p>
        </p:txBody>
      </p:sp>
      <p:sp>
        <p:nvSpPr>
          <p:cNvPr id="3" name="Text Box 13">
            <a:extLst>
              <a:ext uri="{FF2B5EF4-FFF2-40B4-BE49-F238E27FC236}">
                <a16:creationId xmlns:a16="http://schemas.microsoft.com/office/drawing/2014/main" id="{A9C32175-D614-E958-3360-7D2094899F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15804" y="2153756"/>
            <a:ext cx="7560392" cy="393954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beta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c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-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6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.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15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tb_glm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tibble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x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runif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min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18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max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60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</a:t>
            </a: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z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 </a:t>
            </a:r>
            <a:r>
              <a:rPr lang="sv-SE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beta</a:t>
            </a:r>
            <a:r>
              <a:rPr lang="sv-SE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[</a:t>
            </a:r>
            <a:r>
              <a:rPr lang="sv-SE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sv-SE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]</a:t>
            </a:r>
            <a:r>
              <a:rPr lang="sv-SE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sv-SE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sv-SE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beta</a:t>
            </a:r>
            <a:r>
              <a:rPr lang="sv-SE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[</a:t>
            </a:r>
            <a:r>
              <a:rPr lang="sv-SE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</a:t>
            </a:r>
            <a:r>
              <a:rPr lang="sv-SE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]*</a:t>
            </a:r>
            <a:r>
              <a:rPr lang="sv-SE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</a:t>
            </a:r>
            <a:r>
              <a:rPr lang="sv-SE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sv-SE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     </a:t>
            </a:r>
            <a:r>
              <a:rPr lang="sv-SE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 z = [-Inf, Inf]</a:t>
            </a:r>
            <a:endParaRPr lang="pt-PT" sz="1200" dirty="0">
              <a:solidFill>
                <a:srgbClr val="00B050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sv-SE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p_y </a:t>
            </a:r>
            <a:r>
              <a:rPr lang="sv-SE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sv-SE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exp</a:t>
            </a:r>
            <a:r>
              <a:rPr lang="sv-SE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z</a:t>
            </a:r>
            <a:r>
              <a:rPr lang="sv-SE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)/(</a:t>
            </a:r>
            <a:r>
              <a:rPr lang="sv-SE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sv-SE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sv-SE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sv-SE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exp</a:t>
            </a:r>
            <a:r>
              <a:rPr lang="sv-SE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z</a:t>
            </a:r>
            <a:r>
              <a:rPr lang="sv-SE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)),       </a:t>
            </a:r>
            <a:r>
              <a:rPr lang="sv-SE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 p_y = [0, 1]</a:t>
            </a:r>
            <a:endParaRPr lang="pt-PT" sz="1200" b="1" dirty="0">
              <a:solidFill>
                <a:srgbClr val="00B050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y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rbinom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size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prob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p_y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 y = {0, 1}</a:t>
            </a: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</a:p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res_glm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glm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y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~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x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binomial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link=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logit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data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tb_glm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tb_glm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|&gt;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mutate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preds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predict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res_glm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type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resp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resids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residuals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res_glm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|&gt;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ggplot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aes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y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y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geom_point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() +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stat_smooth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method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glm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formula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"y ~ x"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se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7030A0"/>
                </a:solidFill>
                <a:latin typeface="Courier New" pitchFamily="49" charset="0"/>
                <a:cs typeface="Courier New" pitchFamily="49" charset="0"/>
              </a:rPr>
              <a:t>FALSE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color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blue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method.args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list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family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"binomial"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 +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geom_segment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aes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xend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yend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preds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color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red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sp>
        <p:nvSpPr>
          <p:cNvPr id="4" name="Text Box 376">
            <a:extLst>
              <a:ext uri="{FF2B5EF4-FFF2-40B4-BE49-F238E27FC236}">
                <a16:creationId xmlns:a16="http://schemas.microsoft.com/office/drawing/2014/main" id="{DF7D90EC-3CA4-678A-C3F4-4E823A162F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21983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Regressão logística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3700415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44D4D51-0623-C1C3-C092-6851F07A8F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25637" y="2122903"/>
            <a:ext cx="6186309" cy="4064926"/>
          </a:xfrm>
          <a:prstGeom prst="rect">
            <a:avLst/>
          </a:prstGeom>
        </p:spPr>
      </p:pic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Modelos</a:t>
            </a:r>
          </a:p>
        </p:txBody>
      </p:sp>
      <p:sp>
        <p:nvSpPr>
          <p:cNvPr id="4" name="Text Box 376">
            <a:extLst>
              <a:ext uri="{FF2B5EF4-FFF2-40B4-BE49-F238E27FC236}">
                <a16:creationId xmlns:a16="http://schemas.microsoft.com/office/drawing/2014/main" id="{DF7D90EC-3CA4-678A-C3F4-4E823A162F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21983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Regressão logística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379886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Modelos</a:t>
            </a:r>
          </a:p>
        </p:txBody>
      </p:sp>
      <p:sp>
        <p:nvSpPr>
          <p:cNvPr id="3" name="Text Box 13">
            <a:extLst>
              <a:ext uri="{FF2B5EF4-FFF2-40B4-BE49-F238E27FC236}">
                <a16:creationId xmlns:a16="http://schemas.microsoft.com/office/drawing/2014/main" id="{A9C32175-D614-E958-3360-7D2094899F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15804" y="2153756"/>
            <a:ext cx="7560392" cy="393954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beta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c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(-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6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 0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.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25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-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.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tb_ml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tibble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x1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runif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40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min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18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max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60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x2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runif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40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min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18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max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60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z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beta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[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] + 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beta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[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]*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x1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 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beta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[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3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]*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x2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p_y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exp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z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)/(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exp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z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)),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y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factor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rbinom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40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size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prob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p_y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</a:t>
            </a:r>
            <a:endParaRPr lang="pt-PT" sz="1200" b="1" dirty="0">
              <a:solidFill>
                <a:srgbClr val="00B050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</a:t>
            </a:r>
          </a:p>
          <a:p>
            <a:pPr algn="just">
              <a:spcBef>
                <a:spcPts val="600"/>
              </a:spcBef>
            </a:pPr>
            <a:endParaRPr lang="pt-PT" sz="1200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tb_ml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|&gt;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ggplot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aes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y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x2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color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y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geom_point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() +</a:t>
            </a:r>
          </a:p>
          <a:p>
            <a:pPr algn="just">
              <a:spcBef>
                <a:spcPts val="600"/>
              </a:spcBef>
            </a:pP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geom_abline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intercept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=-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beta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[</a:t>
            </a:r>
            <a:r>
              <a:rPr lang="en-US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]/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beta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[</a:t>
            </a:r>
            <a:r>
              <a:rPr lang="en-US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3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],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slope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=-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beta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[</a:t>
            </a:r>
            <a:r>
              <a:rPr lang="en-US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]/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beta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[</a:t>
            </a:r>
            <a:r>
              <a:rPr lang="en-US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3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],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linetype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en-US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"dashed"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color=</a:t>
            </a:r>
            <a:r>
              <a:rPr lang="en-US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en-US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darkgray</a:t>
            </a:r>
            <a:r>
              <a:rPr lang="en-US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</a:t>
            </a:r>
          </a:p>
          <a:p>
            <a:pPr algn="just">
              <a:spcBef>
                <a:spcPts val="600"/>
              </a:spcBef>
            </a:pPr>
            <a:endParaRPr lang="pt-PT" sz="1200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4" name="Text Box 376">
            <a:extLst>
              <a:ext uri="{FF2B5EF4-FFF2-40B4-BE49-F238E27FC236}">
                <a16:creationId xmlns:a16="http://schemas.microsoft.com/office/drawing/2014/main" id="{DF7D90EC-3CA4-678A-C3F4-4E823A162F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21983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i="1" dirty="0" err="1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Machine</a:t>
            </a:r>
            <a:r>
              <a:rPr lang="pt-PT" sz="2800" i="1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 </a:t>
            </a:r>
            <a:r>
              <a:rPr lang="pt-PT" sz="2800" i="1" dirty="0" err="1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Learning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: Dados</a:t>
            </a:r>
            <a:endParaRPr lang="pt-PT" sz="2800" b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6930944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4E8045F-3116-35D6-50EE-08667E5A27A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79648" y="2149758"/>
            <a:ext cx="6186309" cy="4064926"/>
          </a:xfrm>
          <a:prstGeom prst="rect">
            <a:avLst/>
          </a:prstGeom>
        </p:spPr>
      </p:pic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Modelos</a:t>
            </a:r>
          </a:p>
        </p:txBody>
      </p:sp>
      <p:sp>
        <p:nvSpPr>
          <p:cNvPr id="4" name="Text Box 376">
            <a:extLst>
              <a:ext uri="{FF2B5EF4-FFF2-40B4-BE49-F238E27FC236}">
                <a16:creationId xmlns:a16="http://schemas.microsoft.com/office/drawing/2014/main" id="{DF7D90EC-3CA4-678A-C3F4-4E823A162F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21983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i="1" dirty="0" err="1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Machine</a:t>
            </a:r>
            <a:r>
              <a:rPr lang="pt-PT" sz="2800" i="1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 </a:t>
            </a:r>
            <a:r>
              <a:rPr lang="pt-PT" sz="2800" i="1" dirty="0" err="1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Learning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: Dados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9360964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41076E-B8CE-BE66-7463-BD4BA377B3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>
            <a:extLst>
              <a:ext uri="{FF2B5EF4-FFF2-40B4-BE49-F238E27FC236}">
                <a16:creationId xmlns:a16="http://schemas.microsoft.com/office/drawing/2014/main" id="{56BC6236-A143-C97D-77CA-B8C956B97EFA}"/>
              </a:ext>
            </a:extLst>
          </p:cNvPr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>
            <a:extLst>
              <a:ext uri="{FF2B5EF4-FFF2-40B4-BE49-F238E27FC236}">
                <a16:creationId xmlns:a16="http://schemas.microsoft.com/office/drawing/2014/main" id="{060E1B81-C50D-BF70-2B0D-CCDE627D4C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>
            <a:extLst>
              <a:ext uri="{FF2B5EF4-FFF2-40B4-BE49-F238E27FC236}">
                <a16:creationId xmlns:a16="http://schemas.microsoft.com/office/drawing/2014/main" id="{41E08636-42A7-99A2-4CD6-9D6D8F59F3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>
            <a:extLst>
              <a:ext uri="{FF2B5EF4-FFF2-40B4-BE49-F238E27FC236}">
                <a16:creationId xmlns:a16="http://schemas.microsoft.com/office/drawing/2014/main" id="{AE64D192-637F-33B3-4B78-39C5D424D4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Modelos</a:t>
            </a:r>
          </a:p>
        </p:txBody>
      </p:sp>
      <p:sp>
        <p:nvSpPr>
          <p:cNvPr id="3" name="Text Box 13">
            <a:extLst>
              <a:ext uri="{FF2B5EF4-FFF2-40B4-BE49-F238E27FC236}">
                <a16:creationId xmlns:a16="http://schemas.microsoft.com/office/drawing/2014/main" id="{A1D9BDCF-1806-094E-B6B1-76758D89CF4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15804" y="2153756"/>
            <a:ext cx="7560392" cy="393954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rgbClr val="7030A0"/>
                </a:solidFill>
                <a:latin typeface="Courier New" pitchFamily="49" charset="0"/>
                <a:cs typeface="Courier New" pitchFamily="49" charset="0"/>
              </a:rPr>
              <a:t>library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rpart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rgbClr val="7030A0"/>
                </a:solidFill>
                <a:latin typeface="Courier New" pitchFamily="49" charset="0"/>
                <a:cs typeface="Courier New" pitchFamily="49" charset="0"/>
              </a:rPr>
              <a:t>library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rpart.plot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algn="just">
              <a:spcBef>
                <a:spcPts val="600"/>
              </a:spcBef>
            </a:pPr>
            <a:endParaRPr lang="pt-PT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res_rf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rpart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y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~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x1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x2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data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tb_ml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method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class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control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rpart.control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minsplit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6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 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en-US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minimum number of observations for a split</a:t>
            </a:r>
            <a:endParaRPr lang="pt-PT" sz="1200" b="1" dirty="0">
              <a:solidFill>
                <a:srgbClr val="00B050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minbucket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#minimum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number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of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observations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in a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leaf</a:t>
            </a:r>
            <a:endParaRPr lang="pt-PT" sz="1200" b="1" dirty="0">
              <a:solidFill>
                <a:srgbClr val="00B050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maxdepth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30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en-US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maximum depth of the tree</a:t>
            </a:r>
            <a:endParaRPr lang="pt-PT" sz="1200" b="1" dirty="0">
              <a:solidFill>
                <a:srgbClr val="00B050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table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predict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res_rf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type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en-US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"class"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 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tb_ml</a:t>
            </a:r>
            <a:r>
              <a:rPr lang="en-US" sz="1200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$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y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  <a:endParaRPr lang="pt-PT" sz="1200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   0  1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#0 22  2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#1  1 15</a:t>
            </a:r>
          </a:p>
          <a:p>
            <a:pPr algn="just">
              <a:spcBef>
                <a:spcPts val="600"/>
              </a:spcBef>
            </a:pPr>
            <a:endParaRPr lang="pt-PT" sz="1200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rpart.plot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res_rf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extra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101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digits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3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box.palette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RdBu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sp>
        <p:nvSpPr>
          <p:cNvPr id="4" name="Text Box 376">
            <a:extLst>
              <a:ext uri="{FF2B5EF4-FFF2-40B4-BE49-F238E27FC236}">
                <a16:creationId xmlns:a16="http://schemas.microsoft.com/office/drawing/2014/main" id="{D9938055-AFE2-80F2-5A59-3F74E4EB269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21983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i="1" dirty="0" err="1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Machine</a:t>
            </a:r>
            <a:r>
              <a:rPr lang="pt-PT" sz="2800" i="1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 </a:t>
            </a:r>
            <a:r>
              <a:rPr lang="pt-PT" sz="2800" i="1" dirty="0" err="1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Learning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: Árvores de decisão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0934824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5F5B74-F02B-133F-2CED-63B1881503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B723A6D-6007-FA6C-ECA6-3819207E105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9655" y="2133600"/>
            <a:ext cx="6186309" cy="4064926"/>
          </a:xfrm>
          <a:prstGeom prst="rect">
            <a:avLst/>
          </a:prstGeom>
        </p:spPr>
      </p:pic>
      <p:sp>
        <p:nvSpPr>
          <p:cNvPr id="17413" name="Text Box 39">
            <a:extLst>
              <a:ext uri="{FF2B5EF4-FFF2-40B4-BE49-F238E27FC236}">
                <a16:creationId xmlns:a16="http://schemas.microsoft.com/office/drawing/2014/main" id="{51DD8C3B-3A28-A3E2-ECE0-2C7BC4C42F69}"/>
              </a:ext>
            </a:extLst>
          </p:cNvPr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>
            <a:extLst>
              <a:ext uri="{FF2B5EF4-FFF2-40B4-BE49-F238E27FC236}">
                <a16:creationId xmlns:a16="http://schemas.microsoft.com/office/drawing/2014/main" id="{B6D9BC0D-057E-A9AF-1335-3CF16E6FE8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>
            <a:extLst>
              <a:ext uri="{FF2B5EF4-FFF2-40B4-BE49-F238E27FC236}">
                <a16:creationId xmlns:a16="http://schemas.microsoft.com/office/drawing/2014/main" id="{84936C53-18AA-0256-933A-8780302E06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>
            <a:extLst>
              <a:ext uri="{FF2B5EF4-FFF2-40B4-BE49-F238E27FC236}">
                <a16:creationId xmlns:a16="http://schemas.microsoft.com/office/drawing/2014/main" id="{1F158B33-AF7E-3B2A-C5E0-96BF8D24E6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Modelos</a:t>
            </a:r>
          </a:p>
        </p:txBody>
      </p:sp>
      <p:sp>
        <p:nvSpPr>
          <p:cNvPr id="4" name="Text Box 376">
            <a:extLst>
              <a:ext uri="{FF2B5EF4-FFF2-40B4-BE49-F238E27FC236}">
                <a16:creationId xmlns:a16="http://schemas.microsoft.com/office/drawing/2014/main" id="{C810C02C-D71C-96CF-6DC3-4D8F8BDD137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21983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i="1" dirty="0" err="1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Machine</a:t>
            </a:r>
            <a:r>
              <a:rPr lang="pt-PT" sz="2800" i="1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 </a:t>
            </a:r>
            <a:r>
              <a:rPr lang="pt-PT" sz="2800" i="1" dirty="0" err="1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Learning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: Árvores de decisão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043499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4DC64E-0B55-6391-C9CC-FD93AC1CD0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F6B5431-765C-7BF0-11BE-83162D026B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78042" y="2133600"/>
            <a:ext cx="6186309" cy="4064926"/>
          </a:xfrm>
          <a:prstGeom prst="rect">
            <a:avLst/>
          </a:prstGeom>
        </p:spPr>
      </p:pic>
      <p:sp>
        <p:nvSpPr>
          <p:cNvPr id="17413" name="Text Box 39">
            <a:extLst>
              <a:ext uri="{FF2B5EF4-FFF2-40B4-BE49-F238E27FC236}">
                <a16:creationId xmlns:a16="http://schemas.microsoft.com/office/drawing/2014/main" id="{1929334E-A1F5-EFDE-8F8E-4FF42552316E}"/>
              </a:ext>
            </a:extLst>
          </p:cNvPr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>
            <a:extLst>
              <a:ext uri="{FF2B5EF4-FFF2-40B4-BE49-F238E27FC236}">
                <a16:creationId xmlns:a16="http://schemas.microsoft.com/office/drawing/2014/main" id="{906C8396-A7D1-7000-D8D0-1839B35B5A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>
            <a:extLst>
              <a:ext uri="{FF2B5EF4-FFF2-40B4-BE49-F238E27FC236}">
                <a16:creationId xmlns:a16="http://schemas.microsoft.com/office/drawing/2014/main" id="{9D5D5427-1773-9EC3-FD3C-21B0FB5268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>
            <a:extLst>
              <a:ext uri="{FF2B5EF4-FFF2-40B4-BE49-F238E27FC236}">
                <a16:creationId xmlns:a16="http://schemas.microsoft.com/office/drawing/2014/main" id="{045DD69A-345C-1593-5D4B-CE4B5A6DF1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Modelos</a:t>
            </a:r>
          </a:p>
        </p:txBody>
      </p:sp>
      <p:sp>
        <p:nvSpPr>
          <p:cNvPr id="4" name="Text Box 376">
            <a:extLst>
              <a:ext uri="{FF2B5EF4-FFF2-40B4-BE49-F238E27FC236}">
                <a16:creationId xmlns:a16="http://schemas.microsoft.com/office/drawing/2014/main" id="{80F0D5EE-91E3-EC1E-D23E-08EDB06230C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21983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i="1" dirty="0" err="1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Machine</a:t>
            </a:r>
            <a:r>
              <a:rPr lang="pt-PT" sz="2800" i="1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 </a:t>
            </a:r>
            <a:r>
              <a:rPr lang="pt-PT" sz="2800" i="1" dirty="0" err="1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Learning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: Árvores de decisão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6840324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CCDFA2-E7FC-5FEA-9D1D-4CC3E7AC82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>
            <a:extLst>
              <a:ext uri="{FF2B5EF4-FFF2-40B4-BE49-F238E27FC236}">
                <a16:creationId xmlns:a16="http://schemas.microsoft.com/office/drawing/2014/main" id="{86C89C83-5018-44EF-AED6-6F35916CE445}"/>
              </a:ext>
            </a:extLst>
          </p:cNvPr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>
            <a:extLst>
              <a:ext uri="{FF2B5EF4-FFF2-40B4-BE49-F238E27FC236}">
                <a16:creationId xmlns:a16="http://schemas.microsoft.com/office/drawing/2014/main" id="{B309D9A1-C1AD-4067-42D3-9BBE41ECAA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>
            <a:extLst>
              <a:ext uri="{FF2B5EF4-FFF2-40B4-BE49-F238E27FC236}">
                <a16:creationId xmlns:a16="http://schemas.microsoft.com/office/drawing/2014/main" id="{E61BAA68-AE16-7EA8-1AB0-36BFBC8A36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>
            <a:extLst>
              <a:ext uri="{FF2B5EF4-FFF2-40B4-BE49-F238E27FC236}">
                <a16:creationId xmlns:a16="http://schemas.microsoft.com/office/drawing/2014/main" id="{371E49CF-354B-CFEB-C970-5A063EACB7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Modelos</a:t>
            </a:r>
          </a:p>
        </p:txBody>
      </p:sp>
      <p:sp>
        <p:nvSpPr>
          <p:cNvPr id="3" name="Text Box 13">
            <a:extLst>
              <a:ext uri="{FF2B5EF4-FFF2-40B4-BE49-F238E27FC236}">
                <a16:creationId xmlns:a16="http://schemas.microsoft.com/office/drawing/2014/main" id="{DAD0929C-855F-3483-7A5F-29177A44434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15804" y="2153756"/>
            <a:ext cx="7560392" cy="393954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rgbClr val="7030A0"/>
                </a:solidFill>
                <a:latin typeface="Courier New" pitchFamily="49" charset="0"/>
                <a:cs typeface="Courier New" pitchFamily="49" charset="0"/>
              </a:rPr>
              <a:t>library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nnet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rgbClr val="7030A0"/>
                </a:solidFill>
                <a:latin typeface="Courier New" pitchFamily="49" charset="0"/>
                <a:cs typeface="Courier New" pitchFamily="49" charset="0"/>
              </a:rPr>
              <a:t>library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NeuralNetTools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algn="just">
              <a:spcBef>
                <a:spcPts val="600"/>
              </a:spcBef>
            </a:pPr>
            <a:endParaRPr lang="pt-PT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res_nnet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nnet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y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~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x1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x2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data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tb_ml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size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#number of units in hidden layer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decay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</a:t>
            </a:r>
            <a:r>
              <a:rPr lang="en-US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#weigth decay 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maxit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en-US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100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#maximum number of iterations</a:t>
            </a:r>
            <a:endParaRPr lang="pt-PT" sz="1200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table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predict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res_nnet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type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en-US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"class"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 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tb_ml</a:t>
            </a:r>
            <a:r>
              <a:rPr lang="en-US" sz="1200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$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y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  <a:endParaRPr lang="pt-PT" sz="1200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   0  1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#0 21  0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#1  2 17</a:t>
            </a:r>
          </a:p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plotnet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res_nnet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bord_col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black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pos_col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black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neg_col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en-US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gray"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text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(-</a:t>
            </a:r>
            <a:r>
              <a:rPr lang="en-US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.</a:t>
            </a:r>
            <a:r>
              <a:rPr lang="en-US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15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.</a:t>
            </a:r>
            <a:r>
              <a:rPr lang="en-US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65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.</a:t>
            </a:r>
            <a:r>
              <a:rPr lang="en-US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9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round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res_nnet</a:t>
            </a:r>
            <a:r>
              <a:rPr lang="en-US" sz="1200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$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wts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[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4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)],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#Bias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text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(-</a:t>
            </a:r>
            <a:r>
              <a:rPr lang="en-US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.</a:t>
            </a:r>
            <a:r>
              <a:rPr lang="en-US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6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c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.</a:t>
            </a:r>
            <a:r>
              <a:rPr lang="en-US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8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.</a:t>
            </a:r>
            <a:r>
              <a:rPr lang="en-US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round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res_nnet</a:t>
            </a:r>
            <a:r>
              <a:rPr lang="en-US" sz="1200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$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wts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[</a:t>
            </a:r>
            <a:r>
              <a:rPr lang="en-US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:</a:t>
            </a:r>
            <a:r>
              <a:rPr lang="en-US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3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],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   </a:t>
            </a:r>
            <a:r>
              <a:rPr lang="en-US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#Input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text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.</a:t>
            </a:r>
            <a:r>
              <a:rPr lang="en-US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.</a:t>
            </a:r>
            <a:r>
              <a:rPr lang="en-US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6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round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res_nnet</a:t>
            </a:r>
            <a:r>
              <a:rPr lang="en-US" sz="1200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$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wts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[</a:t>
            </a:r>
            <a:r>
              <a:rPr lang="en-US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5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],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              </a:t>
            </a:r>
            <a:r>
              <a:rPr lang="en-US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#Hidden</a:t>
            </a:r>
            <a:endParaRPr lang="en-US" sz="1200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4" name="Text Box 376">
            <a:extLst>
              <a:ext uri="{FF2B5EF4-FFF2-40B4-BE49-F238E27FC236}">
                <a16:creationId xmlns:a16="http://schemas.microsoft.com/office/drawing/2014/main" id="{1AB1F1AD-D7DD-3B1B-3906-71451893DEE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21983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i="1" dirty="0" err="1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Machine</a:t>
            </a:r>
            <a:r>
              <a:rPr lang="pt-PT" sz="2800" i="1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 </a:t>
            </a:r>
            <a:r>
              <a:rPr lang="pt-PT" sz="2800" i="1" dirty="0" err="1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Learning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: Redes neuronais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2725738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1CB0F6-A4E3-A944-CEA1-82EAF5F4F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6AC629C-D30D-73BE-BA97-FE9BE7B7B65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02845" y="2158307"/>
            <a:ext cx="6186309" cy="4064926"/>
          </a:xfrm>
          <a:prstGeom prst="rect">
            <a:avLst/>
          </a:prstGeom>
        </p:spPr>
      </p:pic>
      <p:sp>
        <p:nvSpPr>
          <p:cNvPr id="17413" name="Text Box 39">
            <a:extLst>
              <a:ext uri="{FF2B5EF4-FFF2-40B4-BE49-F238E27FC236}">
                <a16:creationId xmlns:a16="http://schemas.microsoft.com/office/drawing/2014/main" id="{9C58DB2C-52AB-96DC-2356-264613F59A9B}"/>
              </a:ext>
            </a:extLst>
          </p:cNvPr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>
            <a:extLst>
              <a:ext uri="{FF2B5EF4-FFF2-40B4-BE49-F238E27FC236}">
                <a16:creationId xmlns:a16="http://schemas.microsoft.com/office/drawing/2014/main" id="{41107A0D-4D27-F6A3-349C-EC9AA43C25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>
            <a:extLst>
              <a:ext uri="{FF2B5EF4-FFF2-40B4-BE49-F238E27FC236}">
                <a16:creationId xmlns:a16="http://schemas.microsoft.com/office/drawing/2014/main" id="{948D2651-0851-E5D0-0BBF-E662C37D49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>
            <a:extLst>
              <a:ext uri="{FF2B5EF4-FFF2-40B4-BE49-F238E27FC236}">
                <a16:creationId xmlns:a16="http://schemas.microsoft.com/office/drawing/2014/main" id="{712278CC-789A-F595-BDDF-46F9543EF0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Modelos</a:t>
            </a:r>
          </a:p>
        </p:txBody>
      </p:sp>
      <p:sp>
        <p:nvSpPr>
          <p:cNvPr id="4" name="Text Box 376">
            <a:extLst>
              <a:ext uri="{FF2B5EF4-FFF2-40B4-BE49-F238E27FC236}">
                <a16:creationId xmlns:a16="http://schemas.microsoft.com/office/drawing/2014/main" id="{2148E2D1-8108-1EBD-2DA2-ED7A4904FDD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21983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i="1" dirty="0" err="1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Machine</a:t>
            </a:r>
            <a:r>
              <a:rPr lang="pt-PT" sz="2800" i="1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 </a:t>
            </a:r>
            <a:r>
              <a:rPr lang="pt-PT" sz="2800" i="1" dirty="0" err="1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Learning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: Redes neuronais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7254775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525122-B113-2741-BF31-3F8633694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F2DFBD7B-8CD1-F1C0-9205-3F3EB310B3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78340" y="2132856"/>
            <a:ext cx="6186309" cy="4064926"/>
          </a:xfrm>
          <a:prstGeom prst="rect">
            <a:avLst/>
          </a:prstGeom>
        </p:spPr>
      </p:pic>
      <p:sp>
        <p:nvSpPr>
          <p:cNvPr id="17413" name="Text Box 39">
            <a:extLst>
              <a:ext uri="{FF2B5EF4-FFF2-40B4-BE49-F238E27FC236}">
                <a16:creationId xmlns:a16="http://schemas.microsoft.com/office/drawing/2014/main" id="{ABA9451A-42C6-95EE-397E-E57B898FD433}"/>
              </a:ext>
            </a:extLst>
          </p:cNvPr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>
            <a:extLst>
              <a:ext uri="{FF2B5EF4-FFF2-40B4-BE49-F238E27FC236}">
                <a16:creationId xmlns:a16="http://schemas.microsoft.com/office/drawing/2014/main" id="{D4BAFF7D-D593-6E89-E598-E5EE9FCB68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>
            <a:extLst>
              <a:ext uri="{FF2B5EF4-FFF2-40B4-BE49-F238E27FC236}">
                <a16:creationId xmlns:a16="http://schemas.microsoft.com/office/drawing/2014/main" id="{FC14A178-5966-86C3-2D0C-27E34F6535D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>
            <a:extLst>
              <a:ext uri="{FF2B5EF4-FFF2-40B4-BE49-F238E27FC236}">
                <a16:creationId xmlns:a16="http://schemas.microsoft.com/office/drawing/2014/main" id="{FEF135AA-1C23-3770-259B-D4FF75EEC2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Modelos</a:t>
            </a:r>
          </a:p>
        </p:txBody>
      </p:sp>
      <p:sp>
        <p:nvSpPr>
          <p:cNvPr id="4" name="Text Box 376">
            <a:extLst>
              <a:ext uri="{FF2B5EF4-FFF2-40B4-BE49-F238E27FC236}">
                <a16:creationId xmlns:a16="http://schemas.microsoft.com/office/drawing/2014/main" id="{EAF114A3-6120-E9F7-5CE3-647D9DD0E10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21983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i="1" dirty="0" err="1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Machine</a:t>
            </a:r>
            <a:r>
              <a:rPr lang="pt-PT" sz="2800" i="1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 </a:t>
            </a:r>
            <a:r>
              <a:rPr lang="pt-PT" sz="2800" i="1" dirty="0" err="1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Learning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: Árvores de decisão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527484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ube 12">
            <a:extLst>
              <a:ext uri="{FF2B5EF4-FFF2-40B4-BE49-F238E27FC236}">
                <a16:creationId xmlns:a16="http://schemas.microsoft.com/office/drawing/2014/main" id="{F41FDECD-15AC-1F6A-CEDB-69E821E6E17F}"/>
              </a:ext>
            </a:extLst>
          </p:cNvPr>
          <p:cNvSpPr/>
          <p:nvPr/>
        </p:nvSpPr>
        <p:spPr bwMode="auto">
          <a:xfrm>
            <a:off x="2119902" y="2492897"/>
            <a:ext cx="576064" cy="504056"/>
          </a:xfrm>
          <a:prstGeom prst="cube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14" name="Cube 13">
            <a:extLst>
              <a:ext uri="{FF2B5EF4-FFF2-40B4-BE49-F238E27FC236}">
                <a16:creationId xmlns:a16="http://schemas.microsoft.com/office/drawing/2014/main" id="{1A273E0E-B5D1-AD94-C079-552E2A3907AF}"/>
              </a:ext>
            </a:extLst>
          </p:cNvPr>
          <p:cNvSpPr/>
          <p:nvPr/>
        </p:nvSpPr>
        <p:spPr bwMode="auto">
          <a:xfrm>
            <a:off x="4280142" y="3356993"/>
            <a:ext cx="576064" cy="504056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15" name="Can 39">
            <a:extLst>
              <a:ext uri="{FF2B5EF4-FFF2-40B4-BE49-F238E27FC236}">
                <a16:creationId xmlns:a16="http://schemas.microsoft.com/office/drawing/2014/main" id="{B8DD30A2-B473-A0D7-F390-0E0D4EDBF49D}"/>
              </a:ext>
            </a:extLst>
          </p:cNvPr>
          <p:cNvSpPr/>
          <p:nvPr/>
        </p:nvSpPr>
        <p:spPr bwMode="auto">
          <a:xfrm>
            <a:off x="2119902" y="4293097"/>
            <a:ext cx="450000" cy="900000"/>
          </a:xfrm>
          <a:prstGeom prst="can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22" name="Cube 21">
            <a:extLst>
              <a:ext uri="{FF2B5EF4-FFF2-40B4-BE49-F238E27FC236}">
                <a16:creationId xmlns:a16="http://schemas.microsoft.com/office/drawing/2014/main" id="{BFE324C8-0F5B-FD29-C409-001FDFE5991A}"/>
              </a:ext>
            </a:extLst>
          </p:cNvPr>
          <p:cNvSpPr/>
          <p:nvPr/>
        </p:nvSpPr>
        <p:spPr bwMode="auto">
          <a:xfrm>
            <a:off x="9032670" y="3356993"/>
            <a:ext cx="576064" cy="504056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25" name="Can 53">
            <a:extLst>
              <a:ext uri="{FF2B5EF4-FFF2-40B4-BE49-F238E27FC236}">
                <a16:creationId xmlns:a16="http://schemas.microsoft.com/office/drawing/2014/main" id="{5A59376F-6579-4FA8-0540-A3BA24D0F73B}"/>
              </a:ext>
            </a:extLst>
          </p:cNvPr>
          <p:cNvSpPr>
            <a:spLocks noChangeAspect="1"/>
          </p:cNvSpPr>
          <p:nvPr/>
        </p:nvSpPr>
        <p:spPr bwMode="auto">
          <a:xfrm>
            <a:off x="9207444" y="2564905"/>
            <a:ext cx="225000" cy="450000"/>
          </a:xfrm>
          <a:prstGeom prst="can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2" name="Text Box 376">
            <a:extLst>
              <a:ext uri="{FF2B5EF4-FFF2-40B4-BE49-F238E27FC236}">
                <a16:creationId xmlns:a16="http://schemas.microsoft.com/office/drawing/2014/main" id="{EB6B6BB2-6F69-BEBB-9BFD-CD4095E030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11710"/>
            <a:ext cx="7705725" cy="52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Visão Geral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  <p:sp>
        <p:nvSpPr>
          <p:cNvPr id="3" name="Rectangle 38">
            <a:extLst>
              <a:ext uri="{FF2B5EF4-FFF2-40B4-BE49-F238E27FC236}">
                <a16:creationId xmlns:a16="http://schemas.microsoft.com/office/drawing/2014/main" id="{EA09A705-6330-F9C2-57C5-4CD7AE9AFE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Avaliação de modelos</a:t>
            </a:r>
          </a:p>
        </p:txBody>
      </p:sp>
      <p:sp>
        <p:nvSpPr>
          <p:cNvPr id="6" name="Text Box 6">
            <a:extLst>
              <a:ext uri="{FF2B5EF4-FFF2-40B4-BE49-F238E27FC236}">
                <a16:creationId xmlns:a16="http://schemas.microsoft.com/office/drawing/2014/main" id="{3A619511-069C-CE8C-A9E6-F5D13899867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04710" y="5157193"/>
            <a:ext cx="651140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Dados</a:t>
            </a:r>
          </a:p>
        </p:txBody>
      </p:sp>
      <p:sp>
        <p:nvSpPr>
          <p:cNvPr id="24" name="Line 31">
            <a:extLst>
              <a:ext uri="{FF2B5EF4-FFF2-40B4-BE49-F238E27FC236}">
                <a16:creationId xmlns:a16="http://schemas.microsoft.com/office/drawing/2014/main" id="{707763E0-71F9-25F8-D523-802FEBD0356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516878" y="3789040"/>
            <a:ext cx="720000" cy="36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50" name="Text Box 6">
            <a:extLst>
              <a:ext uri="{FF2B5EF4-FFF2-40B4-BE49-F238E27FC236}">
                <a16:creationId xmlns:a16="http://schemas.microsoft.com/office/drawing/2014/main" id="{62A5E17B-12B6-6AE5-8198-C704F1DB01F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07768" y="2420889"/>
            <a:ext cx="1142557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Ajustamento</a:t>
            </a:r>
          </a:p>
        </p:txBody>
      </p:sp>
      <p:sp>
        <p:nvSpPr>
          <p:cNvPr id="8" name="Text Box 29">
            <a:extLst>
              <a:ext uri="{FF2B5EF4-FFF2-40B4-BE49-F238E27FC236}">
                <a16:creationId xmlns:a16="http://schemas.microsoft.com/office/drawing/2014/main" id="{CC2C16EB-A380-74AB-6859-6EE7531E10E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709611" y="2113112"/>
            <a:ext cx="1267719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rgbClr val="003E6C"/>
                </a:solidFill>
              </a:rPr>
              <a:t>Fase Aplicação</a:t>
            </a:r>
          </a:p>
        </p:txBody>
      </p:sp>
      <p:sp>
        <p:nvSpPr>
          <p:cNvPr id="52" name="Line 31">
            <a:extLst>
              <a:ext uri="{FF2B5EF4-FFF2-40B4-BE49-F238E27FC236}">
                <a16:creationId xmlns:a16="http://schemas.microsoft.com/office/drawing/2014/main" id="{BF13A75D-FDE8-A64A-95D6-90041EECA0C0}"/>
              </a:ext>
            </a:extLst>
          </p:cNvPr>
          <p:cNvSpPr>
            <a:spLocks noChangeShapeType="1"/>
          </p:cNvSpPr>
          <p:nvPr/>
        </p:nvSpPr>
        <p:spPr bwMode="auto">
          <a:xfrm rot="10800000" flipV="1">
            <a:off x="9349526" y="3068960"/>
            <a:ext cx="0" cy="27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53" name="Line 31">
            <a:extLst>
              <a:ext uri="{FF2B5EF4-FFF2-40B4-BE49-F238E27FC236}">
                <a16:creationId xmlns:a16="http://schemas.microsoft.com/office/drawing/2014/main" id="{56253411-EDAF-256B-0F23-4C0E55755090}"/>
              </a:ext>
            </a:extLst>
          </p:cNvPr>
          <p:cNvSpPr>
            <a:spLocks noChangeShapeType="1"/>
          </p:cNvSpPr>
          <p:nvPr/>
        </p:nvSpPr>
        <p:spPr bwMode="auto">
          <a:xfrm rot="10800000" flipV="1">
            <a:off x="9349527" y="3933056"/>
            <a:ext cx="0" cy="27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54" name="Text Box 6">
            <a:extLst>
              <a:ext uri="{FF2B5EF4-FFF2-40B4-BE49-F238E27FC236}">
                <a16:creationId xmlns:a16="http://schemas.microsoft.com/office/drawing/2014/main" id="{691259C9-7F85-FE58-7AE4-A574D4FD97B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773462" y="4201344"/>
            <a:ext cx="126489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Conhecimento</a:t>
            </a:r>
          </a:p>
        </p:txBody>
      </p:sp>
      <p:sp>
        <p:nvSpPr>
          <p:cNvPr id="55" name="Text Box 6">
            <a:extLst>
              <a:ext uri="{FF2B5EF4-FFF2-40B4-BE49-F238E27FC236}">
                <a16:creationId xmlns:a16="http://schemas.microsoft.com/office/drawing/2014/main" id="{B83F4A44-B0A3-5C0D-5B88-F9A07C8AD7F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421535" y="2545740"/>
            <a:ext cx="650563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Novos</a:t>
            </a:r>
          </a:p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dados</a:t>
            </a:r>
          </a:p>
        </p:txBody>
      </p:sp>
      <p:sp>
        <p:nvSpPr>
          <p:cNvPr id="56" name="Text Box 29">
            <a:extLst>
              <a:ext uri="{FF2B5EF4-FFF2-40B4-BE49-F238E27FC236}">
                <a16:creationId xmlns:a16="http://schemas.microsoft.com/office/drawing/2014/main" id="{F8C0A46A-B5B1-C3EC-3332-98A1B48139C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04496" y="3429001"/>
            <a:ext cx="338554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2400" b="1" dirty="0">
                <a:solidFill>
                  <a:srgbClr val="00B050"/>
                </a:solidFill>
                <a:latin typeface="Calibri"/>
              </a:rPr>
              <a:t>√</a:t>
            </a:r>
            <a:endParaRPr lang="pt-PT" sz="2400" b="1" dirty="0">
              <a:solidFill>
                <a:srgbClr val="00B050"/>
              </a:solidFill>
            </a:endParaRPr>
          </a:p>
        </p:txBody>
      </p:sp>
      <p:sp>
        <p:nvSpPr>
          <p:cNvPr id="57" name="Line 31">
            <a:extLst>
              <a:ext uri="{FF2B5EF4-FFF2-40B4-BE49-F238E27FC236}">
                <a16:creationId xmlns:a16="http://schemas.microsoft.com/office/drawing/2014/main" id="{2B6F87E5-49DD-59E7-7801-339BDB7072A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197398" y="3645024"/>
            <a:ext cx="720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18" name="Text Box 6">
            <a:extLst>
              <a:ext uri="{FF2B5EF4-FFF2-40B4-BE49-F238E27FC236}">
                <a16:creationId xmlns:a16="http://schemas.microsoft.com/office/drawing/2014/main" id="{64695BA4-B2BB-2A3D-715C-4E6EB740FE7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04711" y="3284985"/>
            <a:ext cx="764953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Modelo</a:t>
            </a:r>
          </a:p>
        </p:txBody>
      </p:sp>
      <p:sp>
        <p:nvSpPr>
          <p:cNvPr id="23" name="Line 31">
            <a:extLst>
              <a:ext uri="{FF2B5EF4-FFF2-40B4-BE49-F238E27FC236}">
                <a16:creationId xmlns:a16="http://schemas.microsoft.com/office/drawing/2014/main" id="{AAA4715D-A574-6E0E-622D-E30EC344B233}"/>
              </a:ext>
            </a:extLst>
          </p:cNvPr>
          <p:cNvSpPr>
            <a:spLocks noChangeShapeType="1"/>
          </p:cNvSpPr>
          <p:nvPr/>
        </p:nvSpPr>
        <p:spPr bwMode="auto">
          <a:xfrm rot="5400000" flipV="1">
            <a:off x="3561798" y="2843960"/>
            <a:ext cx="450000" cy="90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28" name="Text Box 29">
            <a:extLst>
              <a:ext uri="{FF2B5EF4-FFF2-40B4-BE49-F238E27FC236}">
                <a16:creationId xmlns:a16="http://schemas.microsoft.com/office/drawing/2014/main" id="{B92F4A4A-A680-00B0-8C4B-B0C7B2D8F85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07769" y="2132857"/>
            <a:ext cx="1019703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rgbClr val="003E6C"/>
                </a:solidFill>
              </a:rPr>
              <a:t>Fase Treino</a:t>
            </a:r>
          </a:p>
        </p:txBody>
      </p:sp>
    </p:spTree>
    <p:extLst>
      <p:ext uri="{BB962C8B-B14F-4D97-AF65-F5344CB8AC3E}">
        <p14:creationId xmlns:p14="http://schemas.microsoft.com/office/powerpoint/2010/main" val="189718903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be 3">
            <a:extLst>
              <a:ext uri="{FF2B5EF4-FFF2-40B4-BE49-F238E27FC236}">
                <a16:creationId xmlns:a16="http://schemas.microsoft.com/office/drawing/2014/main" id="{C10E5280-ED05-CC2D-B920-8A1677718BEF}"/>
              </a:ext>
            </a:extLst>
          </p:cNvPr>
          <p:cNvSpPr/>
          <p:nvPr/>
        </p:nvSpPr>
        <p:spPr bwMode="auto">
          <a:xfrm>
            <a:off x="2119902" y="2492897"/>
            <a:ext cx="576064" cy="504056"/>
          </a:xfrm>
          <a:prstGeom prst="cube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5" name="Cube 4">
            <a:extLst>
              <a:ext uri="{FF2B5EF4-FFF2-40B4-BE49-F238E27FC236}">
                <a16:creationId xmlns:a16="http://schemas.microsoft.com/office/drawing/2014/main" id="{3E314FB0-B419-E1D3-B40C-CD7C3B02FDE1}"/>
              </a:ext>
            </a:extLst>
          </p:cNvPr>
          <p:cNvSpPr/>
          <p:nvPr/>
        </p:nvSpPr>
        <p:spPr bwMode="auto">
          <a:xfrm>
            <a:off x="4280142" y="3356993"/>
            <a:ext cx="576064" cy="504056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25" name="Can 39">
            <a:extLst>
              <a:ext uri="{FF2B5EF4-FFF2-40B4-BE49-F238E27FC236}">
                <a16:creationId xmlns:a16="http://schemas.microsoft.com/office/drawing/2014/main" id="{99BA0C8F-9524-6111-550C-75768D38E139}"/>
              </a:ext>
            </a:extLst>
          </p:cNvPr>
          <p:cNvSpPr/>
          <p:nvPr/>
        </p:nvSpPr>
        <p:spPr bwMode="auto">
          <a:xfrm>
            <a:off x="2119902" y="4293097"/>
            <a:ext cx="450000" cy="900000"/>
          </a:xfrm>
          <a:prstGeom prst="can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29" name="Can 40">
            <a:extLst>
              <a:ext uri="{FF2B5EF4-FFF2-40B4-BE49-F238E27FC236}">
                <a16:creationId xmlns:a16="http://schemas.microsoft.com/office/drawing/2014/main" id="{E1288199-A21B-83C3-D3F4-A232AEDD74C4}"/>
              </a:ext>
            </a:extLst>
          </p:cNvPr>
          <p:cNvSpPr>
            <a:spLocks noChangeAspect="1"/>
          </p:cNvSpPr>
          <p:nvPr/>
        </p:nvSpPr>
        <p:spPr bwMode="auto">
          <a:xfrm>
            <a:off x="3128014" y="3861049"/>
            <a:ext cx="225000" cy="450000"/>
          </a:xfrm>
          <a:prstGeom prst="can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31" name="Can 42">
            <a:extLst>
              <a:ext uri="{FF2B5EF4-FFF2-40B4-BE49-F238E27FC236}">
                <a16:creationId xmlns:a16="http://schemas.microsoft.com/office/drawing/2014/main" id="{7F720B6E-A228-8D56-7C6B-D110C549E3B5}"/>
              </a:ext>
            </a:extLst>
          </p:cNvPr>
          <p:cNvSpPr>
            <a:spLocks noChangeAspect="1"/>
          </p:cNvSpPr>
          <p:nvPr/>
        </p:nvSpPr>
        <p:spPr bwMode="auto">
          <a:xfrm>
            <a:off x="3128014" y="5384250"/>
            <a:ext cx="225000" cy="450000"/>
          </a:xfrm>
          <a:prstGeom prst="can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32" name="Cube 31">
            <a:extLst>
              <a:ext uri="{FF2B5EF4-FFF2-40B4-BE49-F238E27FC236}">
                <a16:creationId xmlns:a16="http://schemas.microsoft.com/office/drawing/2014/main" id="{52464193-AE09-B4A7-2942-5F42E39E55EE}"/>
              </a:ext>
            </a:extLst>
          </p:cNvPr>
          <p:cNvSpPr/>
          <p:nvPr/>
        </p:nvSpPr>
        <p:spPr bwMode="auto">
          <a:xfrm>
            <a:off x="7448494" y="3356993"/>
            <a:ext cx="576064" cy="504056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33" name="Cube 32">
            <a:extLst>
              <a:ext uri="{FF2B5EF4-FFF2-40B4-BE49-F238E27FC236}">
                <a16:creationId xmlns:a16="http://schemas.microsoft.com/office/drawing/2014/main" id="{2409168C-FBED-06FD-1D1D-8CB5C641CC1F}"/>
              </a:ext>
            </a:extLst>
          </p:cNvPr>
          <p:cNvSpPr/>
          <p:nvPr/>
        </p:nvSpPr>
        <p:spPr bwMode="auto">
          <a:xfrm>
            <a:off x="9032670" y="3356993"/>
            <a:ext cx="576064" cy="504056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34" name="Can 53">
            <a:extLst>
              <a:ext uri="{FF2B5EF4-FFF2-40B4-BE49-F238E27FC236}">
                <a16:creationId xmlns:a16="http://schemas.microsoft.com/office/drawing/2014/main" id="{C1B47498-69DC-A815-983C-7AAA78C5245E}"/>
              </a:ext>
            </a:extLst>
          </p:cNvPr>
          <p:cNvSpPr>
            <a:spLocks noChangeAspect="1"/>
          </p:cNvSpPr>
          <p:nvPr/>
        </p:nvSpPr>
        <p:spPr bwMode="auto">
          <a:xfrm>
            <a:off x="9207444" y="2564905"/>
            <a:ext cx="225000" cy="450000"/>
          </a:xfrm>
          <a:prstGeom prst="can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1" name="Text Box 13"/>
          <p:cNvSpPr txBox="1">
            <a:spLocks noChangeArrowheads="1"/>
          </p:cNvSpPr>
          <p:nvPr/>
        </p:nvSpPr>
        <p:spPr bwMode="auto">
          <a:xfrm>
            <a:off x="9941000" y="6276921"/>
            <a:ext cx="40315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pt-PT" sz="1200" dirty="0">
                <a:solidFill>
                  <a:srgbClr val="808080"/>
                </a:solidFill>
                <a:latin typeface="Humnst777 BT" pitchFamily="34" charset="0"/>
              </a:rPr>
              <a:t>20</a:t>
            </a:r>
          </a:p>
        </p:txBody>
      </p:sp>
      <p:sp>
        <p:nvSpPr>
          <p:cNvPr id="2" name="Text Box 376">
            <a:extLst>
              <a:ext uri="{FF2B5EF4-FFF2-40B4-BE49-F238E27FC236}">
                <a16:creationId xmlns:a16="http://schemas.microsoft.com/office/drawing/2014/main" id="{EB6B6BB2-6F69-BEBB-9BFD-CD4095E030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11710"/>
            <a:ext cx="7705725" cy="52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Visão Geral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  <p:sp>
        <p:nvSpPr>
          <p:cNvPr id="3" name="Rectangle 38">
            <a:extLst>
              <a:ext uri="{FF2B5EF4-FFF2-40B4-BE49-F238E27FC236}">
                <a16:creationId xmlns:a16="http://schemas.microsoft.com/office/drawing/2014/main" id="{EA09A705-6330-F9C2-57C5-4CD7AE9AFE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Avaliação de modelos</a:t>
            </a:r>
          </a:p>
        </p:txBody>
      </p:sp>
      <p:sp>
        <p:nvSpPr>
          <p:cNvPr id="6" name="Text Box 6">
            <a:extLst>
              <a:ext uri="{FF2B5EF4-FFF2-40B4-BE49-F238E27FC236}">
                <a16:creationId xmlns:a16="http://schemas.microsoft.com/office/drawing/2014/main" id="{3A619511-069C-CE8C-A9E6-F5D13899867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04710" y="5157193"/>
            <a:ext cx="651140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Dados</a:t>
            </a:r>
          </a:p>
        </p:txBody>
      </p:sp>
      <p:sp>
        <p:nvSpPr>
          <p:cNvPr id="7" name="Text Box 29">
            <a:extLst>
              <a:ext uri="{FF2B5EF4-FFF2-40B4-BE49-F238E27FC236}">
                <a16:creationId xmlns:a16="http://schemas.microsoft.com/office/drawing/2014/main" id="{0ECE434C-3A76-1B9A-2D21-109834274A2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12822" y="4293097"/>
            <a:ext cx="572464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</a:rPr>
              <a:t>treino</a:t>
            </a:r>
          </a:p>
        </p:txBody>
      </p:sp>
      <p:sp>
        <p:nvSpPr>
          <p:cNvPr id="10" name="Line 31">
            <a:extLst>
              <a:ext uri="{FF2B5EF4-FFF2-40B4-BE49-F238E27FC236}">
                <a16:creationId xmlns:a16="http://schemas.microsoft.com/office/drawing/2014/main" id="{13114C4A-E9F6-769B-4808-561F0D77E19D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724830" y="4329120"/>
            <a:ext cx="360000" cy="18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12" name="Text Box 26">
            <a:extLst>
              <a:ext uri="{FF2B5EF4-FFF2-40B4-BE49-F238E27FC236}">
                <a16:creationId xmlns:a16="http://schemas.microsoft.com/office/drawing/2014/main" id="{D65E235C-FEBD-1232-1F7B-8FD15AE519A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51698" y="4149081"/>
            <a:ext cx="43633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dirty="0">
                <a:solidFill>
                  <a:srgbClr val="003E6C"/>
                </a:solidFill>
              </a:rPr>
              <a:t>3/4</a:t>
            </a:r>
          </a:p>
        </p:txBody>
      </p:sp>
      <p:sp>
        <p:nvSpPr>
          <p:cNvPr id="13" name="Line 31">
            <a:extLst>
              <a:ext uri="{FF2B5EF4-FFF2-40B4-BE49-F238E27FC236}">
                <a16:creationId xmlns:a16="http://schemas.microsoft.com/office/drawing/2014/main" id="{FA53B61B-5B40-629A-D00D-908ED88CF33C}"/>
              </a:ext>
            </a:extLst>
          </p:cNvPr>
          <p:cNvSpPr>
            <a:spLocks noChangeShapeType="1"/>
          </p:cNvSpPr>
          <p:nvPr/>
        </p:nvSpPr>
        <p:spPr bwMode="auto">
          <a:xfrm rot="5400000" flipV="1">
            <a:off x="2814830" y="5139200"/>
            <a:ext cx="180000" cy="36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14" name="Text Box 26">
            <a:extLst>
              <a:ext uri="{FF2B5EF4-FFF2-40B4-BE49-F238E27FC236}">
                <a16:creationId xmlns:a16="http://schemas.microsoft.com/office/drawing/2014/main" id="{DA8E19DA-7D48-DED6-54F7-ECA92017165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51698" y="5013177"/>
            <a:ext cx="433132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dirty="0">
                <a:solidFill>
                  <a:srgbClr val="003E6C"/>
                </a:solidFill>
              </a:rPr>
              <a:t>1/4</a:t>
            </a:r>
          </a:p>
        </p:txBody>
      </p:sp>
      <p:sp>
        <p:nvSpPr>
          <p:cNvPr id="15" name="Text Box 29">
            <a:extLst>
              <a:ext uri="{FF2B5EF4-FFF2-40B4-BE49-F238E27FC236}">
                <a16:creationId xmlns:a16="http://schemas.microsoft.com/office/drawing/2014/main" id="{6DC5D463-E163-2F45-3F76-9156FDE607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12823" y="5816298"/>
            <a:ext cx="499817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</a:rPr>
              <a:t>teste</a:t>
            </a:r>
          </a:p>
        </p:txBody>
      </p:sp>
      <p:sp>
        <p:nvSpPr>
          <p:cNvPr id="16" name="Text Box 29">
            <a:extLst>
              <a:ext uri="{FF2B5EF4-FFF2-40B4-BE49-F238E27FC236}">
                <a16:creationId xmlns:a16="http://schemas.microsoft.com/office/drawing/2014/main" id="{AA057A22-F2CE-E2A7-232A-5DDB9335D9A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07769" y="2132857"/>
            <a:ext cx="1019703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rgbClr val="003E6C"/>
                </a:solidFill>
              </a:rPr>
              <a:t>Fase Treino</a:t>
            </a:r>
          </a:p>
        </p:txBody>
      </p:sp>
      <p:sp>
        <p:nvSpPr>
          <p:cNvPr id="17" name="Text Box 29">
            <a:extLst>
              <a:ext uri="{FF2B5EF4-FFF2-40B4-BE49-F238E27FC236}">
                <a16:creationId xmlns:a16="http://schemas.microsoft.com/office/drawing/2014/main" id="{ABA72F21-AEAE-3591-5E3C-C499B85B99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233590" y="2132857"/>
            <a:ext cx="934295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rgbClr val="003E6C"/>
                </a:solidFill>
              </a:rPr>
              <a:t>Fase Teste</a:t>
            </a:r>
          </a:p>
        </p:txBody>
      </p:sp>
      <p:sp>
        <p:nvSpPr>
          <p:cNvPr id="24" name="Line 31">
            <a:extLst>
              <a:ext uri="{FF2B5EF4-FFF2-40B4-BE49-F238E27FC236}">
                <a16:creationId xmlns:a16="http://schemas.microsoft.com/office/drawing/2014/main" id="{707763E0-71F9-25F8-D523-802FEBD0356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516878" y="3789040"/>
            <a:ext cx="720000" cy="36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26" name="Line 31">
            <a:extLst>
              <a:ext uri="{FF2B5EF4-FFF2-40B4-BE49-F238E27FC236}">
                <a16:creationId xmlns:a16="http://schemas.microsoft.com/office/drawing/2014/main" id="{5C5844A7-288D-F57D-C4C8-3257C51F591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516878" y="3789040"/>
            <a:ext cx="3888000" cy="1944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30" name="Line 31">
            <a:extLst>
              <a:ext uri="{FF2B5EF4-FFF2-40B4-BE49-F238E27FC236}">
                <a16:creationId xmlns:a16="http://schemas.microsoft.com/office/drawing/2014/main" id="{E17D6B00-FF38-0FC9-4434-E45F0FD41549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613222" y="3645024"/>
            <a:ext cx="720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37" name="Text Box 29">
            <a:extLst>
              <a:ext uri="{FF2B5EF4-FFF2-40B4-BE49-F238E27FC236}">
                <a16:creationId xmlns:a16="http://schemas.microsoft.com/office/drawing/2014/main" id="{6DD38017-796C-6493-6A52-C622B99BCB0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20320" y="3439759"/>
            <a:ext cx="338554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2400" b="1" dirty="0">
                <a:solidFill>
                  <a:srgbClr val="00B050"/>
                </a:solidFill>
                <a:latin typeface="Calibri"/>
              </a:rPr>
              <a:t>√</a:t>
            </a:r>
            <a:endParaRPr lang="pt-PT" sz="2400" b="1" dirty="0">
              <a:solidFill>
                <a:srgbClr val="00B050"/>
              </a:solidFill>
            </a:endParaRPr>
          </a:p>
        </p:txBody>
      </p:sp>
      <p:sp>
        <p:nvSpPr>
          <p:cNvPr id="49" name="Text Box 6">
            <a:extLst>
              <a:ext uri="{FF2B5EF4-FFF2-40B4-BE49-F238E27FC236}">
                <a16:creationId xmlns:a16="http://schemas.microsoft.com/office/drawing/2014/main" id="{EA646E43-7F2C-47ED-75A2-280DA3A29D1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243079" y="2420888"/>
            <a:ext cx="896399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Avaliação</a:t>
            </a:r>
          </a:p>
        </p:txBody>
      </p:sp>
      <p:sp>
        <p:nvSpPr>
          <p:cNvPr id="50" name="Text Box 6">
            <a:extLst>
              <a:ext uri="{FF2B5EF4-FFF2-40B4-BE49-F238E27FC236}">
                <a16:creationId xmlns:a16="http://schemas.microsoft.com/office/drawing/2014/main" id="{62A5E17B-12B6-6AE5-8198-C704F1DB01F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07768" y="2420888"/>
            <a:ext cx="1142557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Ajustamento</a:t>
            </a:r>
          </a:p>
        </p:txBody>
      </p:sp>
      <p:sp>
        <p:nvSpPr>
          <p:cNvPr id="8" name="Text Box 29">
            <a:extLst>
              <a:ext uri="{FF2B5EF4-FFF2-40B4-BE49-F238E27FC236}">
                <a16:creationId xmlns:a16="http://schemas.microsoft.com/office/drawing/2014/main" id="{CC2C16EB-A380-74AB-6859-6EE7531E10E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709611" y="2113112"/>
            <a:ext cx="1267719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rgbClr val="003E6C"/>
                </a:solidFill>
              </a:rPr>
              <a:t>Fase Aplicação</a:t>
            </a:r>
          </a:p>
        </p:txBody>
      </p:sp>
      <p:sp>
        <p:nvSpPr>
          <p:cNvPr id="52" name="Line 31">
            <a:extLst>
              <a:ext uri="{FF2B5EF4-FFF2-40B4-BE49-F238E27FC236}">
                <a16:creationId xmlns:a16="http://schemas.microsoft.com/office/drawing/2014/main" id="{BF13A75D-FDE8-A64A-95D6-90041EECA0C0}"/>
              </a:ext>
            </a:extLst>
          </p:cNvPr>
          <p:cNvSpPr>
            <a:spLocks noChangeShapeType="1"/>
          </p:cNvSpPr>
          <p:nvPr/>
        </p:nvSpPr>
        <p:spPr bwMode="auto">
          <a:xfrm rot="10800000" flipV="1">
            <a:off x="9349526" y="3068960"/>
            <a:ext cx="0" cy="27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53" name="Line 31">
            <a:extLst>
              <a:ext uri="{FF2B5EF4-FFF2-40B4-BE49-F238E27FC236}">
                <a16:creationId xmlns:a16="http://schemas.microsoft.com/office/drawing/2014/main" id="{56253411-EDAF-256B-0F23-4C0E55755090}"/>
              </a:ext>
            </a:extLst>
          </p:cNvPr>
          <p:cNvSpPr>
            <a:spLocks noChangeShapeType="1"/>
          </p:cNvSpPr>
          <p:nvPr/>
        </p:nvSpPr>
        <p:spPr bwMode="auto">
          <a:xfrm rot="10800000" flipV="1">
            <a:off x="9349527" y="3933056"/>
            <a:ext cx="0" cy="27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54" name="Text Box 6">
            <a:extLst>
              <a:ext uri="{FF2B5EF4-FFF2-40B4-BE49-F238E27FC236}">
                <a16:creationId xmlns:a16="http://schemas.microsoft.com/office/drawing/2014/main" id="{691259C9-7F85-FE58-7AE4-A574D4FD97B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773462" y="4201344"/>
            <a:ext cx="126489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Conhecimento</a:t>
            </a:r>
          </a:p>
        </p:txBody>
      </p:sp>
      <p:sp>
        <p:nvSpPr>
          <p:cNvPr id="55" name="Text Box 6">
            <a:extLst>
              <a:ext uri="{FF2B5EF4-FFF2-40B4-BE49-F238E27FC236}">
                <a16:creationId xmlns:a16="http://schemas.microsoft.com/office/drawing/2014/main" id="{B83F4A44-B0A3-5C0D-5B88-F9A07C8AD7F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421535" y="2545740"/>
            <a:ext cx="650563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Novos</a:t>
            </a:r>
          </a:p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dados</a:t>
            </a:r>
          </a:p>
        </p:txBody>
      </p:sp>
      <p:sp>
        <p:nvSpPr>
          <p:cNvPr id="56" name="Text Box 29">
            <a:extLst>
              <a:ext uri="{FF2B5EF4-FFF2-40B4-BE49-F238E27FC236}">
                <a16:creationId xmlns:a16="http://schemas.microsoft.com/office/drawing/2014/main" id="{F8C0A46A-B5B1-C3EC-3332-98A1B48139C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04496" y="3429001"/>
            <a:ext cx="338554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2400" b="1" dirty="0">
                <a:solidFill>
                  <a:srgbClr val="00B050"/>
                </a:solidFill>
                <a:latin typeface="Calibri"/>
              </a:rPr>
              <a:t>√</a:t>
            </a:r>
            <a:endParaRPr lang="pt-PT" sz="2400" b="1" dirty="0">
              <a:solidFill>
                <a:srgbClr val="00B050"/>
              </a:solidFill>
            </a:endParaRPr>
          </a:p>
        </p:txBody>
      </p:sp>
      <p:sp>
        <p:nvSpPr>
          <p:cNvPr id="57" name="Line 31">
            <a:extLst>
              <a:ext uri="{FF2B5EF4-FFF2-40B4-BE49-F238E27FC236}">
                <a16:creationId xmlns:a16="http://schemas.microsoft.com/office/drawing/2014/main" id="{2B6F87E5-49DD-59E7-7801-339BDB7072A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197398" y="3645024"/>
            <a:ext cx="720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18" name="Text Box 6">
            <a:extLst>
              <a:ext uri="{FF2B5EF4-FFF2-40B4-BE49-F238E27FC236}">
                <a16:creationId xmlns:a16="http://schemas.microsoft.com/office/drawing/2014/main" id="{D0A47A3A-CE2D-550C-3B05-B90C118A97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04711" y="3284985"/>
            <a:ext cx="764953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Modelo</a:t>
            </a:r>
          </a:p>
        </p:txBody>
      </p:sp>
      <p:sp>
        <p:nvSpPr>
          <p:cNvPr id="23" name="Line 31">
            <a:extLst>
              <a:ext uri="{FF2B5EF4-FFF2-40B4-BE49-F238E27FC236}">
                <a16:creationId xmlns:a16="http://schemas.microsoft.com/office/drawing/2014/main" id="{E605F218-E992-B973-F010-51972182FE59}"/>
              </a:ext>
            </a:extLst>
          </p:cNvPr>
          <p:cNvSpPr>
            <a:spLocks noChangeShapeType="1"/>
          </p:cNvSpPr>
          <p:nvPr/>
        </p:nvSpPr>
        <p:spPr bwMode="auto">
          <a:xfrm rot="5400000" flipV="1">
            <a:off x="3561798" y="2843960"/>
            <a:ext cx="450000" cy="90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53093427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be 7">
            <a:extLst>
              <a:ext uri="{FF2B5EF4-FFF2-40B4-BE49-F238E27FC236}">
                <a16:creationId xmlns:a16="http://schemas.microsoft.com/office/drawing/2014/main" id="{A5BC395B-E5C4-BBBA-24C0-D423B4C4CE49}"/>
              </a:ext>
            </a:extLst>
          </p:cNvPr>
          <p:cNvSpPr/>
          <p:nvPr/>
        </p:nvSpPr>
        <p:spPr bwMode="auto">
          <a:xfrm>
            <a:off x="2119902" y="2492897"/>
            <a:ext cx="576064" cy="504056"/>
          </a:xfrm>
          <a:prstGeom prst="cube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11" name="Cube 10">
            <a:extLst>
              <a:ext uri="{FF2B5EF4-FFF2-40B4-BE49-F238E27FC236}">
                <a16:creationId xmlns:a16="http://schemas.microsoft.com/office/drawing/2014/main" id="{83AF88CE-680D-7825-C17F-C6BBF45982C7}"/>
              </a:ext>
            </a:extLst>
          </p:cNvPr>
          <p:cNvSpPr/>
          <p:nvPr/>
        </p:nvSpPr>
        <p:spPr bwMode="auto">
          <a:xfrm>
            <a:off x="4280142" y="3356993"/>
            <a:ext cx="576064" cy="504056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39" name="Can 39">
            <a:extLst>
              <a:ext uri="{FF2B5EF4-FFF2-40B4-BE49-F238E27FC236}">
                <a16:creationId xmlns:a16="http://schemas.microsoft.com/office/drawing/2014/main" id="{3F723FB2-F26C-45FD-637D-24A861870746}"/>
              </a:ext>
            </a:extLst>
          </p:cNvPr>
          <p:cNvSpPr/>
          <p:nvPr/>
        </p:nvSpPr>
        <p:spPr bwMode="auto">
          <a:xfrm>
            <a:off x="2119902" y="4293097"/>
            <a:ext cx="450000" cy="900000"/>
          </a:xfrm>
          <a:prstGeom prst="can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51" name="Can 40">
            <a:extLst>
              <a:ext uri="{FF2B5EF4-FFF2-40B4-BE49-F238E27FC236}">
                <a16:creationId xmlns:a16="http://schemas.microsoft.com/office/drawing/2014/main" id="{5EE9E2E8-FA71-2E35-BE63-E18DA3F03A3C}"/>
              </a:ext>
            </a:extLst>
          </p:cNvPr>
          <p:cNvSpPr>
            <a:spLocks noChangeAspect="1"/>
          </p:cNvSpPr>
          <p:nvPr/>
        </p:nvSpPr>
        <p:spPr bwMode="auto">
          <a:xfrm>
            <a:off x="3128014" y="3861049"/>
            <a:ext cx="225000" cy="450000"/>
          </a:xfrm>
          <a:prstGeom prst="can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52" name="Can 42">
            <a:extLst>
              <a:ext uri="{FF2B5EF4-FFF2-40B4-BE49-F238E27FC236}">
                <a16:creationId xmlns:a16="http://schemas.microsoft.com/office/drawing/2014/main" id="{EC5828D2-E1F9-E32B-99FA-5D081C1DC67D}"/>
              </a:ext>
            </a:extLst>
          </p:cNvPr>
          <p:cNvSpPr>
            <a:spLocks noChangeAspect="1"/>
          </p:cNvSpPr>
          <p:nvPr/>
        </p:nvSpPr>
        <p:spPr bwMode="auto">
          <a:xfrm>
            <a:off x="3128014" y="5384250"/>
            <a:ext cx="225000" cy="450000"/>
          </a:xfrm>
          <a:prstGeom prst="can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53" name="Cube 52">
            <a:extLst>
              <a:ext uri="{FF2B5EF4-FFF2-40B4-BE49-F238E27FC236}">
                <a16:creationId xmlns:a16="http://schemas.microsoft.com/office/drawing/2014/main" id="{D67260BC-0EA0-95BC-FFBF-D60DE0B2FD8F}"/>
              </a:ext>
            </a:extLst>
          </p:cNvPr>
          <p:cNvSpPr/>
          <p:nvPr/>
        </p:nvSpPr>
        <p:spPr bwMode="auto">
          <a:xfrm>
            <a:off x="7448494" y="3356993"/>
            <a:ext cx="576064" cy="504056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54" name="Cube 53">
            <a:extLst>
              <a:ext uri="{FF2B5EF4-FFF2-40B4-BE49-F238E27FC236}">
                <a16:creationId xmlns:a16="http://schemas.microsoft.com/office/drawing/2014/main" id="{169653E7-7A12-8167-A406-BA40918A0CBA}"/>
              </a:ext>
            </a:extLst>
          </p:cNvPr>
          <p:cNvSpPr/>
          <p:nvPr/>
        </p:nvSpPr>
        <p:spPr bwMode="auto">
          <a:xfrm>
            <a:off x="9032670" y="3356993"/>
            <a:ext cx="576064" cy="504056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55" name="Can 53">
            <a:extLst>
              <a:ext uri="{FF2B5EF4-FFF2-40B4-BE49-F238E27FC236}">
                <a16:creationId xmlns:a16="http://schemas.microsoft.com/office/drawing/2014/main" id="{D4168E84-D4FB-043D-96F1-24273F32142D}"/>
              </a:ext>
            </a:extLst>
          </p:cNvPr>
          <p:cNvSpPr>
            <a:spLocks noChangeAspect="1"/>
          </p:cNvSpPr>
          <p:nvPr/>
        </p:nvSpPr>
        <p:spPr bwMode="auto">
          <a:xfrm>
            <a:off x="9207444" y="2564905"/>
            <a:ext cx="225000" cy="450000"/>
          </a:xfrm>
          <a:prstGeom prst="can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56" name="Can 64">
            <a:extLst>
              <a:ext uri="{FF2B5EF4-FFF2-40B4-BE49-F238E27FC236}">
                <a16:creationId xmlns:a16="http://schemas.microsoft.com/office/drawing/2014/main" id="{78D3C331-3C5C-CD84-2231-A3F46799C620}"/>
              </a:ext>
            </a:extLst>
          </p:cNvPr>
          <p:cNvSpPr>
            <a:spLocks noChangeAspect="1"/>
          </p:cNvSpPr>
          <p:nvPr/>
        </p:nvSpPr>
        <p:spPr bwMode="auto">
          <a:xfrm>
            <a:off x="3128014" y="4653137"/>
            <a:ext cx="225000" cy="450000"/>
          </a:xfrm>
          <a:prstGeom prst="can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57" name="Cube 56">
            <a:extLst>
              <a:ext uri="{FF2B5EF4-FFF2-40B4-BE49-F238E27FC236}">
                <a16:creationId xmlns:a16="http://schemas.microsoft.com/office/drawing/2014/main" id="{D9F9AC5C-1F18-C5B5-AD54-3BD9702E9CE3}"/>
              </a:ext>
            </a:extLst>
          </p:cNvPr>
          <p:cNvSpPr/>
          <p:nvPr/>
        </p:nvSpPr>
        <p:spPr bwMode="auto">
          <a:xfrm>
            <a:off x="5864318" y="3356993"/>
            <a:ext cx="576064" cy="504056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2" name="Text Box 376">
            <a:extLst>
              <a:ext uri="{FF2B5EF4-FFF2-40B4-BE49-F238E27FC236}">
                <a16:creationId xmlns:a16="http://schemas.microsoft.com/office/drawing/2014/main" id="{EB6B6BB2-6F69-BEBB-9BFD-CD4095E030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11710"/>
            <a:ext cx="7705725" cy="52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Visão Geral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  <p:sp>
        <p:nvSpPr>
          <p:cNvPr id="3" name="Rectangle 38">
            <a:extLst>
              <a:ext uri="{FF2B5EF4-FFF2-40B4-BE49-F238E27FC236}">
                <a16:creationId xmlns:a16="http://schemas.microsoft.com/office/drawing/2014/main" id="{EA09A705-6330-F9C2-57C5-4CD7AE9AFE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Avaliação de modelos</a:t>
            </a:r>
          </a:p>
        </p:txBody>
      </p:sp>
      <p:sp>
        <p:nvSpPr>
          <p:cNvPr id="6" name="Text Box 6">
            <a:extLst>
              <a:ext uri="{FF2B5EF4-FFF2-40B4-BE49-F238E27FC236}">
                <a16:creationId xmlns:a16="http://schemas.microsoft.com/office/drawing/2014/main" id="{3A619511-069C-CE8C-A9E6-F5D13899867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04710" y="5157193"/>
            <a:ext cx="651140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Dados</a:t>
            </a:r>
          </a:p>
        </p:txBody>
      </p:sp>
      <p:sp>
        <p:nvSpPr>
          <p:cNvPr id="7" name="Text Box 29">
            <a:extLst>
              <a:ext uri="{FF2B5EF4-FFF2-40B4-BE49-F238E27FC236}">
                <a16:creationId xmlns:a16="http://schemas.microsoft.com/office/drawing/2014/main" id="{0ECE434C-3A76-1B9A-2D21-109834274A2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12822" y="4293097"/>
            <a:ext cx="572464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</a:rPr>
              <a:t>treino</a:t>
            </a:r>
          </a:p>
        </p:txBody>
      </p:sp>
      <p:sp>
        <p:nvSpPr>
          <p:cNvPr id="10" name="Line 31">
            <a:extLst>
              <a:ext uri="{FF2B5EF4-FFF2-40B4-BE49-F238E27FC236}">
                <a16:creationId xmlns:a16="http://schemas.microsoft.com/office/drawing/2014/main" id="{13114C4A-E9F6-769B-4808-561F0D77E19D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724830" y="4329120"/>
            <a:ext cx="360000" cy="18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12" name="Text Box 26">
            <a:extLst>
              <a:ext uri="{FF2B5EF4-FFF2-40B4-BE49-F238E27FC236}">
                <a16:creationId xmlns:a16="http://schemas.microsoft.com/office/drawing/2014/main" id="{D65E235C-FEBD-1232-1F7B-8FD15AE519A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51698" y="4149081"/>
            <a:ext cx="43633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dirty="0">
                <a:solidFill>
                  <a:srgbClr val="003E6C"/>
                </a:solidFill>
              </a:rPr>
              <a:t>2/4</a:t>
            </a:r>
          </a:p>
        </p:txBody>
      </p:sp>
      <p:sp>
        <p:nvSpPr>
          <p:cNvPr id="13" name="Line 31">
            <a:extLst>
              <a:ext uri="{FF2B5EF4-FFF2-40B4-BE49-F238E27FC236}">
                <a16:creationId xmlns:a16="http://schemas.microsoft.com/office/drawing/2014/main" id="{FA53B61B-5B40-629A-D00D-908ED88CF33C}"/>
              </a:ext>
            </a:extLst>
          </p:cNvPr>
          <p:cNvSpPr>
            <a:spLocks noChangeShapeType="1"/>
          </p:cNvSpPr>
          <p:nvPr/>
        </p:nvSpPr>
        <p:spPr bwMode="auto">
          <a:xfrm rot="5400000" flipV="1">
            <a:off x="2814830" y="5139200"/>
            <a:ext cx="180000" cy="36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14" name="Text Box 26">
            <a:extLst>
              <a:ext uri="{FF2B5EF4-FFF2-40B4-BE49-F238E27FC236}">
                <a16:creationId xmlns:a16="http://schemas.microsoft.com/office/drawing/2014/main" id="{DA8E19DA-7D48-DED6-54F7-ECA92017165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51698" y="5013177"/>
            <a:ext cx="433132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dirty="0">
                <a:solidFill>
                  <a:srgbClr val="003E6C"/>
                </a:solidFill>
              </a:rPr>
              <a:t>1/4</a:t>
            </a:r>
          </a:p>
        </p:txBody>
      </p:sp>
      <p:sp>
        <p:nvSpPr>
          <p:cNvPr id="15" name="Text Box 29">
            <a:extLst>
              <a:ext uri="{FF2B5EF4-FFF2-40B4-BE49-F238E27FC236}">
                <a16:creationId xmlns:a16="http://schemas.microsoft.com/office/drawing/2014/main" id="{6DC5D463-E163-2F45-3F76-9156FDE607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12823" y="5816298"/>
            <a:ext cx="499817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</a:rPr>
              <a:t>teste</a:t>
            </a:r>
          </a:p>
        </p:txBody>
      </p:sp>
      <p:sp>
        <p:nvSpPr>
          <p:cNvPr id="16" name="Text Box 29">
            <a:extLst>
              <a:ext uri="{FF2B5EF4-FFF2-40B4-BE49-F238E27FC236}">
                <a16:creationId xmlns:a16="http://schemas.microsoft.com/office/drawing/2014/main" id="{AA057A22-F2CE-E2A7-232A-5DDB9335D9A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07769" y="2132857"/>
            <a:ext cx="1019703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rgbClr val="003E6C"/>
                </a:solidFill>
              </a:rPr>
              <a:t>Fase Treino</a:t>
            </a:r>
          </a:p>
        </p:txBody>
      </p:sp>
      <p:sp>
        <p:nvSpPr>
          <p:cNvPr id="17" name="Text Box 29">
            <a:extLst>
              <a:ext uri="{FF2B5EF4-FFF2-40B4-BE49-F238E27FC236}">
                <a16:creationId xmlns:a16="http://schemas.microsoft.com/office/drawing/2014/main" id="{ABA72F21-AEAE-3591-5E3C-C499B85B99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233590" y="2132857"/>
            <a:ext cx="934295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rgbClr val="003E6C"/>
                </a:solidFill>
              </a:rPr>
              <a:t>Fase Teste</a:t>
            </a:r>
          </a:p>
        </p:txBody>
      </p:sp>
      <p:sp>
        <p:nvSpPr>
          <p:cNvPr id="18" name="Text Box 29">
            <a:extLst>
              <a:ext uri="{FF2B5EF4-FFF2-40B4-BE49-F238E27FC236}">
                <a16:creationId xmlns:a16="http://schemas.microsoft.com/office/drawing/2014/main" id="{B41A5F79-8C90-9F58-62AB-A63B8D7977F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709611" y="2113112"/>
            <a:ext cx="1267719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rgbClr val="003E6C"/>
                </a:solidFill>
              </a:rPr>
              <a:t>Fase Aplicação</a:t>
            </a:r>
          </a:p>
        </p:txBody>
      </p:sp>
      <p:sp>
        <p:nvSpPr>
          <p:cNvPr id="23" name="Text Box 6">
            <a:extLst>
              <a:ext uri="{FF2B5EF4-FFF2-40B4-BE49-F238E27FC236}">
                <a16:creationId xmlns:a16="http://schemas.microsoft.com/office/drawing/2014/main" id="{344AECC9-D6E1-CAD0-9B33-E727BD76747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04711" y="3284985"/>
            <a:ext cx="764953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Modelo</a:t>
            </a:r>
          </a:p>
        </p:txBody>
      </p:sp>
      <p:sp>
        <p:nvSpPr>
          <p:cNvPr id="24" name="Line 31">
            <a:extLst>
              <a:ext uri="{FF2B5EF4-FFF2-40B4-BE49-F238E27FC236}">
                <a16:creationId xmlns:a16="http://schemas.microsoft.com/office/drawing/2014/main" id="{707763E0-71F9-25F8-D523-802FEBD0356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516878" y="3789040"/>
            <a:ext cx="720000" cy="36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25" name="Line 31">
            <a:extLst>
              <a:ext uri="{FF2B5EF4-FFF2-40B4-BE49-F238E27FC236}">
                <a16:creationId xmlns:a16="http://schemas.microsoft.com/office/drawing/2014/main" id="{B19F5C67-08C8-319F-4165-BC6D2A66B37A}"/>
              </a:ext>
            </a:extLst>
          </p:cNvPr>
          <p:cNvSpPr>
            <a:spLocks noChangeShapeType="1"/>
          </p:cNvSpPr>
          <p:nvPr/>
        </p:nvSpPr>
        <p:spPr bwMode="auto">
          <a:xfrm rot="5400000" flipV="1">
            <a:off x="3561798" y="2843960"/>
            <a:ext cx="450000" cy="90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26" name="Line 31">
            <a:extLst>
              <a:ext uri="{FF2B5EF4-FFF2-40B4-BE49-F238E27FC236}">
                <a16:creationId xmlns:a16="http://schemas.microsoft.com/office/drawing/2014/main" id="{5C5844A7-288D-F57D-C4C8-3257C51F591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516878" y="3789040"/>
            <a:ext cx="3888000" cy="1944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29" name="Line 31">
            <a:extLst>
              <a:ext uri="{FF2B5EF4-FFF2-40B4-BE49-F238E27FC236}">
                <a16:creationId xmlns:a16="http://schemas.microsoft.com/office/drawing/2014/main" id="{BDD0B19B-E52D-7B6D-089C-D0A79C122F3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957038" y="3573016"/>
            <a:ext cx="720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30" name="Line 31">
            <a:extLst>
              <a:ext uri="{FF2B5EF4-FFF2-40B4-BE49-F238E27FC236}">
                <a16:creationId xmlns:a16="http://schemas.microsoft.com/office/drawing/2014/main" id="{E17D6B00-FF38-0FC9-4434-E45F0FD41549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613222" y="3645024"/>
            <a:ext cx="720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32" name="Line 31">
            <a:extLst>
              <a:ext uri="{FF2B5EF4-FFF2-40B4-BE49-F238E27FC236}">
                <a16:creationId xmlns:a16="http://schemas.microsoft.com/office/drawing/2014/main" id="{E0FF1C8A-9FFF-6DDF-9688-C92C47BCF60C}"/>
              </a:ext>
            </a:extLst>
          </p:cNvPr>
          <p:cNvSpPr>
            <a:spLocks noChangeShapeType="1"/>
          </p:cNvSpPr>
          <p:nvPr/>
        </p:nvSpPr>
        <p:spPr bwMode="auto">
          <a:xfrm rot="10800000" flipV="1">
            <a:off x="9349526" y="3068960"/>
            <a:ext cx="0" cy="27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33" name="Line 31">
            <a:extLst>
              <a:ext uri="{FF2B5EF4-FFF2-40B4-BE49-F238E27FC236}">
                <a16:creationId xmlns:a16="http://schemas.microsoft.com/office/drawing/2014/main" id="{F866C931-6E0D-F5B6-CDE2-5D11EA0D9527}"/>
              </a:ext>
            </a:extLst>
          </p:cNvPr>
          <p:cNvSpPr>
            <a:spLocks noChangeShapeType="1"/>
          </p:cNvSpPr>
          <p:nvPr/>
        </p:nvSpPr>
        <p:spPr bwMode="auto">
          <a:xfrm rot="10800000" flipV="1">
            <a:off x="9349527" y="3933056"/>
            <a:ext cx="0" cy="27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34" name="Text Box 6">
            <a:extLst>
              <a:ext uri="{FF2B5EF4-FFF2-40B4-BE49-F238E27FC236}">
                <a16:creationId xmlns:a16="http://schemas.microsoft.com/office/drawing/2014/main" id="{EFA1D60F-ACD2-6094-4E43-0C8DBD52E21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773462" y="4201344"/>
            <a:ext cx="126489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Conhecimento</a:t>
            </a:r>
          </a:p>
        </p:txBody>
      </p:sp>
      <p:sp>
        <p:nvSpPr>
          <p:cNvPr id="35" name="Text Box 6">
            <a:extLst>
              <a:ext uri="{FF2B5EF4-FFF2-40B4-BE49-F238E27FC236}">
                <a16:creationId xmlns:a16="http://schemas.microsoft.com/office/drawing/2014/main" id="{EAB0F8CB-C056-2ED0-7E7F-2C564C484B3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421535" y="2545740"/>
            <a:ext cx="650563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Novos</a:t>
            </a:r>
          </a:p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dados</a:t>
            </a:r>
          </a:p>
        </p:txBody>
      </p:sp>
      <p:sp>
        <p:nvSpPr>
          <p:cNvPr id="36" name="Line 31">
            <a:extLst>
              <a:ext uri="{FF2B5EF4-FFF2-40B4-BE49-F238E27FC236}">
                <a16:creationId xmlns:a16="http://schemas.microsoft.com/office/drawing/2014/main" id="{CE70F70C-E00A-5EAE-8819-239A52BD7719}"/>
              </a:ext>
            </a:extLst>
          </p:cNvPr>
          <p:cNvSpPr>
            <a:spLocks noChangeShapeType="1"/>
          </p:cNvSpPr>
          <p:nvPr/>
        </p:nvSpPr>
        <p:spPr bwMode="auto">
          <a:xfrm rot="10800000" flipV="1">
            <a:off x="4957038" y="3717032"/>
            <a:ext cx="720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37" name="Text Box 29">
            <a:extLst>
              <a:ext uri="{FF2B5EF4-FFF2-40B4-BE49-F238E27FC236}">
                <a16:creationId xmlns:a16="http://schemas.microsoft.com/office/drawing/2014/main" id="{6DD38017-796C-6493-6A52-C622B99BCB0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20320" y="3439759"/>
            <a:ext cx="338554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2400" b="1" dirty="0">
                <a:solidFill>
                  <a:srgbClr val="00B050"/>
                </a:solidFill>
                <a:latin typeface="Calibri"/>
              </a:rPr>
              <a:t>√</a:t>
            </a:r>
            <a:endParaRPr lang="pt-PT" sz="2400" b="1" dirty="0">
              <a:solidFill>
                <a:srgbClr val="00B050"/>
              </a:solidFill>
            </a:endParaRPr>
          </a:p>
        </p:txBody>
      </p:sp>
      <p:sp>
        <p:nvSpPr>
          <p:cNvPr id="38" name="Text Box 29">
            <a:extLst>
              <a:ext uri="{FF2B5EF4-FFF2-40B4-BE49-F238E27FC236}">
                <a16:creationId xmlns:a16="http://schemas.microsoft.com/office/drawing/2014/main" id="{7670ADD0-9CB7-3FE8-F83E-EA37F9D2912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04496" y="3429001"/>
            <a:ext cx="338554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2400" b="1" dirty="0">
                <a:solidFill>
                  <a:srgbClr val="00B050"/>
                </a:solidFill>
                <a:latin typeface="Calibri"/>
              </a:rPr>
              <a:t>√</a:t>
            </a:r>
            <a:endParaRPr lang="pt-PT" sz="2400" b="1" dirty="0">
              <a:solidFill>
                <a:srgbClr val="00B050"/>
              </a:solidFill>
            </a:endParaRPr>
          </a:p>
        </p:txBody>
      </p:sp>
      <p:sp>
        <p:nvSpPr>
          <p:cNvPr id="40" name="Text Box 29">
            <a:extLst>
              <a:ext uri="{FF2B5EF4-FFF2-40B4-BE49-F238E27FC236}">
                <a16:creationId xmlns:a16="http://schemas.microsoft.com/office/drawing/2014/main" id="{ACCB09BC-7D92-EF3D-62BA-F3F5C888EAB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65802" y="2132857"/>
            <a:ext cx="1204625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rgbClr val="003E6C"/>
                </a:solidFill>
              </a:rPr>
              <a:t>Fase Afinação</a:t>
            </a:r>
          </a:p>
        </p:txBody>
      </p:sp>
      <p:sp>
        <p:nvSpPr>
          <p:cNvPr id="41" name="Text Box 29">
            <a:extLst>
              <a:ext uri="{FF2B5EF4-FFF2-40B4-BE49-F238E27FC236}">
                <a16:creationId xmlns:a16="http://schemas.microsoft.com/office/drawing/2014/main" id="{FB0029D4-6753-F597-575A-41BD503F191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12822" y="5085185"/>
            <a:ext cx="787460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</a:rPr>
              <a:t>validação</a:t>
            </a:r>
          </a:p>
        </p:txBody>
      </p:sp>
      <p:sp>
        <p:nvSpPr>
          <p:cNvPr id="43" name="Line 31">
            <a:extLst>
              <a:ext uri="{FF2B5EF4-FFF2-40B4-BE49-F238E27FC236}">
                <a16:creationId xmlns:a16="http://schemas.microsoft.com/office/drawing/2014/main" id="{29DF4926-8DD5-2248-E3F7-C253B2F09DF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724790" y="4869160"/>
            <a:ext cx="360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44" name="Text Box 26">
            <a:extLst>
              <a:ext uri="{FF2B5EF4-FFF2-40B4-BE49-F238E27FC236}">
                <a16:creationId xmlns:a16="http://schemas.microsoft.com/office/drawing/2014/main" id="{2714D106-CF56-EF1F-A6C1-35E87B99BA0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52782" y="4581129"/>
            <a:ext cx="433132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dirty="0">
                <a:solidFill>
                  <a:srgbClr val="003E6C"/>
                </a:solidFill>
              </a:rPr>
              <a:t>1/4</a:t>
            </a:r>
          </a:p>
        </p:txBody>
      </p:sp>
      <p:sp>
        <p:nvSpPr>
          <p:cNvPr id="45" name="Line 31">
            <a:extLst>
              <a:ext uri="{FF2B5EF4-FFF2-40B4-BE49-F238E27FC236}">
                <a16:creationId xmlns:a16="http://schemas.microsoft.com/office/drawing/2014/main" id="{0378890F-E4D2-EB6D-BD05-9C2B7B13DA36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516878" y="3789040"/>
            <a:ext cx="2304000" cy="1152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48" name="Line 31">
            <a:extLst>
              <a:ext uri="{FF2B5EF4-FFF2-40B4-BE49-F238E27FC236}">
                <a16:creationId xmlns:a16="http://schemas.microsoft.com/office/drawing/2014/main" id="{DF5A9C51-BE11-D37F-5A92-448B1ACAEE46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197398" y="3645024"/>
            <a:ext cx="720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49" name="Text Box 6">
            <a:extLst>
              <a:ext uri="{FF2B5EF4-FFF2-40B4-BE49-F238E27FC236}">
                <a16:creationId xmlns:a16="http://schemas.microsoft.com/office/drawing/2014/main" id="{EA646E43-7F2C-47ED-75A2-280DA3A29D1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243079" y="2420888"/>
            <a:ext cx="896399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Avaliação</a:t>
            </a:r>
          </a:p>
        </p:txBody>
      </p:sp>
      <p:sp>
        <p:nvSpPr>
          <p:cNvPr id="50" name="Text Box 6">
            <a:extLst>
              <a:ext uri="{FF2B5EF4-FFF2-40B4-BE49-F238E27FC236}">
                <a16:creationId xmlns:a16="http://schemas.microsoft.com/office/drawing/2014/main" id="{62A5E17B-12B6-6AE5-8198-C704F1DB01F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07768" y="2420888"/>
            <a:ext cx="1142557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Ajustamento</a:t>
            </a:r>
          </a:p>
        </p:txBody>
      </p:sp>
      <p:sp>
        <p:nvSpPr>
          <p:cNvPr id="4" name="Text Box 6">
            <a:extLst>
              <a:ext uri="{FF2B5EF4-FFF2-40B4-BE49-F238E27FC236}">
                <a16:creationId xmlns:a16="http://schemas.microsoft.com/office/drawing/2014/main" id="{00B59CA6-E65A-57BD-B51B-126832F249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68066" y="2420888"/>
            <a:ext cx="1507785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 err="1">
                <a:solidFill>
                  <a:schemeClr val="tx1"/>
                </a:solidFill>
              </a:rPr>
              <a:t>Hiper-parâmetros</a:t>
            </a:r>
            <a:endParaRPr lang="pt-PT" sz="14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6660427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A3C2698-AF24-F13F-6CF7-F4A1201223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6599" y="3427057"/>
            <a:ext cx="3835512" cy="252025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Box 13">
                <a:extLst>
                  <a:ext uri="{FF2B5EF4-FFF2-40B4-BE49-F238E27FC236}">
                    <a16:creationId xmlns:a16="http://schemas.microsoft.com/office/drawing/2014/main" id="{7A8DCAC9-AF69-736C-8F70-21E49E64DFF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063552" y="2077767"/>
                <a:ext cx="7920432" cy="185102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pPr algn="just">
                  <a:spcBef>
                    <a:spcPts val="1200"/>
                  </a:spcBef>
                </a:pPr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Root </a:t>
                </a:r>
                <a:r>
                  <a:rPr lang="pt-PT" sz="2000" dirty="0" err="1">
                    <a:solidFill>
                      <a:schemeClr val="tx1"/>
                    </a:solidFill>
                    <a:latin typeface="Humnst777 BT"/>
                  </a:rPr>
                  <a:t>Mean</a:t>
                </a:r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 </a:t>
                </a:r>
                <a:r>
                  <a:rPr lang="pt-PT" sz="2000" dirty="0" err="1">
                    <a:solidFill>
                      <a:schemeClr val="tx1"/>
                    </a:solidFill>
                    <a:latin typeface="Humnst777 BT"/>
                  </a:rPr>
                  <a:t>Square</a:t>
                </a:r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 Error (RMSE) </a:t>
                </a:r>
              </a:p>
              <a:p>
                <a:pPr algn="just">
                  <a:spcBef>
                    <a:spcPts val="1200"/>
                  </a:spcBef>
                </a:pPr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RMSE </a:t>
                </a:r>
                <a14:m>
                  <m:oMath xmlns:m="http://schemas.openxmlformats.org/officeDocument/2006/math">
                    <m:r>
                      <a:rPr lang="pt-PT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pt-PT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nary>
                          <m:naryPr>
                            <m:chr m:val="∑"/>
                            <m:limLoc m:val="subSup"/>
                            <m:ctrlPr>
                              <a:rPr lang="pt-PT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5"/>
                              </m:rPr>
                              <a:rPr lang="pt-PT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PT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pt-PT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  <m:e>
                            <m:f>
                              <m:fPr>
                                <m:type m:val="lin"/>
                                <m:ctrlPr>
                                  <a:rPr lang="pt-PT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p>
                                  <m:sSupPr>
                                    <m:ctrlPr>
                                      <a:rPr lang="pt-PT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pt-PT" sz="20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acc>
                                          <m:accPr>
                                            <m:chr m:val="̂"/>
                                            <m:ctrlPr>
                                              <a:rPr lang="pt-PT" sz="2000" i="1">
                                                <a:solidFill>
                                                  <a:schemeClr val="tx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pt-PT" sz="2000" i="1">
                                                <a:solidFill>
                                                  <a:schemeClr val="tx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𝑦</m:t>
                                            </m:r>
                                          </m:e>
                                        </m:acc>
                                        <m:r>
                                          <a:rPr lang="pt-PT" sz="20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pt-PT" sz="20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</m:d>
                                  </m:e>
                                  <m:sup>
                                    <m:r>
                                      <a:rPr lang="pt-PT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num>
                              <m:den>
                                <m:r>
                                  <a:rPr lang="pt-PT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den>
                            </m:f>
                          </m:e>
                        </m:nary>
                      </m:e>
                    </m:rad>
                  </m:oMath>
                </a14:m>
                <a:endParaRPr lang="pt-PT" sz="2000" dirty="0">
                  <a:solidFill>
                    <a:schemeClr val="tx1"/>
                  </a:solidFill>
                  <a:latin typeface="Humnst777 BT"/>
                </a:endParaRPr>
              </a:p>
              <a:p>
                <a:pPr algn="just">
                  <a:spcBef>
                    <a:spcPts val="1200"/>
                  </a:spcBef>
                </a:pPr>
                <a:r>
                  <a:rPr lang="pt-PT" sz="2000" dirty="0" err="1">
                    <a:solidFill>
                      <a:schemeClr val="tx1"/>
                    </a:solidFill>
                    <a:latin typeface="Humnst777 BT"/>
                  </a:rPr>
                  <a:t>Mean</a:t>
                </a:r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 </a:t>
                </a:r>
                <a:r>
                  <a:rPr lang="pt-PT" sz="2000" dirty="0" err="1">
                    <a:solidFill>
                      <a:schemeClr val="tx1"/>
                    </a:solidFill>
                    <a:latin typeface="Humnst777 BT"/>
                  </a:rPr>
                  <a:t>Absoute</a:t>
                </a:r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 Error (MAE)</a:t>
                </a:r>
              </a:p>
              <a:p>
                <a:pPr algn="just">
                  <a:spcBef>
                    <a:spcPts val="1200"/>
                  </a:spcBef>
                </a:pPr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MAE </a:t>
                </a:r>
                <a14:m>
                  <m:oMath xmlns:m="http://schemas.openxmlformats.org/officeDocument/2006/math">
                    <m:r>
                      <a:rPr lang="pt-PT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ctrlPr>
                          <a:rPr lang="pt-PT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5"/>
                          </m:rPr>
                          <a:rPr lang="pt-PT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PT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pt-PT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f>
                          <m:fPr>
                            <m:type m:val="lin"/>
                            <m:ctrlPr>
                              <a:rPr lang="pt-PT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d>
                              <m:dPr>
                                <m:begChr m:val="|"/>
                                <m:endChr m:val="|"/>
                                <m:ctrlPr>
                                  <a:rPr lang="pt-PT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acc>
                                  <m:accPr>
                                    <m:chr m:val="̂"/>
                                    <m:ctrlPr>
                                      <a:rPr lang="pt-PT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pt-PT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acc>
                                <m:r>
                                  <a:rPr lang="pt-PT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pt-PT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d>
                          </m:num>
                          <m:den>
                            <m:r>
                              <a:rPr lang="pt-PT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den>
                        </m:f>
                      </m:e>
                    </m:nary>
                  </m:oMath>
                </a14:m>
                <a:endParaRPr lang="pt-PT" sz="2000" dirty="0">
                  <a:solidFill>
                    <a:schemeClr val="tx1"/>
                  </a:solidFill>
                  <a:latin typeface="Humnst777 BT"/>
                </a:endParaRPr>
              </a:p>
            </p:txBody>
          </p:sp>
        </mc:Choice>
        <mc:Fallback xmlns="">
          <p:sp>
            <p:nvSpPr>
              <p:cNvPr id="5" name="Text Box 13">
                <a:extLst>
                  <a:ext uri="{FF2B5EF4-FFF2-40B4-BE49-F238E27FC236}">
                    <a16:creationId xmlns:a16="http://schemas.microsoft.com/office/drawing/2014/main" id="{7A8DCAC9-AF69-736C-8F70-21E49E64DF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063552" y="2077767"/>
                <a:ext cx="7920432" cy="1851020"/>
              </a:xfrm>
              <a:prstGeom prst="rect">
                <a:avLst/>
              </a:prstGeom>
              <a:blipFill>
                <a:blip r:embed="rId4"/>
                <a:stretch>
                  <a:fillRect l="-847" t="-1980" b="-39274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pt-P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2" name="Text Box 376">
            <a:extLst>
              <a:ext uri="{FF2B5EF4-FFF2-40B4-BE49-F238E27FC236}">
                <a16:creationId xmlns:a16="http://schemas.microsoft.com/office/drawing/2014/main" id="{EB6B6BB2-6F69-BEBB-9BFD-CD4095E030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11709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Métricas: variável contínua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  <p:sp>
        <p:nvSpPr>
          <p:cNvPr id="3" name="Rectangle 38">
            <a:extLst>
              <a:ext uri="{FF2B5EF4-FFF2-40B4-BE49-F238E27FC236}">
                <a16:creationId xmlns:a16="http://schemas.microsoft.com/office/drawing/2014/main" id="{EA09A705-6330-F9C2-57C5-4CD7AE9AFE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Avaliação de modelos</a:t>
            </a:r>
          </a:p>
        </p:txBody>
      </p:sp>
    </p:spTree>
    <p:extLst>
      <p:ext uri="{BB962C8B-B14F-4D97-AF65-F5344CB8AC3E}">
        <p14:creationId xmlns:p14="http://schemas.microsoft.com/office/powerpoint/2010/main" val="394875676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632605-94AC-BBFC-F37C-DD21FD7FDC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FB20E2D-1E1F-CFDE-D356-A0A3B25C1DD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45088" y="3635735"/>
            <a:ext cx="3959238" cy="260155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Box 13">
                <a:extLst>
                  <a:ext uri="{FF2B5EF4-FFF2-40B4-BE49-F238E27FC236}">
                    <a16:creationId xmlns:a16="http://schemas.microsoft.com/office/drawing/2014/main" id="{46868D6F-B08D-7533-CEBC-ECCA578D34A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063356" y="2132856"/>
                <a:ext cx="7920432" cy="4093428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pPr algn="just">
                  <a:spcBef>
                    <a:spcPts val="1200"/>
                  </a:spcBef>
                </a:pPr>
                <a:endParaRPr lang="pt-PT" sz="2000" dirty="0">
                  <a:solidFill>
                    <a:schemeClr val="tx1"/>
                  </a:solidFill>
                  <a:latin typeface="Humnst777 BT"/>
                </a:endParaRPr>
              </a:p>
              <a:p>
                <a:pPr algn="just">
                  <a:spcBef>
                    <a:spcPts val="1200"/>
                  </a:spcBef>
                </a:pPr>
                <a:endParaRPr lang="pt-PT" sz="2000" dirty="0">
                  <a:solidFill>
                    <a:schemeClr val="tx1"/>
                  </a:solidFill>
                  <a:latin typeface="Humnst777 BT"/>
                </a:endParaRPr>
              </a:p>
              <a:p>
                <a:pPr algn="just">
                  <a:spcBef>
                    <a:spcPts val="1200"/>
                  </a:spcBef>
                </a:pPr>
                <a:endParaRPr lang="pt-PT" sz="2000" dirty="0">
                  <a:solidFill>
                    <a:schemeClr val="tx1"/>
                  </a:solidFill>
                  <a:latin typeface="Humnst777 BT"/>
                </a:endParaRPr>
              </a:p>
              <a:p>
                <a:pPr algn="just">
                  <a:spcBef>
                    <a:spcPts val="3600"/>
                  </a:spcBef>
                </a:pPr>
                <a:r>
                  <a:rPr lang="pt-PT" sz="2000" dirty="0" err="1">
                    <a:solidFill>
                      <a:schemeClr val="tx1"/>
                    </a:solidFill>
                    <a:latin typeface="Humnst777 BT"/>
                  </a:rPr>
                  <a:t>True</a:t>
                </a:r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 Positive Rate (</a:t>
                </a:r>
                <a:r>
                  <a:rPr lang="pt-PT" sz="2000" dirty="0" err="1">
                    <a:solidFill>
                      <a:schemeClr val="tx1"/>
                    </a:solidFill>
                    <a:latin typeface="Humnst777 BT"/>
                  </a:rPr>
                  <a:t>Sensitivity</a:t>
                </a:r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)</a:t>
                </a:r>
                <a:endParaRPr lang="pt-PT" sz="20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 algn="just">
                  <a:spcBef>
                    <a:spcPts val="12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PT" sz="2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type m:val="lin"/>
                          <m:ctrlPr>
                            <a:rPr lang="pt-PT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pt-PT" sz="20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TP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pt-PT" sz="20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P</m:t>
                          </m:r>
                        </m:den>
                      </m:f>
                    </m:oMath>
                  </m:oMathPara>
                </a14:m>
                <a:endParaRPr lang="pt-PT" sz="2000" dirty="0">
                  <a:solidFill>
                    <a:schemeClr val="tx1"/>
                  </a:solidFill>
                  <a:latin typeface="Humnst777 BT"/>
                </a:endParaRPr>
              </a:p>
              <a:p>
                <a:pPr algn="just">
                  <a:spcBef>
                    <a:spcPts val="1200"/>
                  </a:spcBef>
                </a:pPr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False Positive Rate (1 - </a:t>
                </a:r>
                <a:r>
                  <a:rPr lang="pt-PT" sz="2000" dirty="0" err="1">
                    <a:solidFill>
                      <a:schemeClr val="tx1"/>
                    </a:solidFill>
                    <a:latin typeface="Humnst777 BT"/>
                  </a:rPr>
                  <a:t>Specificity</a:t>
                </a:r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)</a:t>
                </a:r>
                <a:endParaRPr lang="pt-PT" sz="20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 algn="just">
                  <a:spcBef>
                    <a:spcPts val="12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PT" sz="2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type m:val="lin"/>
                          <m:ctrlPr>
                            <a:rPr lang="pt-PT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pt-PT" sz="20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FP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pt-PT" sz="20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N</m:t>
                          </m:r>
                        </m:den>
                      </m:f>
                      <m:r>
                        <a:rPr lang="pt-PT" sz="2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=1−</m:t>
                      </m:r>
                      <m:f>
                        <m:fPr>
                          <m:type m:val="lin"/>
                          <m:ctrlPr>
                            <a:rPr lang="pt-PT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pt-PT" sz="20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TN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pt-PT" sz="20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N</m:t>
                          </m:r>
                        </m:den>
                      </m:f>
                    </m:oMath>
                  </m:oMathPara>
                </a14:m>
                <a:endParaRPr lang="pt-PT" sz="2000" dirty="0">
                  <a:solidFill>
                    <a:schemeClr val="tx1"/>
                  </a:solidFill>
                  <a:latin typeface="Humnst777 BT"/>
                </a:endParaRPr>
              </a:p>
              <a:p>
                <a:pPr algn="just">
                  <a:spcBef>
                    <a:spcPts val="1200"/>
                  </a:spcBef>
                </a:pPr>
                <a:endParaRPr lang="pt-PT" sz="2000" dirty="0">
                  <a:solidFill>
                    <a:schemeClr val="tx1"/>
                  </a:solidFill>
                  <a:latin typeface="Humnst777 BT"/>
                </a:endParaRPr>
              </a:p>
              <a:p>
                <a:pPr algn="just">
                  <a:spcBef>
                    <a:spcPts val="1200"/>
                  </a:spcBef>
                </a:pPr>
                <a:r>
                  <a:rPr lang="pt-PT" sz="2000" dirty="0" err="1">
                    <a:solidFill>
                      <a:schemeClr val="tx1"/>
                    </a:solidFill>
                    <a:latin typeface="Humnst777 BT"/>
                  </a:rPr>
                  <a:t>Trade-off</a:t>
                </a:r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: </a:t>
                </a:r>
                <a:r>
                  <a:rPr lang="pt-PT" sz="2000" dirty="0" err="1">
                    <a:solidFill>
                      <a:schemeClr val="tx1"/>
                    </a:solidFill>
                    <a:latin typeface="Humnst777 BT"/>
                  </a:rPr>
                  <a:t>Sensitivity</a:t>
                </a:r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 vs. </a:t>
                </a:r>
                <a:r>
                  <a:rPr lang="pt-PT" sz="2000" dirty="0" err="1">
                    <a:solidFill>
                      <a:schemeClr val="tx1"/>
                    </a:solidFill>
                    <a:latin typeface="Humnst777 BT"/>
                  </a:rPr>
                  <a:t>Specificity</a:t>
                </a:r>
                <a:endParaRPr lang="pt-PT" sz="2000" dirty="0">
                  <a:solidFill>
                    <a:schemeClr val="tx1"/>
                  </a:solidFill>
                  <a:latin typeface="Humnst777 BT"/>
                </a:endParaRPr>
              </a:p>
            </p:txBody>
          </p:sp>
        </mc:Choice>
        <mc:Fallback xmlns="">
          <p:sp>
            <p:nvSpPr>
              <p:cNvPr id="5" name="Text Box 13">
                <a:extLst>
                  <a:ext uri="{FF2B5EF4-FFF2-40B4-BE49-F238E27FC236}">
                    <a16:creationId xmlns:a16="http://schemas.microsoft.com/office/drawing/2014/main" id="{46868D6F-B08D-7533-CEBC-ECCA578D34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063356" y="2132856"/>
                <a:ext cx="7920432" cy="4093428"/>
              </a:xfrm>
              <a:prstGeom prst="rect">
                <a:avLst/>
              </a:prstGeom>
              <a:blipFill>
                <a:blip r:embed="rId4"/>
                <a:stretch>
                  <a:fillRect l="-769" b="-1788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pt-P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413" name="Text Box 39">
            <a:extLst>
              <a:ext uri="{FF2B5EF4-FFF2-40B4-BE49-F238E27FC236}">
                <a16:creationId xmlns:a16="http://schemas.microsoft.com/office/drawing/2014/main" id="{0D3327EF-CA35-1DDA-EEC9-6924252129F0}"/>
              </a:ext>
            </a:extLst>
          </p:cNvPr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>
            <a:extLst>
              <a:ext uri="{FF2B5EF4-FFF2-40B4-BE49-F238E27FC236}">
                <a16:creationId xmlns:a16="http://schemas.microsoft.com/office/drawing/2014/main" id="{63F2FFE3-EE77-555E-8A5A-4E8D9F973F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>
            <a:extLst>
              <a:ext uri="{FF2B5EF4-FFF2-40B4-BE49-F238E27FC236}">
                <a16:creationId xmlns:a16="http://schemas.microsoft.com/office/drawing/2014/main" id="{69EF34AA-DB97-02CB-8953-B98D6102FA4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2" name="Text Box 376">
            <a:extLst>
              <a:ext uri="{FF2B5EF4-FFF2-40B4-BE49-F238E27FC236}">
                <a16:creationId xmlns:a16="http://schemas.microsoft.com/office/drawing/2014/main" id="{57941C65-3071-D3B8-364E-6A9FCCEDF03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11709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Métricas: variável categórica (binária)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  <p:sp>
        <p:nvSpPr>
          <p:cNvPr id="3" name="Rectangle 38">
            <a:extLst>
              <a:ext uri="{FF2B5EF4-FFF2-40B4-BE49-F238E27FC236}">
                <a16:creationId xmlns:a16="http://schemas.microsoft.com/office/drawing/2014/main" id="{6382609D-70C7-56FA-2834-2F23501042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Avaliação de modelos</a:t>
            </a:r>
          </a:p>
        </p:txBody>
      </p:sp>
      <p:graphicFrame>
        <p:nvGraphicFramePr>
          <p:cNvPr id="54" name="Table 53">
            <a:extLst>
              <a:ext uri="{FF2B5EF4-FFF2-40B4-BE49-F238E27FC236}">
                <a16:creationId xmlns:a16="http://schemas.microsoft.com/office/drawing/2014/main" id="{503DD20C-DD48-7651-5AF0-3F28A98C1D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24538847"/>
              </p:ext>
            </p:extLst>
          </p:nvPr>
        </p:nvGraphicFramePr>
        <p:xfrm>
          <a:off x="2044390" y="2132856"/>
          <a:ext cx="4032448" cy="14798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52128">
                  <a:extLst>
                    <a:ext uri="{9D8B030D-6E8A-4147-A177-3AD203B41FA5}">
                      <a16:colId xmlns:a16="http://schemas.microsoft.com/office/drawing/2014/main" val="1470594638"/>
                    </a:ext>
                  </a:extLst>
                </a:gridCol>
                <a:gridCol w="1440160">
                  <a:extLst>
                    <a:ext uri="{9D8B030D-6E8A-4147-A177-3AD203B41FA5}">
                      <a16:colId xmlns:a16="http://schemas.microsoft.com/office/drawing/2014/main" val="2333174679"/>
                    </a:ext>
                  </a:extLst>
                </a:gridCol>
                <a:gridCol w="1440160">
                  <a:extLst>
                    <a:ext uri="{9D8B030D-6E8A-4147-A177-3AD203B41FA5}">
                      <a16:colId xmlns:a16="http://schemas.microsoft.com/office/drawing/2014/main" val="3631507993"/>
                    </a:ext>
                  </a:extLst>
                </a:gridCol>
              </a:tblGrid>
              <a:tr h="369963">
                <a:tc>
                  <a:txBody>
                    <a:bodyPr/>
                    <a:lstStyle/>
                    <a:p>
                      <a:pPr algn="ctr"/>
                      <a:endParaRPr lang="pt-PT" sz="1750" dirty="0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pt-PT" sz="1750" dirty="0"/>
                        <a:t>Real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E6C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pt-PT" dirty="0"/>
                    </a:p>
                  </a:txBody>
                  <a:tcPr anchor="ctr"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E6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4871798"/>
                  </a:ext>
                </a:extLst>
              </a:tr>
              <a:tr h="369963">
                <a:tc>
                  <a:txBody>
                    <a:bodyPr/>
                    <a:lstStyle/>
                    <a:p>
                      <a:pPr algn="ctr"/>
                      <a:r>
                        <a:rPr lang="pt-PT" sz="1750" b="1" dirty="0" err="1">
                          <a:solidFill>
                            <a:schemeClr val="bg1"/>
                          </a:solidFill>
                        </a:rPr>
                        <a:t>Predicted</a:t>
                      </a:r>
                      <a:endParaRPr lang="pt-PT" sz="175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E6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750" b="1" dirty="0">
                          <a:solidFill>
                            <a:schemeClr val="bg1"/>
                          </a:solidFill>
                        </a:rPr>
                        <a:t>Positive (P.)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E6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750" b="1" dirty="0">
                          <a:solidFill>
                            <a:schemeClr val="bg1"/>
                          </a:solidFill>
                        </a:rPr>
                        <a:t>Negative (N.)</a:t>
                      </a:r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E6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59807646"/>
                  </a:ext>
                </a:extLst>
              </a:tr>
              <a:tr h="369963">
                <a:tc>
                  <a:txBody>
                    <a:bodyPr/>
                    <a:lstStyle/>
                    <a:p>
                      <a:pPr algn="l"/>
                      <a:r>
                        <a:rPr lang="pt-PT" sz="1750" b="1" dirty="0">
                          <a:solidFill>
                            <a:schemeClr val="bg1"/>
                          </a:solidFill>
                        </a:rPr>
                        <a:t>Positive</a:t>
                      </a:r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003E6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750" b="1" dirty="0" err="1"/>
                        <a:t>True</a:t>
                      </a:r>
                      <a:r>
                        <a:rPr lang="pt-PT" sz="1750" b="1" dirty="0"/>
                        <a:t> P.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750" dirty="0"/>
                        <a:t>False P.</a:t>
                      </a:r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4496222"/>
                  </a:ext>
                </a:extLst>
              </a:tr>
              <a:tr h="369963">
                <a:tc>
                  <a:txBody>
                    <a:bodyPr/>
                    <a:lstStyle/>
                    <a:p>
                      <a:pPr algn="l"/>
                      <a:r>
                        <a:rPr lang="pt-PT" sz="1750" b="1" dirty="0">
                          <a:solidFill>
                            <a:schemeClr val="bg1"/>
                          </a:solidFill>
                        </a:rPr>
                        <a:t>Negative</a:t>
                      </a:r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003E6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750" dirty="0"/>
                        <a:t>False N.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750" b="1" dirty="0" err="1"/>
                        <a:t>True</a:t>
                      </a:r>
                      <a:r>
                        <a:rPr lang="pt-PT" sz="1750" b="1" dirty="0"/>
                        <a:t> N.</a:t>
                      </a:r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15540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0541113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Box 13">
                <a:extLst>
                  <a:ext uri="{FF2B5EF4-FFF2-40B4-BE49-F238E27FC236}">
                    <a16:creationId xmlns:a16="http://schemas.microsoft.com/office/drawing/2014/main" id="{BC4AD219-9BC9-B2E2-D663-018CCF766CD3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063356" y="2132856"/>
                <a:ext cx="7920432" cy="4093428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pPr algn="just">
                  <a:spcBef>
                    <a:spcPts val="1200"/>
                  </a:spcBef>
                </a:pPr>
                <a:endParaRPr lang="pt-PT" sz="2000" dirty="0">
                  <a:solidFill>
                    <a:schemeClr val="tx1"/>
                  </a:solidFill>
                  <a:latin typeface="Humnst777 BT"/>
                </a:endParaRPr>
              </a:p>
              <a:p>
                <a:pPr algn="just">
                  <a:spcBef>
                    <a:spcPts val="1200"/>
                  </a:spcBef>
                </a:pPr>
                <a:endParaRPr lang="pt-PT" sz="2000" dirty="0">
                  <a:solidFill>
                    <a:schemeClr val="tx1"/>
                  </a:solidFill>
                  <a:latin typeface="Humnst777 BT"/>
                </a:endParaRPr>
              </a:p>
              <a:p>
                <a:pPr algn="just">
                  <a:spcBef>
                    <a:spcPts val="1200"/>
                  </a:spcBef>
                </a:pPr>
                <a:endParaRPr lang="pt-PT" sz="2000" dirty="0">
                  <a:solidFill>
                    <a:schemeClr val="tx1"/>
                  </a:solidFill>
                  <a:latin typeface="Humnst777 BT"/>
                </a:endParaRPr>
              </a:p>
              <a:p>
                <a:pPr algn="just">
                  <a:spcBef>
                    <a:spcPts val="3600"/>
                  </a:spcBef>
                </a:pPr>
                <a:r>
                  <a:rPr lang="pt-PT" sz="2000" dirty="0" err="1">
                    <a:solidFill>
                      <a:schemeClr val="tx1"/>
                    </a:solidFill>
                    <a:latin typeface="Humnst777 BT"/>
                  </a:rPr>
                  <a:t>True</a:t>
                </a:r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 Positive Rate (</a:t>
                </a:r>
                <a:r>
                  <a:rPr lang="pt-PT" sz="2000" dirty="0" err="1">
                    <a:solidFill>
                      <a:schemeClr val="tx1"/>
                    </a:solidFill>
                    <a:latin typeface="Humnst777 BT"/>
                  </a:rPr>
                  <a:t>Sensitivity</a:t>
                </a:r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)</a:t>
                </a:r>
                <a:endParaRPr lang="pt-PT" sz="20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 algn="just">
                  <a:spcBef>
                    <a:spcPts val="12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PT" sz="2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type m:val="lin"/>
                          <m:ctrlPr>
                            <a:rPr lang="pt-PT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pt-PT" sz="20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TP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pt-PT" sz="20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P</m:t>
                          </m:r>
                        </m:den>
                      </m:f>
                    </m:oMath>
                  </m:oMathPara>
                </a14:m>
                <a:endParaRPr lang="pt-PT" sz="2000" dirty="0">
                  <a:solidFill>
                    <a:schemeClr val="tx1"/>
                  </a:solidFill>
                  <a:latin typeface="Humnst777 BT"/>
                </a:endParaRPr>
              </a:p>
              <a:p>
                <a:pPr algn="just">
                  <a:spcBef>
                    <a:spcPts val="1200"/>
                  </a:spcBef>
                </a:pPr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False Positive Rate (1 - </a:t>
                </a:r>
                <a:r>
                  <a:rPr lang="pt-PT" sz="2000" dirty="0" err="1">
                    <a:solidFill>
                      <a:schemeClr val="tx1"/>
                    </a:solidFill>
                    <a:latin typeface="Humnst777 BT"/>
                  </a:rPr>
                  <a:t>Specificity</a:t>
                </a:r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)</a:t>
                </a:r>
                <a:endParaRPr lang="pt-PT" sz="20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 algn="just">
                  <a:spcBef>
                    <a:spcPts val="12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PT" sz="2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type m:val="lin"/>
                          <m:ctrlPr>
                            <a:rPr lang="pt-PT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pt-PT" sz="20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FP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pt-PT" sz="20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N</m:t>
                          </m:r>
                        </m:den>
                      </m:f>
                      <m:r>
                        <a:rPr lang="pt-PT" sz="2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=1−</m:t>
                      </m:r>
                      <m:f>
                        <m:fPr>
                          <m:type m:val="lin"/>
                          <m:ctrlPr>
                            <a:rPr lang="pt-PT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pt-PT" sz="20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TN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pt-PT" sz="20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N</m:t>
                          </m:r>
                        </m:den>
                      </m:f>
                    </m:oMath>
                  </m:oMathPara>
                </a14:m>
                <a:endParaRPr lang="pt-PT" sz="2000" dirty="0">
                  <a:solidFill>
                    <a:schemeClr val="tx1"/>
                  </a:solidFill>
                  <a:latin typeface="Humnst777 BT"/>
                </a:endParaRPr>
              </a:p>
              <a:p>
                <a:pPr algn="just">
                  <a:spcBef>
                    <a:spcPts val="1200"/>
                  </a:spcBef>
                </a:pPr>
                <a:endParaRPr lang="pt-PT" sz="2000" dirty="0">
                  <a:solidFill>
                    <a:schemeClr val="tx1"/>
                  </a:solidFill>
                  <a:latin typeface="Humnst777 BT"/>
                </a:endParaRPr>
              </a:p>
              <a:p>
                <a:pPr algn="just">
                  <a:spcBef>
                    <a:spcPts val="1200"/>
                  </a:spcBef>
                </a:pPr>
                <a:r>
                  <a:rPr lang="pt-PT" sz="2000" dirty="0" err="1">
                    <a:solidFill>
                      <a:schemeClr val="tx1"/>
                    </a:solidFill>
                    <a:latin typeface="Humnst777 BT"/>
                  </a:rPr>
                  <a:t>Trade-off</a:t>
                </a:r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: </a:t>
                </a:r>
                <a:r>
                  <a:rPr lang="pt-PT" sz="2000" dirty="0" err="1">
                    <a:solidFill>
                      <a:schemeClr val="tx1"/>
                    </a:solidFill>
                    <a:latin typeface="Humnst777 BT"/>
                  </a:rPr>
                  <a:t>Sensitivity</a:t>
                </a:r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 vs. </a:t>
                </a:r>
                <a:r>
                  <a:rPr lang="pt-PT" sz="2000" dirty="0" err="1">
                    <a:solidFill>
                      <a:schemeClr val="tx1"/>
                    </a:solidFill>
                    <a:latin typeface="Humnst777 BT"/>
                  </a:rPr>
                  <a:t>Specificity</a:t>
                </a:r>
                <a:endParaRPr lang="pt-PT" sz="2000" dirty="0">
                  <a:solidFill>
                    <a:schemeClr val="tx1"/>
                  </a:solidFill>
                  <a:latin typeface="Humnst777 BT"/>
                </a:endParaRPr>
              </a:p>
            </p:txBody>
          </p:sp>
        </mc:Choice>
        <mc:Fallback xmlns="">
          <p:sp>
            <p:nvSpPr>
              <p:cNvPr id="2" name="Text Box 13">
                <a:extLst>
                  <a:ext uri="{FF2B5EF4-FFF2-40B4-BE49-F238E27FC236}">
                    <a16:creationId xmlns:a16="http://schemas.microsoft.com/office/drawing/2014/main" id="{BC4AD219-9BC9-B2E2-D663-018CCF766C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063356" y="2132856"/>
                <a:ext cx="7920432" cy="4093428"/>
              </a:xfrm>
              <a:prstGeom prst="rect">
                <a:avLst/>
              </a:prstGeom>
              <a:blipFill>
                <a:blip r:embed="rId3"/>
                <a:stretch>
                  <a:fillRect l="-769" b="-1788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pt-PT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7AC8C31-3CF4-4782-15B7-E2F0C00A55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1800416"/>
              </p:ext>
            </p:extLst>
          </p:nvPr>
        </p:nvGraphicFramePr>
        <p:xfrm>
          <a:off x="2044390" y="2132856"/>
          <a:ext cx="4032448" cy="14798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52128">
                  <a:extLst>
                    <a:ext uri="{9D8B030D-6E8A-4147-A177-3AD203B41FA5}">
                      <a16:colId xmlns:a16="http://schemas.microsoft.com/office/drawing/2014/main" val="1470594638"/>
                    </a:ext>
                  </a:extLst>
                </a:gridCol>
                <a:gridCol w="1440160">
                  <a:extLst>
                    <a:ext uri="{9D8B030D-6E8A-4147-A177-3AD203B41FA5}">
                      <a16:colId xmlns:a16="http://schemas.microsoft.com/office/drawing/2014/main" val="2333174679"/>
                    </a:ext>
                  </a:extLst>
                </a:gridCol>
                <a:gridCol w="1440160">
                  <a:extLst>
                    <a:ext uri="{9D8B030D-6E8A-4147-A177-3AD203B41FA5}">
                      <a16:colId xmlns:a16="http://schemas.microsoft.com/office/drawing/2014/main" val="3631507993"/>
                    </a:ext>
                  </a:extLst>
                </a:gridCol>
              </a:tblGrid>
              <a:tr h="369963">
                <a:tc>
                  <a:txBody>
                    <a:bodyPr/>
                    <a:lstStyle/>
                    <a:p>
                      <a:pPr algn="ctr"/>
                      <a:endParaRPr lang="pt-PT" sz="1750" dirty="0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pt-PT" sz="1750" dirty="0"/>
                        <a:t>Real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E6C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pt-PT" dirty="0"/>
                    </a:p>
                  </a:txBody>
                  <a:tcPr anchor="ctr"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E6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4871798"/>
                  </a:ext>
                </a:extLst>
              </a:tr>
              <a:tr h="369963">
                <a:tc>
                  <a:txBody>
                    <a:bodyPr/>
                    <a:lstStyle/>
                    <a:p>
                      <a:pPr algn="ctr"/>
                      <a:r>
                        <a:rPr lang="pt-PT" sz="1750" b="1" dirty="0" err="1">
                          <a:solidFill>
                            <a:schemeClr val="bg1"/>
                          </a:solidFill>
                        </a:rPr>
                        <a:t>Predicted</a:t>
                      </a:r>
                      <a:endParaRPr lang="pt-PT" sz="175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E6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750" b="1" dirty="0">
                          <a:solidFill>
                            <a:schemeClr val="bg1"/>
                          </a:solidFill>
                        </a:rPr>
                        <a:t>Positive (P.)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E6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750" b="1" dirty="0">
                          <a:solidFill>
                            <a:schemeClr val="bg1"/>
                          </a:solidFill>
                        </a:rPr>
                        <a:t>Negative (N.)</a:t>
                      </a:r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E6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59807646"/>
                  </a:ext>
                </a:extLst>
              </a:tr>
              <a:tr h="369963">
                <a:tc>
                  <a:txBody>
                    <a:bodyPr/>
                    <a:lstStyle/>
                    <a:p>
                      <a:pPr algn="l"/>
                      <a:r>
                        <a:rPr lang="pt-PT" sz="1750" b="1" dirty="0">
                          <a:solidFill>
                            <a:schemeClr val="bg1"/>
                          </a:solidFill>
                        </a:rPr>
                        <a:t>Positive</a:t>
                      </a:r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003E6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750" b="1" dirty="0" err="1"/>
                        <a:t>True</a:t>
                      </a:r>
                      <a:r>
                        <a:rPr lang="pt-PT" sz="1750" b="1" dirty="0"/>
                        <a:t> P.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750" dirty="0"/>
                        <a:t>False P.</a:t>
                      </a:r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4496222"/>
                  </a:ext>
                </a:extLst>
              </a:tr>
              <a:tr h="369963">
                <a:tc>
                  <a:txBody>
                    <a:bodyPr/>
                    <a:lstStyle/>
                    <a:p>
                      <a:pPr algn="l"/>
                      <a:r>
                        <a:rPr lang="pt-PT" sz="1750" b="1" dirty="0">
                          <a:solidFill>
                            <a:schemeClr val="bg1"/>
                          </a:solidFill>
                        </a:rPr>
                        <a:t>Negative</a:t>
                      </a:r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003E6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750" dirty="0"/>
                        <a:t>False N.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750" b="1" dirty="0" err="1"/>
                        <a:t>True</a:t>
                      </a:r>
                      <a:r>
                        <a:rPr lang="pt-PT" sz="1750" b="1" dirty="0"/>
                        <a:t> N.</a:t>
                      </a:r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1554050"/>
                  </a:ext>
                </a:extLst>
              </a:tr>
            </a:tbl>
          </a:graphicData>
        </a:graphic>
      </p:graphicFrame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3" name="Rectangle 38">
            <a:extLst>
              <a:ext uri="{FF2B5EF4-FFF2-40B4-BE49-F238E27FC236}">
                <a16:creationId xmlns:a16="http://schemas.microsoft.com/office/drawing/2014/main" id="{EA09A705-6330-F9C2-57C5-4CD7AE9AFE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Avaliação de modelos</a:t>
            </a:r>
          </a:p>
        </p:txBody>
      </p:sp>
      <p:pic>
        <p:nvPicPr>
          <p:cNvPr id="5" name="Picture 4" descr="A diagram of a positive curve&#10;&#10;Description automatically generated">
            <a:extLst>
              <a:ext uri="{FF2B5EF4-FFF2-40B4-BE49-F238E27FC236}">
                <a16:creationId xmlns:a16="http://schemas.microsoft.com/office/drawing/2014/main" id="{C191EC24-D923-7E50-72DA-9DDBB21851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1265" y="2133600"/>
            <a:ext cx="3762523" cy="3762523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0D6CCC12-43F8-75B8-22E5-C5576594F0F3}"/>
              </a:ext>
            </a:extLst>
          </p:cNvPr>
          <p:cNvSpPr/>
          <p:nvPr/>
        </p:nvSpPr>
        <p:spPr>
          <a:xfrm rot="-5400000">
            <a:off x="8293933" y="3845584"/>
            <a:ext cx="3762523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nl-NL" sz="1600" dirty="0">
                <a:solidFill>
                  <a:schemeClr val="tx1"/>
                </a:solidFill>
              </a:rPr>
              <a:t>M. Thoma (2018)</a:t>
            </a:r>
            <a:endParaRPr lang="pt-PT" sz="1600" dirty="0">
              <a:solidFill>
                <a:schemeClr val="tx1"/>
              </a:solidFill>
            </a:endParaRPr>
          </a:p>
        </p:txBody>
      </p:sp>
      <p:sp>
        <p:nvSpPr>
          <p:cNvPr id="10" name="Text Box 376">
            <a:extLst>
              <a:ext uri="{FF2B5EF4-FFF2-40B4-BE49-F238E27FC236}">
                <a16:creationId xmlns:a16="http://schemas.microsoft.com/office/drawing/2014/main" id="{2E00BAB9-9D34-94B2-0F83-8484228B8FC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11709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Métricas: variável categórica (binária)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5513045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rgbClr val="808080"/>
                </a:solidFill>
                <a:latin typeface="Humnst777 BT" pitchFamily="34" charset="0"/>
              </a:rPr>
              <a:t>Informações finais</a:t>
            </a:r>
          </a:p>
        </p:txBody>
      </p:sp>
    </p:spTree>
    <p:extLst>
      <p:ext uri="{BB962C8B-B14F-4D97-AF65-F5344CB8AC3E}">
        <p14:creationId xmlns:p14="http://schemas.microsoft.com/office/powerpoint/2010/main" val="228028593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7" name="Text Box 376"/>
          <p:cNvSpPr txBox="1">
            <a:spLocks noChangeArrowheads="1"/>
          </p:cNvSpPr>
          <p:nvPr/>
        </p:nvSpPr>
        <p:spPr bwMode="auto">
          <a:xfrm>
            <a:off x="2206626" y="1513787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rgbClr val="808080"/>
                </a:solidFill>
                <a:latin typeface="Humnst777 BT" pitchFamily="34" charset="0"/>
              </a:rPr>
              <a:t> Gestão de </a:t>
            </a:r>
            <a:r>
              <a:rPr lang="pt-PT" sz="2800" dirty="0" err="1">
                <a:solidFill>
                  <a:srgbClr val="808080"/>
                </a:solidFill>
                <a:latin typeface="Humnst777 BT" pitchFamily="34" charset="0"/>
              </a:rPr>
              <a:t>projectos</a:t>
            </a:r>
            <a:endParaRPr lang="pt-PT" sz="2800" dirty="0">
              <a:solidFill>
                <a:srgbClr val="808080"/>
              </a:solidFill>
              <a:latin typeface="Humnst777 BT" pitchFamily="34" charset="0"/>
            </a:endParaRPr>
          </a:p>
        </p:txBody>
      </p:sp>
      <p:sp>
        <p:nvSpPr>
          <p:cNvPr id="18" name="Text Box 13"/>
          <p:cNvSpPr txBox="1">
            <a:spLocks noChangeArrowheads="1"/>
          </p:cNvSpPr>
          <p:nvPr/>
        </p:nvSpPr>
        <p:spPr bwMode="auto">
          <a:xfrm>
            <a:off x="2064000" y="2160001"/>
            <a:ext cx="8064000" cy="13234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Estrutura de pastas;</a:t>
            </a:r>
          </a:p>
          <a:p>
            <a:pPr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Ficheiro README (e nomeação de ficheiros);</a:t>
            </a:r>
          </a:p>
          <a:p>
            <a:pPr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Controlo de versões (e.g. github.com, gitlab.com, git.ine.pt).</a:t>
            </a:r>
          </a:p>
        </p:txBody>
      </p:sp>
      <p:sp>
        <p:nvSpPr>
          <p:cNvPr id="2" name="Rectangle 38">
            <a:extLst>
              <a:ext uri="{FF2B5EF4-FFF2-40B4-BE49-F238E27FC236}">
                <a16:creationId xmlns:a16="http://schemas.microsoft.com/office/drawing/2014/main" id="{C816A0FC-9989-00D0-7D80-27C79185FC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rgbClr val="808080"/>
                </a:solidFill>
                <a:latin typeface="Humnst777 BT" pitchFamily="34" charset="0"/>
              </a:rPr>
              <a:t>Informações finais</a:t>
            </a:r>
          </a:p>
        </p:txBody>
      </p:sp>
    </p:spTree>
    <p:extLst>
      <p:ext uri="{BB962C8B-B14F-4D97-AF65-F5344CB8AC3E}">
        <p14:creationId xmlns:p14="http://schemas.microsoft.com/office/powerpoint/2010/main" val="319912613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7901BB25-96F3-CABB-18F1-00A2CC1AC8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09716" y="2133600"/>
            <a:ext cx="6411220" cy="3991532"/>
          </a:xfrm>
          <a:prstGeom prst="rect">
            <a:avLst/>
          </a:prstGeom>
        </p:spPr>
      </p:pic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2" name="Text Box 376"/>
          <p:cNvSpPr txBox="1">
            <a:spLocks noChangeArrowheads="1"/>
          </p:cNvSpPr>
          <p:nvPr/>
        </p:nvSpPr>
        <p:spPr bwMode="auto">
          <a:xfrm>
            <a:off x="2206626" y="1513787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rgbClr val="808080"/>
                </a:solidFill>
                <a:latin typeface="Humnst777 BT" pitchFamily="34" charset="0"/>
              </a:rPr>
              <a:t> Estrutura de pastas</a:t>
            </a:r>
            <a:endParaRPr lang="pt-PT" sz="2800" b="1" dirty="0">
              <a:solidFill>
                <a:srgbClr val="808080"/>
              </a:solidFill>
              <a:latin typeface="Humnst777 BT" pitchFamily="34" charset="0"/>
            </a:endParaRPr>
          </a:p>
        </p:txBody>
      </p:sp>
      <p:sp>
        <p:nvSpPr>
          <p:cNvPr id="2" name="Rectangle 38">
            <a:extLst>
              <a:ext uri="{FF2B5EF4-FFF2-40B4-BE49-F238E27FC236}">
                <a16:creationId xmlns:a16="http://schemas.microsoft.com/office/drawing/2014/main" id="{E4998D98-DF15-38AD-4EF0-54D13D8149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rgbClr val="808080"/>
                </a:solidFill>
                <a:latin typeface="Humnst777 BT" pitchFamily="34" charset="0"/>
              </a:rPr>
              <a:t>Informações finais</a:t>
            </a:r>
          </a:p>
        </p:txBody>
      </p:sp>
    </p:spTree>
    <p:extLst>
      <p:ext uri="{BB962C8B-B14F-4D97-AF65-F5344CB8AC3E}">
        <p14:creationId xmlns:p14="http://schemas.microsoft.com/office/powerpoint/2010/main" val="13306196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2" name="Text Box 376"/>
          <p:cNvSpPr txBox="1">
            <a:spLocks noChangeArrowheads="1"/>
          </p:cNvSpPr>
          <p:nvPr/>
        </p:nvSpPr>
        <p:spPr bwMode="auto">
          <a:xfrm>
            <a:off x="2206626" y="1519327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rgbClr val="808080"/>
                </a:solidFill>
                <a:latin typeface="Humnst777 BT" pitchFamily="34" charset="0"/>
              </a:rPr>
              <a:t> Ficheiro README</a:t>
            </a:r>
            <a:endParaRPr lang="pt-PT" sz="2800" b="1" dirty="0">
              <a:solidFill>
                <a:srgbClr val="808080"/>
              </a:solidFill>
              <a:latin typeface="Humnst777 BT" pitchFamily="34" charset="0"/>
            </a:endParaRPr>
          </a:p>
        </p:txBody>
      </p:sp>
      <p:sp>
        <p:nvSpPr>
          <p:cNvPr id="9" name="Text Box 13"/>
          <p:cNvSpPr txBox="1">
            <a:spLocks noChangeArrowheads="1"/>
          </p:cNvSpPr>
          <p:nvPr/>
        </p:nvSpPr>
        <p:spPr bwMode="auto">
          <a:xfrm>
            <a:off x="2064000" y="2138367"/>
            <a:ext cx="8064000" cy="3970318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#autor:    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Joao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Sollari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Lopes</a:t>
            </a: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#local:      INE, Lisboa</a:t>
            </a: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#criado:     31.12.2025</a:t>
            </a: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#modificado: 29.02.2026</a:t>
            </a:r>
          </a:p>
          <a:p>
            <a:pPr algn="just">
              <a:spcBef>
                <a:spcPts val="0"/>
              </a:spcBef>
            </a:pPr>
            <a:endParaRPr lang="pt-PT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+bin</a:t>
            </a: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|0.examples.r                         #exemplos para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recapitulacao</a:t>
            </a:r>
            <a:endParaRPr lang="pt-PT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|0.install_packages.r                 #instalar pacotes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necessarios</a:t>
            </a:r>
            <a:endParaRPr lang="pt-PT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|1.transform.r                        #transformacao de dados</a:t>
            </a: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|2.exploration.r                      #exploração de dados</a:t>
            </a: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|3.modelling.r                        #modelacao de dados</a:t>
            </a: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docs</a:t>
            </a:r>
            <a:endParaRPr lang="pt-PT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|DSR-II2026_program.pdf               #programa</a:t>
            </a: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|DSR-II2026_slides.pdf                #slides [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versao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final]</a:t>
            </a: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|DSR-II2026_slides_20260101.pptx      #slides [v2026-01-01]</a:t>
            </a: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|DSR-II2026_slides_20260229.pptx      #slides [v2026-02-29]</a:t>
            </a: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results</a:t>
            </a:r>
            <a:endParaRPr lang="pt-PT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+1.tranform                           #resultados de "1.transform.r"</a:t>
            </a: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+2.exploration                        #resultados de "2.exploration.r"</a:t>
            </a: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+3.modelling                          #resultados de "3.modelling.r"</a:t>
            </a: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README.txt                              #Este ficheiro</a:t>
            </a:r>
          </a:p>
        </p:txBody>
      </p:sp>
      <p:sp>
        <p:nvSpPr>
          <p:cNvPr id="2" name="Rectangle 38">
            <a:extLst>
              <a:ext uri="{FF2B5EF4-FFF2-40B4-BE49-F238E27FC236}">
                <a16:creationId xmlns:a16="http://schemas.microsoft.com/office/drawing/2014/main" id="{3E1FEC60-8B5D-CCEB-E2A3-AB39693BB7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rgbClr val="808080"/>
                </a:solidFill>
                <a:latin typeface="Humnst777 BT" pitchFamily="34" charset="0"/>
              </a:rPr>
              <a:t>Informações finais</a:t>
            </a:r>
          </a:p>
        </p:txBody>
      </p:sp>
    </p:spTree>
    <p:extLst>
      <p:ext uri="{BB962C8B-B14F-4D97-AF65-F5344CB8AC3E}">
        <p14:creationId xmlns:p14="http://schemas.microsoft.com/office/powerpoint/2010/main" val="27177355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2" name="Text Box 376"/>
          <p:cNvSpPr txBox="1">
            <a:spLocks noChangeArrowheads="1"/>
          </p:cNvSpPr>
          <p:nvPr/>
        </p:nvSpPr>
        <p:spPr bwMode="auto">
          <a:xfrm>
            <a:off x="2206626" y="1519327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rgbClr val="808080"/>
                </a:solidFill>
                <a:latin typeface="Humnst777 BT" pitchFamily="34" charset="0"/>
              </a:rPr>
              <a:t> Controlo de versões</a:t>
            </a:r>
            <a:endParaRPr lang="pt-PT" sz="2800" b="1" dirty="0">
              <a:solidFill>
                <a:srgbClr val="808080"/>
              </a:solidFill>
              <a:latin typeface="Humnst777 BT" pitchFamily="34" charset="0"/>
            </a:endParaRPr>
          </a:p>
        </p:txBody>
      </p:sp>
      <p:sp>
        <p:nvSpPr>
          <p:cNvPr id="2" name="Rectangle 38">
            <a:extLst>
              <a:ext uri="{FF2B5EF4-FFF2-40B4-BE49-F238E27FC236}">
                <a16:creationId xmlns:a16="http://schemas.microsoft.com/office/drawing/2014/main" id="{3E1FEC60-8B5D-CCEB-E2A3-AB39693BB7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rgbClr val="808080"/>
                </a:solidFill>
                <a:latin typeface="Humnst777 BT" pitchFamily="34" charset="0"/>
              </a:rPr>
              <a:t>Informações finais</a:t>
            </a:r>
          </a:p>
        </p:txBody>
      </p:sp>
      <p:pic>
        <p:nvPicPr>
          <p:cNvPr id="6" name="Picture 5" descr="A screenshot of a computer&#10;&#10;Description automatically generated">
            <a:extLst>
              <a:ext uri="{FF2B5EF4-FFF2-40B4-BE49-F238E27FC236}">
                <a16:creationId xmlns:a16="http://schemas.microsoft.com/office/drawing/2014/main" id="{795963E0-5EC7-7BB5-A8A1-1F78FEF0D6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6625" y="2133600"/>
            <a:ext cx="7973538" cy="4039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790298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rgbClr val="808080"/>
                </a:solidFill>
                <a:latin typeface="Humnst777 BT" pitchFamily="34" charset="0"/>
              </a:rPr>
              <a:t>Informações finais</a:t>
            </a:r>
          </a:p>
        </p:txBody>
      </p:sp>
      <p:sp>
        <p:nvSpPr>
          <p:cNvPr id="12" name="Text Box 376"/>
          <p:cNvSpPr txBox="1">
            <a:spLocks noChangeArrowheads="1"/>
          </p:cNvSpPr>
          <p:nvPr/>
        </p:nvSpPr>
        <p:spPr bwMode="auto">
          <a:xfrm>
            <a:off x="2206626" y="1520687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rgbClr val="808080"/>
                </a:solidFill>
                <a:latin typeface="Humnst777 BT" pitchFamily="34" charset="0"/>
              </a:rPr>
              <a:t> Comunidade R</a:t>
            </a:r>
            <a:endParaRPr lang="pt-PT" sz="2800" b="1" dirty="0">
              <a:solidFill>
                <a:srgbClr val="808080"/>
              </a:solidFill>
              <a:latin typeface="Humnst777 BT" pitchFamily="34" charset="0"/>
            </a:endParaRPr>
          </a:p>
        </p:txBody>
      </p:sp>
      <p:sp>
        <p:nvSpPr>
          <p:cNvPr id="10" name="Text Box 13"/>
          <p:cNvSpPr txBox="1">
            <a:spLocks noChangeArrowheads="1"/>
          </p:cNvSpPr>
          <p:nvPr/>
        </p:nvSpPr>
        <p:spPr bwMode="auto">
          <a:xfrm>
            <a:off x="2064000" y="2160001"/>
            <a:ext cx="8064000" cy="36317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  <a:hlinkClick r:id="rId2"/>
              </a:rPr>
              <a:t>https://www.r-project.org/</a:t>
            </a:r>
            <a:endParaRPr lang="pt-PT" sz="2000" dirty="0">
              <a:solidFill>
                <a:schemeClr val="tx1"/>
              </a:solidFill>
              <a:latin typeface="Humnst777 BT" pitchFamily="34" charset="0"/>
            </a:endParaRPr>
          </a:p>
          <a:p>
            <a:pPr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  <a:hlinkClick r:id="rId3"/>
              </a:rPr>
              <a:t> https://www.tidyverse.org/</a:t>
            </a:r>
            <a:endParaRPr lang="pt-PT" sz="2000" dirty="0">
              <a:solidFill>
                <a:schemeClr val="tx1"/>
              </a:solidFill>
              <a:latin typeface="Humnst777 BT" pitchFamily="34" charset="0"/>
            </a:endParaRPr>
          </a:p>
          <a:p>
            <a:pPr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  <a:hlinkClick r:id="rId4"/>
              </a:rPr>
              <a:t>https://www.tidymodels.org/</a:t>
            </a:r>
            <a:endParaRPr lang="pt-PT" sz="2000" dirty="0">
              <a:solidFill>
                <a:schemeClr val="tx1"/>
              </a:solidFill>
              <a:latin typeface="Humnst777 BT" pitchFamily="34" charset="0"/>
            </a:endParaRPr>
          </a:p>
          <a:p>
            <a:pPr algn="just">
              <a:buFontTx/>
              <a:buChar char="-"/>
            </a:pPr>
            <a:endParaRPr lang="pt-PT" sz="2000" dirty="0">
              <a:solidFill>
                <a:schemeClr val="tx1"/>
              </a:solidFill>
              <a:latin typeface="Humnst777 BT" pitchFamily="34" charset="0"/>
            </a:endParaRPr>
          </a:p>
          <a:p>
            <a:pPr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  <a:hlinkClick r:id="rId5"/>
              </a:rPr>
              <a:t>https://education.rstudio.com/learn/</a:t>
            </a:r>
            <a:endParaRPr lang="pt-PT" sz="2000" dirty="0">
              <a:solidFill>
                <a:schemeClr val="tx1"/>
              </a:solidFill>
              <a:latin typeface="Humnst777 BT" pitchFamily="34" charset="0"/>
            </a:endParaRPr>
          </a:p>
          <a:p>
            <a:pPr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  <a:hlinkClick r:id="rId6"/>
              </a:rPr>
              <a:t>https://www.r-project.org/help.html</a:t>
            </a:r>
            <a:endParaRPr lang="pt-PT" sz="2000" dirty="0">
              <a:solidFill>
                <a:schemeClr val="tx1"/>
              </a:solidFill>
              <a:latin typeface="Humnst777 BT" pitchFamily="34" charset="0"/>
            </a:endParaRPr>
          </a:p>
          <a:p>
            <a:pPr algn="just"/>
            <a:r>
              <a:rPr lang="pt-PT" sz="2000" dirty="0">
                <a:solidFill>
                  <a:schemeClr val="tx1"/>
                </a:solidFill>
                <a:latin typeface="Humnst777 BT" pitchFamily="34" charset="0"/>
                <a:hlinkClick r:id="rId7"/>
              </a:rPr>
              <a:t> </a:t>
            </a:r>
            <a:endParaRPr lang="pt-PT" sz="2000" dirty="0">
              <a:solidFill>
                <a:schemeClr val="tx1"/>
              </a:solidFill>
              <a:latin typeface="Humnst777 BT" pitchFamily="34" charset="0"/>
            </a:endParaRPr>
          </a:p>
          <a:p>
            <a:pPr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  <a:hlinkClick r:id="rId8"/>
              </a:rPr>
              <a:t> 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  <a:hlinkClick r:id="rId9"/>
              </a:rPr>
              <a:t>https://hour.ine.pt/</a:t>
            </a:r>
            <a:endParaRPr lang="pt-PT" sz="2000" dirty="0">
              <a:solidFill>
                <a:schemeClr val="tx1"/>
              </a:solidFill>
              <a:latin typeface="Humnst777 BT" pitchFamily="34" charset="0"/>
            </a:endParaRPr>
          </a:p>
        </p:txBody>
      </p:sp>
      <p:pic>
        <p:nvPicPr>
          <p:cNvPr id="3" name="Picture 2" descr="A clock with a blue and black text&#10;&#10;Description automatically generated">
            <a:hlinkClick r:id="rId9"/>
            <a:extLst>
              <a:ext uri="{FF2B5EF4-FFF2-40B4-BE49-F238E27FC236}">
                <a16:creationId xmlns:a16="http://schemas.microsoft.com/office/drawing/2014/main" id="{FE0D96AC-6A67-A5F9-F83D-6DF55E8DF494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9817" y="5157192"/>
            <a:ext cx="941163" cy="9230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2729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6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Informações finais</a:t>
            </a:r>
          </a:p>
        </p:txBody>
      </p:sp>
      <p:sp>
        <p:nvSpPr>
          <p:cNvPr id="13" name="Text Box 376"/>
          <p:cNvSpPr txBox="1">
            <a:spLocks noChangeArrowheads="1"/>
          </p:cNvSpPr>
          <p:nvPr/>
        </p:nvSpPr>
        <p:spPr bwMode="auto">
          <a:xfrm>
            <a:off x="2064000" y="2132856"/>
            <a:ext cx="8064000" cy="23083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pt-PT" sz="1800" dirty="0">
                <a:solidFill>
                  <a:srgbClr val="CC301F"/>
                </a:solidFill>
                <a:latin typeface="Humnst777 BT"/>
              </a:rPr>
              <a:t>»</a:t>
            </a:r>
            <a:r>
              <a:rPr lang="pt-PT" sz="1800" dirty="0">
                <a:solidFill>
                  <a:schemeClr val="tx1"/>
                </a:solidFill>
                <a:latin typeface="Humnst777 BT"/>
              </a:rPr>
              <a:t> </a:t>
            </a:r>
            <a:r>
              <a:rPr lang="en-US" sz="1800" dirty="0">
                <a:solidFill>
                  <a:schemeClr val="tx1"/>
                </a:solidFill>
                <a:latin typeface="Humnst777 BT"/>
              </a:rPr>
              <a:t>Wickham H &amp; </a:t>
            </a:r>
            <a:r>
              <a:rPr lang="en-US" sz="1800" dirty="0" err="1">
                <a:solidFill>
                  <a:schemeClr val="tx1"/>
                </a:solidFill>
                <a:latin typeface="Humnst777 BT"/>
              </a:rPr>
              <a:t>Grolemund</a:t>
            </a:r>
            <a:r>
              <a:rPr lang="en-US" sz="1800" dirty="0">
                <a:solidFill>
                  <a:schemeClr val="tx1"/>
                </a:solidFill>
                <a:latin typeface="Humnst777 BT"/>
              </a:rPr>
              <a:t> G (2017) R for Data Science. </a:t>
            </a:r>
            <a:r>
              <a:rPr lang="pt-PT" sz="1800" dirty="0">
                <a:solidFill>
                  <a:schemeClr val="tx1"/>
                </a:solidFill>
              </a:rPr>
              <a:t>O’Reilly Media Inc., </a:t>
            </a:r>
            <a:r>
              <a:rPr lang="pt-PT" sz="1800" dirty="0" err="1">
                <a:solidFill>
                  <a:schemeClr val="tx1"/>
                </a:solidFill>
              </a:rPr>
              <a:t>Sevastopol</a:t>
            </a:r>
            <a:r>
              <a:rPr lang="pt-PT" sz="1800" dirty="0">
                <a:solidFill>
                  <a:schemeClr val="tx1"/>
                </a:solidFill>
              </a:rPr>
              <a:t>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pt-PT" sz="1800" dirty="0">
                <a:solidFill>
                  <a:schemeClr val="tx1"/>
                </a:solidFill>
              </a:rPr>
              <a:t>URL:</a:t>
            </a:r>
            <a:r>
              <a:rPr lang="pt-PT" sz="1800" dirty="0">
                <a:solidFill>
                  <a:srgbClr val="002060"/>
                </a:solidFill>
              </a:rPr>
              <a:t> </a:t>
            </a:r>
            <a:r>
              <a:rPr lang="pt-PT" sz="1800" dirty="0">
                <a:solidFill>
                  <a:srgbClr val="002060"/>
                </a:solidFill>
                <a:hlinkClick r:id="rId2"/>
              </a:rPr>
              <a:t>https://r4ds.had.co.nz/</a:t>
            </a:r>
            <a:endParaRPr lang="pt-PT" sz="1800" dirty="0">
              <a:solidFill>
                <a:srgbClr val="002060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pt-PT" sz="1800" dirty="0">
              <a:solidFill>
                <a:srgbClr val="002060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pt-PT" sz="1800" dirty="0">
                <a:solidFill>
                  <a:srgbClr val="CC301F"/>
                </a:solidFill>
                <a:latin typeface="Humnst777 BT"/>
              </a:rPr>
              <a:t>»</a:t>
            </a:r>
            <a:r>
              <a:rPr lang="pt-PT" sz="1800" dirty="0">
                <a:solidFill>
                  <a:schemeClr val="tx1"/>
                </a:solidFill>
                <a:latin typeface="Humnst777 BT"/>
              </a:rPr>
              <a:t> </a:t>
            </a:r>
            <a:r>
              <a:rPr lang="en-US" sz="1800" dirty="0">
                <a:solidFill>
                  <a:schemeClr val="tx1"/>
                </a:solidFill>
                <a:latin typeface="Humnst777 BT"/>
              </a:rPr>
              <a:t>Wickham H, </a:t>
            </a:r>
            <a:r>
              <a:rPr lang="nl-NL" sz="1800" dirty="0">
                <a:solidFill>
                  <a:schemeClr val="tx1"/>
                </a:solidFill>
              </a:rPr>
              <a:t>Çetinkaya-Rundel M</a:t>
            </a:r>
            <a:r>
              <a:rPr lang="en-US" sz="1800" dirty="0">
                <a:solidFill>
                  <a:schemeClr val="tx1"/>
                </a:solidFill>
                <a:latin typeface="Humnst777 BT"/>
              </a:rPr>
              <a:t> &amp; </a:t>
            </a:r>
            <a:r>
              <a:rPr lang="en-US" sz="1800" dirty="0" err="1">
                <a:solidFill>
                  <a:schemeClr val="tx1"/>
                </a:solidFill>
                <a:latin typeface="Humnst777 BT"/>
              </a:rPr>
              <a:t>Grolemund</a:t>
            </a:r>
            <a:r>
              <a:rPr lang="en-US" sz="1800" dirty="0">
                <a:solidFill>
                  <a:schemeClr val="tx1"/>
                </a:solidFill>
                <a:latin typeface="Humnst777 BT"/>
              </a:rPr>
              <a:t> G (2023) R for Data Science. </a:t>
            </a:r>
            <a:r>
              <a:rPr lang="pt-PT" sz="1800" dirty="0">
                <a:solidFill>
                  <a:schemeClr val="tx1"/>
                </a:solidFill>
              </a:rPr>
              <a:t>O’Reilly Media Inc., </a:t>
            </a:r>
            <a:r>
              <a:rPr lang="pt-PT" sz="1800" dirty="0" err="1">
                <a:solidFill>
                  <a:schemeClr val="tx1"/>
                </a:solidFill>
              </a:rPr>
              <a:t>Sevastopol</a:t>
            </a:r>
            <a:r>
              <a:rPr lang="pt-PT" sz="1800" dirty="0">
                <a:solidFill>
                  <a:schemeClr val="tx1"/>
                </a:solidFill>
              </a:rPr>
              <a:t>. O’Reilly Media Inc., </a:t>
            </a:r>
            <a:r>
              <a:rPr lang="pt-PT" sz="1800" dirty="0" err="1">
                <a:solidFill>
                  <a:schemeClr val="tx1"/>
                </a:solidFill>
              </a:rPr>
              <a:t>Sevastopol</a:t>
            </a:r>
            <a:r>
              <a:rPr lang="pt-PT" sz="1800" dirty="0">
                <a:solidFill>
                  <a:schemeClr val="tx1"/>
                </a:solidFill>
              </a:rPr>
              <a:t>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pt-PT" sz="1800" dirty="0">
                <a:solidFill>
                  <a:schemeClr val="tx1"/>
                </a:solidFill>
              </a:rPr>
              <a:t>URL: </a:t>
            </a:r>
            <a:r>
              <a:rPr lang="pt-PT" sz="1800" dirty="0">
                <a:solidFill>
                  <a:srgbClr val="002060"/>
                </a:solidFill>
                <a:hlinkClick r:id="rId3"/>
              </a:rPr>
              <a:t>https://r4ds.hadley.nz/</a:t>
            </a:r>
            <a:endParaRPr lang="pt-PT" sz="1800" dirty="0">
              <a:solidFill>
                <a:srgbClr val="002060"/>
              </a:solidFill>
            </a:endParaRPr>
          </a:p>
          <a:p>
            <a:pPr>
              <a:spcBef>
                <a:spcPts val="0"/>
              </a:spcBef>
              <a:spcAft>
                <a:spcPts val="1800"/>
              </a:spcAft>
            </a:pPr>
            <a:endParaRPr lang="en-US" sz="1800" dirty="0">
              <a:solidFill>
                <a:srgbClr val="002060"/>
              </a:solidFill>
              <a:latin typeface="Humnst777 BT"/>
            </a:endParaRPr>
          </a:p>
        </p:txBody>
      </p:sp>
      <p:sp>
        <p:nvSpPr>
          <p:cNvPr id="14" name="Line 11"/>
          <p:cNvSpPr>
            <a:spLocks noChangeShapeType="1"/>
          </p:cNvSpPr>
          <p:nvPr/>
        </p:nvSpPr>
        <p:spPr bwMode="auto">
          <a:xfrm>
            <a:off x="2063552" y="1506793"/>
            <a:ext cx="0" cy="451449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2" name="Text Box 376">
            <a:extLst>
              <a:ext uri="{FF2B5EF4-FFF2-40B4-BE49-F238E27FC236}">
                <a16:creationId xmlns:a16="http://schemas.microsoft.com/office/drawing/2014/main" id="{6EB0C4CC-07A0-8173-2EF9-6B7EE194AAD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20687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rgbClr val="808080"/>
                </a:solidFill>
                <a:latin typeface="Humnst777 BT" pitchFamily="34" charset="0"/>
              </a:rPr>
              <a:t> Bibliografia</a:t>
            </a:r>
            <a:endParaRPr lang="pt-PT" sz="2800" b="1" dirty="0">
              <a:solidFill>
                <a:srgbClr val="808080"/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80187137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 Design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Default Desig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Foundry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satMod val="180000"/>
              </a:schemeClr>
            </a:gs>
            <a:gs pos="62000">
              <a:schemeClr val="phClr">
                <a:tint val="30000"/>
                <a:satMod val="180000"/>
              </a:schemeClr>
            </a:gs>
            <a:gs pos="100000">
              <a:schemeClr val="phClr">
                <a:tint val="22000"/>
                <a:satMod val="180000"/>
              </a:schemeClr>
            </a:gs>
          </a:gsLst>
          <a:lin ang="16200000" scaled="0"/>
        </a:gradFill>
        <a:gradFill rotWithShape="1">
          <a:gsLst>
            <a:gs pos="0">
              <a:schemeClr val="phClr">
                <a:shade val="58000"/>
                <a:satMod val="150000"/>
              </a:schemeClr>
            </a:gs>
            <a:gs pos="72000">
              <a:schemeClr val="phClr">
                <a:tint val="90000"/>
                <a:satMod val="135000"/>
              </a:schemeClr>
            </a:gs>
            <a:gs pos="100000">
              <a:schemeClr val="phClr">
                <a:tint val="8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80000"/>
            </a:schemeClr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38100" dir="5400000" rotWithShape="0">
              <a:srgbClr val="000000">
                <a:alpha val="43137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43137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43137"/>
              </a:srgbClr>
            </a:outerShdw>
          </a:effectLst>
          <a:scene3d>
            <a:camera prst="orthographicFront" fov="0">
              <a:rot lat="0" lon="0" rev="0"/>
            </a:camera>
            <a:lightRig rig="soft" dir="tl">
              <a:rot lat="0" lon="0" rev="20000000"/>
            </a:lightRig>
          </a:scene3d>
          <a:sp3d prstMaterial="matte">
            <a:bevelT w="63500" h="6350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 w="9525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rtlCol="0" anchor="t" anchorCtr="0" compatLnSpc="1">
        <a:prstTxWarp prst="textNoShape">
          <a:avLst/>
        </a:prstTxWarp>
        <a:spAutoFit/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50000"/>
          </a:spcBef>
          <a:spcAft>
            <a:spcPct val="0"/>
          </a:spcAft>
          <a:buClrTx/>
          <a:buSzTx/>
          <a:buFontTx/>
          <a:buNone/>
          <a:tabLst/>
          <a:defRPr kumimoji="0" sz="6000" b="0" i="0" u="none" strike="noStrike" cap="none" normalizeH="0" baseline="0" smtClean="0">
            <a:ln>
              <a:noFill/>
            </a:ln>
            <a:solidFill>
              <a:srgbClr val="CC0000"/>
            </a:solidFill>
            <a:effectLst/>
            <a:latin typeface="Humanst521 BT" pitchFamily="34" charset="0"/>
          </a:defRPr>
        </a:defPPr>
      </a:lstStyle>
    </a:spDef>
    <a:lnDef>
      <a:spPr bwMode="auto">
        <a:noFill/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arrow"/>
        </a:ln>
        <a:effectLst/>
      </a:spPr>
      <a:bodyPr/>
      <a:lstStyle/>
    </a:lnDef>
  </a:objectDefaults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75185</TotalTime>
  <Words>2981</Words>
  <Application>Microsoft Office PowerPoint</Application>
  <PresentationFormat>Widescreen</PresentationFormat>
  <Paragraphs>580</Paragraphs>
  <Slides>45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45</vt:i4>
      </vt:variant>
    </vt:vector>
  </HeadingPairs>
  <TitlesOfParts>
    <vt:vector size="57" baseType="lpstr">
      <vt:lpstr>Arial</vt:lpstr>
      <vt:lpstr>Calibri</vt:lpstr>
      <vt:lpstr>Calibri Light</vt:lpstr>
      <vt:lpstr>Cambria Math</vt:lpstr>
      <vt:lpstr>Century Gothic</vt:lpstr>
      <vt:lpstr>Courier New</vt:lpstr>
      <vt:lpstr>Humanst521 BT</vt:lpstr>
      <vt:lpstr>Humnst777 BT</vt:lpstr>
      <vt:lpstr>Wingdings</vt:lpstr>
      <vt:lpstr>Default Design</vt:lpstr>
      <vt:lpstr>Custom Design</vt:lpstr>
      <vt:lpstr>Office 2013 - 2022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INE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título</dc:title>
  <dc:creator>DPHCN</dc:creator>
  <cp:lastModifiedBy>João Lopes</cp:lastModifiedBy>
  <cp:revision>2968</cp:revision>
  <cp:lastPrinted>2026-02-25T18:09:40Z</cp:lastPrinted>
  <dcterms:created xsi:type="dcterms:W3CDTF">2004-01-14T16:14:16Z</dcterms:created>
  <dcterms:modified xsi:type="dcterms:W3CDTF">2026-04-06T11:43:52Z</dcterms:modified>
</cp:coreProperties>
</file>